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on data it has seen</c:v>
                </c:pt>
              </c:strCache>
            </c:strRef>
          </c:tx>
          <c:spPr>
            <a:solidFill>
              <a:srgbClr val="B0A89E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PINN</c:v>
                </c:pt>
                <c:pt idx="1">
                  <c:v>Deep
learning</c:v>
                </c:pt>
                <c:pt idx="2">
                  <c:v>Baseline</c:v>
                </c:pt>
                <c:pt idx="3">
                  <c:v>Ray tracing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5.63</c:v>
                </c:pt>
                <c:pt idx="1">
                  <c:v>8.56</c:v>
                </c:pt>
                <c:pt idx="2">
                  <c:v>7.35</c:v>
                </c:pt>
                <c:pt idx="3">
                  <c:v>7.61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somewhere new</c:v>
                </c:pt>
              </c:strCache>
            </c:strRef>
          </c:tx>
          <c:spPr>
            <a:solidFill>
              <a:srgbClr val="55606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PINN</c:v>
                </c:pt>
                <c:pt idx="1">
                  <c:v>Deep
learning</c:v>
                </c:pt>
                <c:pt idx="2">
                  <c:v>Baseline</c:v>
                </c:pt>
                <c:pt idx="3">
                  <c:v>Ray tracing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15.83</c:v>
                </c:pt>
                <c:pt idx="1">
                  <c:v>13.13</c:v>
                </c:pt>
                <c:pt idx="2">
                  <c:v>9.66</c:v>
                </c:pt>
                <c:pt idx="3">
                  <c:v>7.95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950">
                  <a:solidFill>
                    <a:srgbClr val="23201C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950">
                <a:solidFill>
                  <a:srgbClr val="8A8279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DDD6CC"/>
              </a:solidFill>
            </a:ln>
          </c:spPr>
        </c:majorGridlines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950">
                <a:solidFill>
                  <a:srgbClr val="8A8279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000">
              <a:solidFill>
                <a:srgbClr val="4A4540"/>
              </a:solidFill>
              <a:latin typeface="Consolas"/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8A8279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km</c:v>
                </c:pt>
              </c:strCache>
            </c:strRef>
          </c:tx>
          <c:spPr>
            <a:solidFill>
              <a:srgbClr val="8C3A28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what counts as served</c:v>
                </c:pt>
                <c:pt idx="1">
                  <c:v>asset class</c:v>
                </c:pt>
                <c:pt idx="2">
                  <c:v>propagation model</c:v>
                </c:pt>
                <c:pt idx="3">
                  <c:v>threshold</c:v>
                </c:pt>
                <c:pt idx="4">
                  <c:v>route vs area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4.24</c:v>
                </c:pt>
                <c:pt idx="1">
                  <c:v>3.35</c:v>
                </c:pt>
                <c:pt idx="2">
                  <c:v>2.06</c:v>
                </c:pt>
                <c:pt idx="3">
                  <c:v>1.28</c:v>
                </c:pt>
                <c:pt idx="4">
                  <c:v>1.21</c:v>
                </c:pt>
              </c:numCache>
            </c:numRef>
          </c:val>
        </c:ser>
        <c:dLbls>
          <c:numFmt formatCode="0.0&quot;km&quot;" sourceLinked="0"/>
          <c:txPr>
            <a:bodyPr/>
            <a:lstStyle/>
            <a:p>
              <a:pPr>
                <a:defRPr sz="950">
                  <a:solidFill>
                    <a:srgbClr val="23201C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950">
                <a:solidFill>
                  <a:srgbClr val="8A8279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none"/>
        <c:minorTickMark val="none"/>
        <c:tickLblPos val="nextTo"/>
        <c:spPr>
          <a:ln>
            <a:solidFill>
              <a:srgbClr val="DDD6CC"/>
            </a:solidFill>
          </a:ln>
        </c:spPr>
        <c:txPr>
          <a:bodyPr/>
          <a:lstStyle/>
          <a:p>
            <a:pPr>
              <a:defRPr sz="950">
                <a:solidFill>
                  <a:srgbClr val="8A8279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8A8279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A8279"/>
                </a:solidFill>
                <a:latin typeface="Calibri"/>
              </a:rPr>
              <a:t>Arathon Challenge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23201C"/>
                </a:solidFill>
                <a:latin typeface="Cambria"/>
              </a:rPr>
              <a:t>Where should the
next tower go?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7614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8C3A28"/>
                </a:solidFill>
                <a:latin typeface="Cambria"/>
              </a:rPr>
              <a:t>Rural network planning on 7% of the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310128"/>
            <a:ext cx="52120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4A4540"/>
                </a:solidFill>
                <a:latin typeface="Calibri"/>
              </a:rPr>
              <a:t>Four towers serve this area today, and most of it still has no usable signal — 42% of the samples the van took found no cell at all. One more asset could change that. The question is where to put it.</a:t>
            </a:r>
          </a:p>
        </p:txBody>
      </p:sp>
      <p:pic>
        <p:nvPicPr>
          <p:cNvPr id="7" name="Picture 6" descr="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371600"/>
            <a:ext cx="5585908" cy="3063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89320" y="4526280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4A4540"/>
                </a:solidFill>
                <a:latin typeface="Calibri"/>
              </a:rPr>
              <a:t>Red is where service fails today. The star is where our planner would put the next tower.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937760"/>
            <a:ext cx="3200400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047488"/>
            <a:ext cx="32461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8A8279"/>
                </a:solidFill>
                <a:latin typeface="Calibri"/>
              </a:rPr>
              <a:t>unserved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248656"/>
            <a:ext cx="32461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8C3A28"/>
                </a:solidFill>
                <a:latin typeface="Cambria"/>
              </a:rPr>
              <a:t>60%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669280"/>
            <a:ext cx="3246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8A8279"/>
                </a:solidFill>
                <a:latin typeface="Calibri"/>
              </a:rPr>
              <a:t>of the area, by our 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4937760"/>
            <a:ext cx="3200400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0248" y="5047488"/>
            <a:ext cx="32461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8A8279"/>
                </a:solidFill>
                <a:latin typeface="Calibri"/>
              </a:rPr>
              <a:t>we 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0248" y="5248656"/>
            <a:ext cx="32461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3201C"/>
                </a:solidFill>
                <a:latin typeface="Cambria"/>
              </a:rPr>
              <a:t>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0248" y="5669280"/>
            <a:ext cx="3246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8A8279"/>
                </a:solidFill>
                <a:latin typeface="Calibri"/>
              </a:rPr>
              <a:t>of it · the rest is predicted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37576" y="4937760"/>
            <a:ext cx="3200400" cy="12801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6" y="5047488"/>
            <a:ext cx="32461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8A8279"/>
                </a:solidFill>
                <a:latin typeface="Calibri"/>
              </a:rPr>
              <a:t>with one more site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6" y="5248656"/>
            <a:ext cx="324612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8C3A28"/>
                </a:solidFill>
                <a:latin typeface="Cambria"/>
              </a:rPr>
              <a:t>44% → 69%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37576" y="5669280"/>
            <a:ext cx="3246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8A8279"/>
                </a:solidFill>
                <a:latin typeface="Calibri"/>
              </a:rPr>
              <a:t>of route covered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14476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8A8279"/>
                </a:solidFill>
                <a:latin typeface="Calibri"/>
              </a:rPr>
              <a:t>Mingyue Tang  ·  David Alcantara  ·  Ishan Bansal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0A89E"/>
                </a:solidFill>
                <a:latin typeface="Calibri"/>
              </a:rPr>
              <a:t>AgWireless '26 · ARA COTS RAN, Ames 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8A8279"/>
                </a:solidFill>
                <a:latin typeface="Calibri"/>
              </a:rPr>
              <a:t>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Measurements alone cannot site a tower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4A4540"/>
                </a:solidFill>
                <a:latin typeface="Calibri"/>
              </a:rPr>
              <a:t>Same ground, same scale, same colours. Only the coverage differs.</a:t>
            </a:r>
          </a:p>
        </p:txBody>
      </p:sp>
      <p:pic>
        <p:nvPicPr>
          <p:cNvPr id="6" name="Picture 5" descr="gap_measu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3" y="1737360"/>
            <a:ext cx="4325112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17903" y="5349240"/>
            <a:ext cx="432511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3201C"/>
                </a:solidFill>
                <a:latin typeface="Calibri"/>
              </a:rPr>
              <a:t>What we measured</a:t>
            </a:r>
          </a:p>
        </p:txBody>
      </p:sp>
      <p:pic>
        <p:nvPicPr>
          <p:cNvPr id="8" name="Picture 7" descr="gap_predi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5936" y="1737360"/>
            <a:ext cx="4325112" cy="3520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45936" y="5349240"/>
            <a:ext cx="432511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3201C"/>
                </a:solidFill>
                <a:latin typeface="Calibri"/>
              </a:rPr>
              <a:t>What the twin predicts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870448"/>
            <a:ext cx="914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C3A28"/>
                </a:solidFill>
                <a:latin typeface="Calibri"/>
              </a:rPr>
              <a:t>42%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5943600"/>
            <a:ext cx="2788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4A4540"/>
                </a:solidFill>
                <a:latin typeface="Calibri"/>
              </a:rPr>
              <a:t>of samples had no serving cell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5870448"/>
            <a:ext cx="914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C3A28"/>
                </a:solidFill>
                <a:latin typeface="Calibri"/>
              </a:rPr>
              <a:t>938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5943600"/>
            <a:ext cx="2788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4A4540"/>
                </a:solidFill>
                <a:latin typeface="Calibri"/>
              </a:rPr>
              <a:t>of 8,176 cells hold a measurement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5870448"/>
            <a:ext cx="914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C3A28"/>
                </a:solidFill>
                <a:latin typeface="Calibri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4856" y="5943600"/>
            <a:ext cx="2788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4A4540"/>
                </a:solidFill>
                <a:latin typeface="Calibri"/>
              </a:rPr>
              <a:t>candidate sites the van visited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0A89E"/>
                </a:solidFill>
                <a:latin typeface="Calibri"/>
              </a:rPr>
              <a:t>7,144 samples · 117 km of road · a 178 km² box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8A8279"/>
                </a:solidFill>
                <a:latin typeface="Calibri"/>
              </a:rPr>
              <a:t>approaches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Four ways to fill in the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4A4540"/>
                </a:solidFill>
                <a:latin typeface="Calibri"/>
              </a:rPr>
              <a:t>Each one reads something different about the same ground.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1664208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C7A3C"/>
                </a:solidFill>
                <a:latin typeface="Cambria"/>
              </a:rPr>
              <a:t>Baseline</a:t>
            </a:r>
          </a:p>
        </p:txBody>
      </p:sp>
      <p:pic>
        <p:nvPicPr>
          <p:cNvPr id="7" name="Picture 6" descr="how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011680"/>
            <a:ext cx="2670048" cy="2021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75488" y="4114800"/>
            <a:ext cx="267004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4A4540"/>
                </a:solidFill>
                <a:latin typeface="Calibri"/>
              </a:rPr>
              <a:t>Fit a curve to the measurements and read it off anywhere.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00984" y="1664208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55606B"/>
                </a:solidFill>
                <a:latin typeface="Cambria"/>
              </a:rPr>
              <a:t>Ray tracing</a:t>
            </a:r>
          </a:p>
        </p:txBody>
      </p:sp>
      <p:pic>
        <p:nvPicPr>
          <p:cNvPr id="10" name="Picture 9" descr="how_raytrac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0984" y="2011680"/>
            <a:ext cx="2670048" cy="2021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00984" y="4114800"/>
            <a:ext cx="267004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4A4540"/>
                </a:solidFill>
                <a:latin typeface="Calibri"/>
              </a:rPr>
              <a:t>Rebuild the terrain and buildings, then trace the signal through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79" y="1664208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4E6151"/>
                </a:solidFill>
                <a:latin typeface="Cambria"/>
              </a:rPr>
              <a:t>Deep learning</a:t>
            </a:r>
          </a:p>
        </p:txBody>
      </p:sp>
      <p:pic>
        <p:nvPicPr>
          <p:cNvPr id="13" name="Picture 12" descr="how_deeplear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79" y="2011680"/>
            <a:ext cx="2670048" cy="2021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26479" y="4114800"/>
            <a:ext cx="267004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4A4540"/>
                </a:solidFill>
                <a:latin typeface="Calibri"/>
              </a:rPr>
              <a:t>Feed it the ground profile along each link and let it learn the rest.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51976" y="1664208"/>
            <a:ext cx="2670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C3A28"/>
                </a:solidFill>
                <a:latin typeface="Cambria"/>
              </a:rPr>
              <a:t>PINN</a:t>
            </a:r>
          </a:p>
        </p:txBody>
      </p:sp>
      <p:pic>
        <p:nvPicPr>
          <p:cNvPr id="16" name="Picture 15" descr="how_pin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1976" y="2011680"/>
            <a:ext cx="2670048" cy="2021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951976" y="4114800"/>
            <a:ext cx="267004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4A4540"/>
                </a:solidFill>
                <a:latin typeface="Calibri"/>
              </a:rPr>
              <a:t>Learn what distance alone cannot explain, with physics as a rule.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5029200"/>
            <a:ext cx="11256264" cy="86868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5157216"/>
            <a:ext cx="10789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3201C"/>
                </a:solidFill>
                <a:latin typeface="Calibri"/>
              </a:rPr>
              <a:t>Same ground, four different bets about what matters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477256"/>
            <a:ext cx="107899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4A4540"/>
                </a:solidFill>
                <a:latin typeface="Calibri"/>
              </a:rPr>
              <a:t>Distance, geometry, the shape of the ground, or whatever is left over. Each is cheap to believe until you move it somewhere new.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0A89E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8A8279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In sample is not the same as somewhere new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4A4540"/>
                </a:solidFill>
                <a:latin typeface="Calibri"/>
              </a:rPr>
              <a:t>RSRP error in dB. Lower is better. Same rows, same splits, same 200 m buffer between train and test.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02920" y="1828800"/>
          <a:ext cx="685800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12064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4A4540"/>
                </a:solidFill>
                <a:latin typeface="Calibri"/>
              </a:rPr>
              <a:t>The left bar of each pair is the score on data the model has seen; the right bar is somewhere new. The gap between them is memory.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828800"/>
            <a:ext cx="4023360" cy="141732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36408" y="195681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55606B"/>
                </a:solidFill>
                <a:latin typeface="Cambria"/>
              </a:rPr>
              <a:t>Ray tracing barely moves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36408" y="2286000"/>
            <a:ext cx="3657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4A4540"/>
                </a:solidFill>
                <a:latin typeface="Calibri"/>
              </a:rPr>
              <a:t>7.61 dB in sample, 7.95 held out. It is the only model that does not care whether it has seen the ground before.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3383280"/>
            <a:ext cx="4023360" cy="233172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36408" y="351129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8C3A28"/>
                </a:solidFill>
                <a:latin typeface="Cambria"/>
              </a:rPr>
              <a:t>The learned models memorise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36408" y="3840480"/>
            <a:ext cx="3657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4A4540"/>
                </a:solidFill>
                <a:latin typeface="Calibri"/>
              </a:rPr>
              <a:t>A terrain profile is nearly a unique location label — its nearest neighbour sits 12 m away on the ground. Feed the operator profiles from the wrong links and it scores 13.16 dB against 13.13 with the right ones. It never used the terrain.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0A89E"/>
                </a:solidFill>
                <a:latin typeface="Calibri"/>
              </a:rPr>
              <a:t>Held out by region · 200 m buffer between train and test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8A8279"/>
                </a:solidFill>
                <a:latin typeface="Calibri"/>
              </a:rPr>
              <a:t>the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Turning a surface into a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4A4540"/>
                </a:solidFill>
                <a:latin typeface="Calibri"/>
              </a:rPr>
              <a:t>Score 627 candidate sites against 4,731 demand cells — then move every assumption and watch where the answer goes.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83080"/>
            <a:ext cx="2606040" cy="84124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874519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3201C"/>
                </a:solidFill>
                <a:latin typeface="Calibri"/>
              </a:rPr>
              <a:t>Predict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1579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8A8279"/>
                </a:solidFill>
                <a:latin typeface="Calibri"/>
              </a:rPr>
              <a:t>a value in every 200 m cell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27248" y="2011680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DDD6CC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9272" y="1783080"/>
            <a:ext cx="2606040" cy="84124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83864" y="1874519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3201C"/>
                </a:solidFill>
                <a:latin typeface="Calibri"/>
              </a:rPr>
              <a:t>Define served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3864" y="21579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8A8279"/>
                </a:solidFill>
                <a:latin typeface="Calibri"/>
              </a:rPr>
              <a:t>eight definitions, one threshold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011680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DDD6CC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5624" y="1783080"/>
            <a:ext cx="2606040" cy="84124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216" y="1874519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3201C"/>
                </a:solidFill>
                <a:latin typeface="Calibri"/>
              </a:rPr>
              <a:t>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1579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8A8279"/>
                </a:solidFill>
                <a:latin typeface="Calibri"/>
              </a:rPr>
              <a:t>route-km and area gained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59952" y="2011680"/>
            <a:ext cx="182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DDD6CC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51976" y="1783080"/>
            <a:ext cx="2606040" cy="841248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16568" y="1874519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3201C"/>
                </a:solidFill>
                <a:latin typeface="Calibri"/>
              </a:rPr>
              <a:t>Constrain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16568" y="2157984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8A8279"/>
                </a:solidFill>
                <a:latin typeface="Calibri"/>
              </a:rPr>
              <a:t>power, access, structures, backhaul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788920"/>
            <a:ext cx="6858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3201C"/>
                </a:solidFill>
                <a:latin typeface="Calibri"/>
              </a:rPr>
              <a:t>How far the recommended site moves when you change one assumption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65760" y="3108960"/>
          <a:ext cx="7040880" cy="2514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Rectangle 22"/>
          <p:cNvSpPr/>
          <p:nvPr/>
        </p:nvSpPr>
        <p:spPr>
          <a:xfrm>
            <a:off x="7635240" y="2788920"/>
            <a:ext cx="4023360" cy="13716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36408" y="2907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8C3A28"/>
                </a:solidFill>
                <a:latin typeface="Cambria"/>
              </a:rPr>
              <a:t>The definition beats the physics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36408" y="3236976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4A4540"/>
                </a:solidFill>
                <a:latin typeface="Calibri"/>
              </a:rPr>
              <a:t>Changing what counts as service moves the site twice as far as changing the model. It was chosen, not measured.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35240" y="4297680"/>
            <a:ext cx="4023360" cy="132588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36408" y="44165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55606B"/>
                </a:solidFill>
                <a:latin typeface="Cambria"/>
              </a:rPr>
              <a:t>A neighbourhood, not a pin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36408" y="4745736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4A4540"/>
                </a:solidFill>
                <a:latin typeface="Calibri"/>
              </a:rPr>
              <a:t>Requiring grid power within 1 km moves it 11 km. The exact site repeats in 10% of draws; 3 km in 99%.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0A89E"/>
                </a:solidFill>
                <a:latin typeface="Calibri"/>
              </a:rPr>
              <a:t>198 combinations of model, asset, criterion, threshold and weighting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8A8279"/>
                </a:solidFill>
                <a:latin typeface="Calibri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23201C"/>
                </a:solidFill>
                <a:latin typeface="Cambria"/>
              </a:rPr>
              <a:t>The planner,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4A4540"/>
                </a:solidFill>
                <a:latin typeface="Calibri"/>
              </a:rPr>
              <a:t>The brief's demo artifact: place an asset and immediately see coverage, performance, uncertainty and route benefit change.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91640"/>
            <a:ext cx="7452360" cy="3931920"/>
          </a:xfrm>
          <a:prstGeom prst="rect">
            <a:avLst/>
          </a:prstGeom>
          <a:solidFill>
            <a:srgbClr val="23201C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55547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5272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4990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4708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4426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4144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3862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3580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298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30168" y="18288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2734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2452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170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1888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6068" y="18288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1042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0760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478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0196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9914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9632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3508" y="18288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5547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5272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4990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4708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14426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4144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3862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03580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3298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30168" y="21259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92734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2452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2170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818888" y="21259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11606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41324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71042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0760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0478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60196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89914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19632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493508" y="21259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5836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55547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25272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54990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84708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14426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44144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73862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035808" y="24231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33298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63016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92734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2452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521708" y="24231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81888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11606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41324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71042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00760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30478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60196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89914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19632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493508" y="24231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55547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25272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54990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84708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14426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44144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73862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03580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33298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630168" y="27203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92734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22452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52170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81888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11606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413248" y="27203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71042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600760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30478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60196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89914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19632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493508" y="27203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5836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55547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25272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54990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84708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14426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44144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73862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03580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33298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630168" y="30175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92734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22452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521708" y="30175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81888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11606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41324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71042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600760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630478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60196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689914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719632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493508" y="30175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5836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955547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25272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54990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84708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14426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44144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73862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03580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33298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630168" y="33147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392734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422452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52170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81888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511606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541324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710428" y="33147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00760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630478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60196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689914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719632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7493508" y="33147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65836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955547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25272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54990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84708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14426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44144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73862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035808" y="36118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33298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63016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392734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422452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452170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818888" y="36118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511606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541324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571042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600760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630478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60196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89914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719632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7493508" y="36118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65836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955547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125272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54990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84708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214426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244144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73862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303580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33298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63016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927348" y="390906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22452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52170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818888" y="390906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11606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41324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71042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600760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630478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60196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689914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719632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7493508" y="390906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65836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955547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125272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154990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184708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214426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244144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73862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3035808" y="420624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333298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63016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92734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422452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452170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481888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511606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5413248" y="420624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571042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600760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630478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660196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689914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19632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7493508" y="420624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65836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955547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125272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154990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184708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214426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244144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273862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303580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333298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363016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3927348" y="450342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422452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452170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4818888" y="450342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511606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541324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571042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600760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630478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660196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689914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719632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7493508" y="450342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65836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955547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125272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54990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84708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214426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244144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273862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3035808" y="480060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333298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363016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392734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422452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452170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481888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511606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5413248" y="480060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571042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600760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630478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660196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689914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719632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7493508" y="480060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65836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955547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125272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154990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84708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214426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244144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2738628" y="5097780"/>
            <a:ext cx="278892" cy="278892"/>
          </a:xfrm>
          <a:prstGeom prst="rect">
            <a:avLst/>
          </a:prstGeom>
          <a:solidFill>
            <a:srgbClr val="8C3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303580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333298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363016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392734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422452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452170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4818888" y="5097780"/>
            <a:ext cx="278892" cy="278892"/>
          </a:xfrm>
          <a:prstGeom prst="rect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511606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541324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571042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600760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630478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660196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689914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719632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7493508" y="5097780"/>
            <a:ext cx="278892" cy="278892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822960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940067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1057174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1174282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1291389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1408496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1525604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1642711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1759818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1876926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994033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2111141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2228248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2345355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2462463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2579570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2696677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2813785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2930892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3047999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3165107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3282214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3399322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3516429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3633536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3750644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3867751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3984858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4101966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4219073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4336181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4453288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4570395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4687503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4804610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4921717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5038825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5155932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5273040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5390147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5507254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5624362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5741469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5858576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5975684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6092791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6209898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6327006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6444113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6561221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6678328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6795435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6912543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7029650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7146757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7263865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7380972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7498079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5029200" y="2331720"/>
            <a:ext cx="201168" cy="201168"/>
          </a:xfrm>
          <a:prstGeom prst="ellipse">
            <a:avLst/>
          </a:prstGeom>
          <a:solidFill>
            <a:srgbClr val="9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651760" y="3886200"/>
            <a:ext cx="274320" cy="274320"/>
          </a:xfrm>
          <a:prstGeom prst="ellipse">
            <a:avLst/>
          </a:prstGeom>
          <a:noFill/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TextBox 354"/>
          <p:cNvSpPr txBox="1"/>
          <p:nvPr/>
        </p:nvSpPr>
        <p:spPr>
          <a:xfrm>
            <a:off x="658368" y="5376672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map scale ▬ 2 km   ·   ▪ one 200 m demand cell</a:t>
            </a:r>
          </a:p>
        </p:txBody>
      </p:sp>
      <p:sp>
        <p:nvSpPr>
          <p:cNvPr id="356" name="Rectangle 355"/>
          <p:cNvSpPr/>
          <p:nvPr/>
        </p:nvSpPr>
        <p:spPr>
          <a:xfrm>
            <a:off x="8183879" y="1691640"/>
            <a:ext cx="3474720" cy="3931920"/>
          </a:xfrm>
          <a:prstGeom prst="rect">
            <a:avLst/>
          </a:prstGeom>
          <a:solidFill>
            <a:srgbClr val="F7F4E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8366759" y="1810512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3201C"/>
                </a:solidFill>
                <a:latin typeface="Calibri"/>
              </a:rPr>
              <a:t>Rural Coverage Planner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8366759" y="2157984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A8279"/>
                </a:solidFill>
                <a:latin typeface="Calibri"/>
              </a:rPr>
              <a:t>approach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8366759" y="2331720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8458199" y="2372868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Baseline — fitted physics ▾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8366759" y="2633472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A8279"/>
                </a:solidFill>
                <a:latin typeface="Calibri"/>
              </a:rPr>
              <a:t>what counts as served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8366759" y="2807208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8458199" y="2848356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Availability ▾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8366759" y="3108960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A8279"/>
                </a:solidFill>
                <a:latin typeface="Calibri"/>
              </a:rPr>
              <a:t>target</a:t>
            </a:r>
          </a:p>
        </p:txBody>
      </p:sp>
      <p:sp>
        <p:nvSpPr>
          <p:cNvPr id="365" name="Rectangle 364"/>
          <p:cNvSpPr/>
          <p:nvPr/>
        </p:nvSpPr>
        <p:spPr>
          <a:xfrm>
            <a:off x="8366759" y="3282696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8458199" y="3323844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≥ 50% of the time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8366759" y="3584448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A8279"/>
                </a:solidFill>
                <a:latin typeface="Calibri"/>
              </a:rPr>
              <a:t>route vs area</a:t>
            </a:r>
          </a:p>
        </p:txBody>
      </p:sp>
      <p:sp>
        <p:nvSpPr>
          <p:cNvPr id="368" name="Rectangle 367"/>
          <p:cNvSpPr/>
          <p:nvPr/>
        </p:nvSpPr>
        <p:spPr>
          <a:xfrm>
            <a:off x="8366759" y="3758184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TextBox 368"/>
          <p:cNvSpPr txBox="1"/>
          <p:nvPr/>
        </p:nvSpPr>
        <p:spPr>
          <a:xfrm>
            <a:off x="8458199" y="3799332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0.70 / 0.30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8366759" y="4059935"/>
            <a:ext cx="3108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8A8279"/>
                </a:solidFill>
                <a:latin typeface="Calibri"/>
              </a:rPr>
              <a:t>asset</a:t>
            </a:r>
          </a:p>
        </p:txBody>
      </p:sp>
      <p:sp>
        <p:nvSpPr>
          <p:cNvPr id="371" name="Rectangle 370"/>
          <p:cNvSpPr/>
          <p:nvPr/>
        </p:nvSpPr>
        <p:spPr>
          <a:xfrm>
            <a:off x="8366759" y="4233671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8458199" y="4274819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3201C"/>
                </a:solidFill>
                <a:latin typeface="Consolas"/>
              </a:rPr>
              <a:t>Macro · 37 m · 0 dB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8366759" y="4572000"/>
            <a:ext cx="3108960" cy="292608"/>
          </a:xfrm>
          <a:prstGeom prst="rect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9052559" y="4636008"/>
            <a:ext cx="2194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onsolas"/>
              </a:rPr>
              <a:t>Find the best site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83667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8476487" y="5047488"/>
            <a:ext cx="12801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8A8279"/>
                </a:solidFill>
                <a:latin typeface="Calibri"/>
              </a:rPr>
              <a:t>route-km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8476487" y="5230368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6B"/>
                </a:solidFill>
                <a:latin typeface="Calibri"/>
              </a:rPr>
              <a:t>51.9 → 80.5</a:t>
            </a:r>
          </a:p>
        </p:txBody>
      </p:sp>
      <p:sp>
        <p:nvSpPr>
          <p:cNvPr id="378" name="Rectangle 377"/>
          <p:cNvSpPr/>
          <p:nvPr/>
        </p:nvSpPr>
        <p:spPr>
          <a:xfrm>
            <a:off x="99669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TextBox 378"/>
          <p:cNvSpPr txBox="1"/>
          <p:nvPr/>
        </p:nvSpPr>
        <p:spPr>
          <a:xfrm>
            <a:off x="10076686" y="5047488"/>
            <a:ext cx="12801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8A8279"/>
                </a:solidFill>
                <a:latin typeface="Calibri"/>
              </a:rPr>
              <a:t>score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10076686" y="5230368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6B"/>
                </a:solidFill>
                <a:latin typeface="Calibri"/>
              </a:rPr>
              <a:t>0.421 → 0.652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502920" y="576072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4A4540"/>
                </a:solidFill>
                <a:latin typeface="Calibri"/>
              </a:rPr>
              <a:t>Heatmap of the chosen criterion over shaded relief, with the drive test drawn on top in a contrasting hue — which doubles as the road network. Amber is the existing tower, the ring is the placement. Three sweep buttons re-solve across every criterion, every weighting and every approach; a constrained variant adds the five buildability layers.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B0A89E"/>
                </a:solidFill>
                <a:latin typeface="Calibri"/>
              </a:rPr>
              <a:t>Runs in a browser. No server, no install, no network.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