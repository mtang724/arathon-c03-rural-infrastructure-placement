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40">
                <a:solidFill>
                  <a:srgbClr val="0F6E70"/>
                </a:solidFill>
                <a:latin typeface="Consolas"/>
              </a:rPr>
              <a:t>ARATHON CHALLENGE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16211C"/>
                </a:solidFill>
                <a:latin typeface="Archivo"/>
              </a:rPr>
              <a:t>Where do you build, when you have
measured almost none of the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That covers about 7% of it. The other 93% is where the decision has to be made.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16052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7,144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rows · 42% with no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416052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OF THE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416052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BEST HELD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F6E70"/>
                </a:solidFill>
                <a:latin typeface="Archivo"/>
              </a:rPr>
              <a:t>7.95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Ray tracing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416052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44% → 69%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one macro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572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You can only optimise over places you have a value for. The van gives us 938 of the 8,176 cells in the 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394960" cy="2926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6211C"/>
                </a:solidFill>
                <a:latin typeface="Archivo"/>
              </a:rPr>
              <a:t>What the drive test gives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7,144 samples, but they sit on roads — a line through a 178 km² area.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42% of them record no serving cell at all. That is a measured absence of service, not missing data, and it is exactly where an asset would go.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Consecutive samples are 22 m apart, so the data is far less independent than its row count suggests.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Every candidate site we might recommend is somewhere nobody drove.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486400" cy="2926080"/>
          </a:xfrm>
          <a:prstGeom prst="rect">
            <a:avLst/>
          </a:prstGeom>
          <a:solidFill>
            <a:srgbClr val="F1F4EF"/>
          </a:solidFill>
          <a:ln w="19050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6E70"/>
                </a:solidFill>
                <a:latin typeface="Archivo"/>
              </a:rPr>
              <a:t>What a digital twin adds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4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A model that returns a value at any coordinate, not only where the van happened to be.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That turns siting into an optimisation: score every candidate against every demand cell, then pick.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It also lets us ask the counterfactual the brief is really posing — what happens if we put a transmitter over there?</a:t>
            </a:r>
          </a:p>
          <a:p>
            <a:pPr>
              <a:spcAft>
                <a:spcPts val="7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 measurements stop being the answer and become the test set.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37760"/>
            <a:ext cx="11155680" cy="566928"/>
          </a:xfrm>
          <a:prstGeom prst="rect">
            <a:avLst/>
          </a:prstGeom>
          <a:solidFill>
            <a:srgbClr val="FBFCFA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6211C"/>
                </a:solidFill>
                <a:latin typeface="Archivo"/>
              </a:rPr>
              <a:t>So the question becomes: how good does that prediction have to be, and which way of building it survives being moved somewhere it has never seen?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7,144 rows · 116.7 route-km · 178 km² box · 200 m demand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ways to predict where nobody drove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They share one interface of two methods and nothing else, so each can be wrong in its own way and one testbench can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06040" cy="34290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8F6200"/>
                </a:solidFill>
                <a:latin typeface="Consolas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579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Fitted physics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974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Two-slope path loss fitted to the measurements.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Terrain enters as ITU-R P.526 diffraction and Fresnel clearance.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Seven constants. Cheap, interpretable, carries a mechanism.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783080"/>
            <a:ext cx="2606040" cy="3429000"/>
          </a:xfrm>
          <a:prstGeom prst="rect">
            <a:avLst/>
          </a:prstGeom>
          <a:solidFill>
            <a:srgbClr val="F1F4EF"/>
          </a:solidFill>
          <a:ln w="19050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93852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0F6E70"/>
                </a:solidFill>
                <a:latin typeface="Consolas"/>
              </a:rPr>
              <a:t>RAY TRACING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1579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Sionna 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6974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A reconstructed scene: 3DEP terrain and Microsoft building footprints, four sites, twelve sectors.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Traced path gain, corrected by profile diffraction where the tracer finds no path.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Five constants. Everything else is geometry.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783080"/>
            <a:ext cx="2606040" cy="342900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93852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5B3A9B"/>
                </a:solidFill>
                <a:latin typeface="Consolas"/>
              </a:rPr>
              <a:t>DEEP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1579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Fourier neural 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6974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The terrain profile along each link is the input function.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Learns the terrain term instead of assuming P.526.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3,838 training links. No closed form, so the planner reads a precomputed grid.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783080"/>
            <a:ext cx="2606040" cy="342900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8" y="193852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8C1D40"/>
                </a:solidFill>
                <a:latin typeface="Consolas"/>
              </a:rPr>
              <a:t>PINN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1579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ReVeal-MT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6974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A learned shadowing field over a parametric multi-transmitter path-loss law.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Physics as a loss term, meant to discipline extrapolation where data is absent.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Replicated from DySPAN'25.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413248"/>
            <a:ext cx="11155680" cy="502920"/>
          </a:xfrm>
          <a:prstGeom prst="rect">
            <a:avLst/>
          </a:prstGeom>
          <a:solidFill>
            <a:srgbClr val="FBFCFA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1383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6211C"/>
                </a:solidFill>
                <a:latin typeface="Consolas"/>
              </a:rPr>
              <a:t>One contract:  macro_rsrp(lat, lon)  ·  node_rsrp(tx, agl, ΔEIRP, lat, lon).  Implement two methods and the testbench, the planner and this deck all work on your model.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common/README.md · terrain-approach/src/adapter.py is the reference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dB, same rows, same splits, same 200 m buffer. Lower is better.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2880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5726B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65726B"/>
                          </a:solidFill>
                          <a:latin typeface="Consolas"/>
                        </a:rPr>
                        <a:t>in sample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65726B"/>
                          </a:solidFill>
                          <a:latin typeface="Consolas"/>
                        </a:rPr>
                        <a:t>held out by region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65726B"/>
                          </a:solidFill>
                          <a:latin typeface="Consolas"/>
                        </a:rPr>
                        <a:t>held out by bearing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PINN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5.63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15.83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15.09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Deep learning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8.56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13.13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11.66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Baseline — fitted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7.35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9.66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9.78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Ray tracing — Sionna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7.61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7.95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6211C"/>
                          </a:solidFill>
                          <a:latin typeface="Consolas"/>
                        </a:rPr>
                        <a:t>7.80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Read the last two 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24528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 PINN is the most accurate model on data it has seen and the least accurate on data it has not.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Ray tracing barely notices the difference: 7.61 in sample, 7.95 held out. It is the only one that does.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A random split hides all of this, because samples 22 m apart put the same road metre on both sides of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28800"/>
            <a:ext cx="4114800" cy="384048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1168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C1D40"/>
                </a:solidFill>
                <a:latin typeface="Archivo"/>
              </a:rPr>
              <a:t>Why the learned models 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51760"/>
            <a:ext cx="365760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A 128-point terrain profile is very nearly a unique location label. Its nearest neighbour in profile space sits a median 12 m away on the ground.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So on a random split the model can look the answer up instead of learning propagation.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The control settles it: feed the operator profiles paired with the wrong links and it scores 13.16 dB, against 13.13 with the right ones. It is not using the terrain at 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reports/testbench.json · terrain-approach/reports/fno_compare.json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every candidate site against every demand cell, then let the assumptions move and watch what the answer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43230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A value in every 200 m cell, from whichever model you pick.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2402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7830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901952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Define 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43230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Availability, RSRP, SINR, uplink — eight definitions, and a threshold.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402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5624" y="17830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901952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43230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Route-km and area gained, weighted, for each of 627 candidate sites.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2" y="22402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7830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901952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Constrain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43230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Grid power, road access, structures, backhaul, water — from open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42900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6211C"/>
                </a:solidFill>
                <a:latin typeface="Archivo"/>
              </a:rPr>
              <a:t>What that sweep found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404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C1D40"/>
                </a:solidFill>
                <a:latin typeface="Archivo"/>
              </a:rPr>
              <a:t>4.24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4348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6211C"/>
                </a:solidFill>
                <a:latin typeface="Archivo"/>
              </a:rPr>
              <a:t>changing what counts as served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4681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5726B"/>
                </a:solidFill>
                <a:latin typeface="Archivo"/>
              </a:rPr>
              <a:t>moves the recommended site further than anything else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9272" y="38404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3864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E70"/>
                </a:solidFill>
                <a:latin typeface="Archivo"/>
              </a:rPr>
              <a:t>2.06 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44348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6211C"/>
                </a:solidFill>
                <a:latin typeface="Archivo"/>
              </a:rPr>
              <a:t>changing the propagation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4681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5726B"/>
                </a:solidFill>
                <a:latin typeface="Archivo"/>
              </a:rPr>
              <a:t>half as much — the models mostly agree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35624" y="38404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216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F6200"/>
                </a:solidFill>
                <a:latin typeface="Archivo"/>
              </a:rPr>
              <a:t>11.1 km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44348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6211C"/>
                </a:solidFill>
                <a:latin typeface="Archivo"/>
              </a:rPr>
              <a:t>requiring grid power within 1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4681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5726B"/>
                </a:solidFill>
                <a:latin typeface="Archivo"/>
              </a:rPr>
              <a:t>for a quarter of the benefit given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51976" y="3840480"/>
            <a:ext cx="2606040" cy="137160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8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5726B"/>
                </a:solidFill>
                <a:latin typeface="Archivo"/>
              </a:rPr>
              <a:t>3 km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8" y="44348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6211C"/>
                </a:solidFill>
                <a:latin typeface="Archivo"/>
              </a:rPr>
              <a:t>radius needed for a stable 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6568" y="468172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5726B"/>
                </a:solidFill>
                <a:latin typeface="Archivo"/>
              </a:rPr>
              <a:t>the exact site repeats in only 10% of draws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94960"/>
            <a:ext cx="11155680" cy="566928"/>
          </a:xfrm>
          <a:prstGeom prst="rect">
            <a:avLst/>
          </a:prstGeom>
          <a:solidFill>
            <a:srgbClr val="FBFCFA"/>
          </a:solidFill>
          <a:ln w="15875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52297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6211C"/>
                </a:solidFill>
                <a:latin typeface="Archivo"/>
              </a:rPr>
              <a:t>So we report a neighbourhood, not a pin — and the definition of service belongs in the write-up, argued for rather than defaulted.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RECOMMENDATIONS.md · CONSTRAINTS.md · 198 combinations swept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planner,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6211C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Rural Coverage Planner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APPROACH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Availability ▾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TARGET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≥ 50% of the time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 VS AREA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0.70 / 0.30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ASSET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ROUTE-KM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51.9 → 80.5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SCORE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0.421 → 0.652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planner.html · planner_constrained.html · no server, no install, no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