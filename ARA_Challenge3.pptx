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 data it has seen</c:v>
                </c:pt>
              </c:strCache>
            </c:strRef>
          </c:tx>
          <c:spPr>
            <a:solidFill>
              <a:srgbClr val="B0A89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5.63</c:v>
                </c:pt>
                <c:pt idx="1">
                  <c:v>8.56</c:v>
                </c:pt>
                <c:pt idx="2">
                  <c:v>7.35</c:v>
                </c:pt>
                <c:pt idx="3">
                  <c:v>7.61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somewhere new</c:v>
                </c:pt>
              </c:strCache>
            </c:strRef>
          </c:tx>
          <c:spPr>
            <a:solidFill>
              <a:srgbClr val="5560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15.83</c:v>
                </c:pt>
                <c:pt idx="1">
                  <c:v>13.13</c:v>
                </c:pt>
                <c:pt idx="2">
                  <c:v>9.66</c:v>
                </c:pt>
                <c:pt idx="3">
                  <c:v>7.95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50">
                  <a:solidFill>
                    <a:srgbClr val="2320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DD6C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500">
              <a:solidFill>
                <a:srgbClr val="4A4540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1500">
          <a:solidFill>
            <a:srgbClr val="8A8279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km</c:v>
                </c:pt>
              </c:strCache>
            </c:strRef>
          </c:tx>
          <c:spPr>
            <a:solidFill>
              <a:srgbClr val="8C3A28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what counts as served</c:v>
                </c:pt>
                <c:pt idx="1">
                  <c:v>asset class</c:v>
                </c:pt>
                <c:pt idx="2">
                  <c:v>propagation model</c:v>
                </c:pt>
                <c:pt idx="3">
                  <c:v>threshold</c:v>
                </c:pt>
                <c:pt idx="4">
                  <c:v>route vs area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4.24</c:v>
                </c:pt>
                <c:pt idx="1">
                  <c:v>3.35</c:v>
                </c:pt>
                <c:pt idx="2">
                  <c:v>2.06</c:v>
                </c:pt>
                <c:pt idx="3">
                  <c:v>1.28</c:v>
                </c:pt>
                <c:pt idx="4">
                  <c:v>1.21</c:v>
                </c:pt>
              </c:numCache>
            </c:numRef>
          </c:val>
        </c:ser>
        <c:dLbls>
          <c:numFmt formatCode="0.0&quot;km&quot;" sourceLinked="0"/>
          <c:txPr>
            <a:bodyPr/>
            <a:lstStyle/>
            <a:p>
              <a:pPr>
                <a:defRPr sz="1450">
                  <a:solidFill>
                    <a:srgbClr val="2320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500">
          <a:solidFill>
            <a:srgbClr val="8A8279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279"/>
                </a:solidFill>
                <a:latin typeface="Calibri"/>
              </a:rPr>
              <a:t>Arathon Challenge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3201C"/>
                </a:solidFill>
                <a:latin typeface="Cambria"/>
              </a:rPr>
              <a:t>Where should the
next tower 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614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8C3A28"/>
                </a:solidFill>
                <a:latin typeface="Cambria"/>
              </a:rPr>
              <a:t>Rural network planning on 7% of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10128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Four towers serve this area today, and most of it still has no usable signal — 42% of the samples the van took found no cell at all. One more asset could change that. The question is where to put it.</a:t>
            </a:r>
          </a:p>
        </p:txBody>
      </p:sp>
      <p:pic>
        <p:nvPicPr>
          <p:cNvPr id="7" name="Picture 6" descr="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71600"/>
            <a:ext cx="5585908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89320" y="452628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Red is where service fails today. The star is where our planner would put the next tower.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unserved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8C3A28"/>
                </a:solidFill>
                <a:latin typeface="Cambria"/>
              </a:rPr>
              <a:t>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the area, by our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we 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23201C"/>
                </a:solidFill>
                <a:latin typeface="Cambria"/>
              </a:rPr>
              <a:t>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0248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it · the rest is predicted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6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with one more 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6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8C3A28"/>
                </a:solidFill>
                <a:latin typeface="Cambria"/>
              </a:rPr>
              <a:t>44% → 69%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37576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route covered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14476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279"/>
                </a:solidFill>
                <a:latin typeface="Calibri"/>
              </a:rPr>
              <a:t>Mingyue Tang  ·  David Alcantara  ·  Ishan Bansal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AgWireless '26 · ARA COTS RAN, Ames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Measurements alone cannot site a tower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Same ground, same scale, same colours. Only the coverage differs.</a:t>
            </a:r>
          </a:p>
        </p:txBody>
      </p:sp>
      <p:pic>
        <p:nvPicPr>
          <p:cNvPr id="6" name="Picture 5" descr="gap_measu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737360"/>
            <a:ext cx="4325112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17903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3201C"/>
                </a:solidFill>
                <a:latin typeface="Calibri"/>
              </a:rPr>
              <a:t>What we measured</a:t>
            </a:r>
          </a:p>
        </p:txBody>
      </p:sp>
      <p:pic>
        <p:nvPicPr>
          <p:cNvPr id="8" name="Picture 7" descr="gap_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1737360"/>
            <a:ext cx="4325112" cy="3520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45936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3201C"/>
                </a:solidFill>
                <a:latin typeface="Calibri"/>
              </a:rPr>
              <a:t>What the twin predicts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42%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of samples found no cell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938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7256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of 8,176 cells 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4584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candidate sites visited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7,144 samples · 117 km of road · a 178 km² 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Four ways to fill in 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Each one reads something different about the same ground.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C7A3C"/>
                </a:solidFill>
                <a:latin typeface="Cambria"/>
              </a:rPr>
              <a:t>Baseline</a:t>
            </a:r>
          </a:p>
        </p:txBody>
      </p:sp>
      <p:pic>
        <p:nvPicPr>
          <p:cNvPr id="7" name="Picture 6" descr="how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011680"/>
            <a:ext cx="2670048" cy="2021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4078224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Fit a curve to the measurements, read it off anywhere.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0984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Ray tracing</a:t>
            </a:r>
          </a:p>
        </p:txBody>
      </p:sp>
      <p:pic>
        <p:nvPicPr>
          <p:cNvPr id="10" name="Picture 9" descr="how_raytrac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984" y="2011680"/>
            <a:ext cx="2670048" cy="2021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00984" y="4078224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Rebuild the ground and buildings, then trace the signal.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79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4E6151"/>
                </a:solidFill>
                <a:latin typeface="Cambria"/>
              </a:rPr>
              <a:t>Deep learning</a:t>
            </a:r>
          </a:p>
        </p:txBody>
      </p:sp>
      <p:pic>
        <p:nvPicPr>
          <p:cNvPr id="13" name="Picture 12" descr="how_deep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79" y="2011680"/>
            <a:ext cx="2670048" cy="2021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79" y="4078224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Give it the ground under each link, let it learn the rest.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1976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PINN</a:t>
            </a:r>
          </a:p>
        </p:txBody>
      </p:sp>
      <p:pic>
        <p:nvPicPr>
          <p:cNvPr id="16" name="Picture 15" descr="how_pi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1976" y="2011680"/>
            <a:ext cx="2670048" cy="2021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51976" y="4078224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Learn what distance cannot explain, with physics as a rule.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5102352"/>
            <a:ext cx="11256264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193792"/>
            <a:ext cx="10789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3201C"/>
                </a:solidFill>
                <a:latin typeface="Calibri"/>
              </a:rPr>
              <a:t>Same ground, four different bets about what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559552"/>
            <a:ext cx="107899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Distance, geometry, the ground itself, or whatever is left over. Each is cheap to believe until you move it somewhere new.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In sample is not the same as somewhere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RSRP error in dB. Lower is better. Same rows, same splits, same 200 m buffer between train and test.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02920" y="1828800"/>
          <a:ext cx="68580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1206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The left bar of each pair is the score on data the model has seen; the right bar is somewhere new. The gap between them is memory.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828800"/>
            <a:ext cx="4023360" cy="16916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36408" y="1956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Ray tracing barely moves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2304288"/>
            <a:ext cx="36576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7.61 dB in sample, 7.95 held out. It is the only model that does not care whether it has seen the ground before.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3657600"/>
            <a:ext cx="4023360" cy="20574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36408" y="376732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The learned models memorise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4133087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A terrain profile is nearly a unique location label. Feed the operator the wrong links' profiles and it scores 13.16 dB against 13.13 with the right ones — it never used the terrain.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Held out by region · 200 m buffer between train and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the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Turning a surface into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Score every candidate site, then move every assumption and watch where the answer goes.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Predict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a value in every 200 m cell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7248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9272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Define served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eight definitions, one threshold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route-km and area gained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9952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51976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4856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Constrain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4856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power, access, structures, backhaul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788920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201C"/>
                </a:solidFill>
                <a:latin typeface="Calibri"/>
              </a:rPr>
              <a:t>How far the recommended site moves when you change one assumption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5760" y="3108960"/>
          <a:ext cx="704088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ectangle 22"/>
          <p:cNvSpPr/>
          <p:nvPr/>
        </p:nvSpPr>
        <p:spPr>
          <a:xfrm>
            <a:off x="7635240" y="2788920"/>
            <a:ext cx="4023360" cy="18288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36408" y="2889504"/>
            <a:ext cx="36576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The definition beats the physics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36408" y="3529584"/>
            <a:ext cx="3657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Changing what counts as service moves the site twice as far as changing the model. It was chosen, not measured.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4754880"/>
            <a:ext cx="4023360" cy="13716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36408" y="486460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A neighbourhood, not a 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36408" y="521208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Requiring grid power within 1 km moves it 11 km. The exact site repeats in 10% of draws; 3 km in 99%.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198 combinations of model, asset, criterion, threshold and weighting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The planner,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Place an asset and watch coverage, gain and uncertainty change.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23201C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7F4E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201C"/>
                </a:solidFill>
                <a:latin typeface="Calibri"/>
              </a:rPr>
              <a:t>Rural Coverage Planner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8366759" y="2157984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approach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8366759" y="2633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what counts as served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Availability ▾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8366759" y="3108960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target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≥ 50% of the time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8366759" y="358444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route vs area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0.70 / 0.30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8366759" y="4059935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asset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Macro · 37 m · 0 dB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8476487" y="5047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route-km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8476487" y="5230368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6B"/>
                </a:solidFill>
                <a:latin typeface="Calibri"/>
              </a:rPr>
              <a:t>51.9 → 80.5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10076686" y="5047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score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0076686" y="5230368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6B"/>
                </a:solidFill>
                <a:latin typeface="Calibri"/>
              </a:rPr>
              <a:t>0.421 → 0.652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502920" y="57972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Pick a model, pick what counts as service, drop an asset anywhere — coverage, gain and uncertainty all re-solve live.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Runs in a browser. No server, no install, no network.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