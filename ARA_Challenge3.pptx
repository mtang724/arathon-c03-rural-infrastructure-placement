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on data it has seen</c:v>
                </c:pt>
              </c:strCache>
            </c:strRef>
          </c:tx>
          <c:spPr>
            <a:solidFill>
              <a:srgbClr val="B5ADA4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PINN</c:v>
                </c:pt>
                <c:pt idx="1">
                  <c:v>Deep
learning</c:v>
                </c:pt>
                <c:pt idx="2">
                  <c:v>Baseline</c:v>
                </c:pt>
                <c:pt idx="3">
                  <c:v>Ray tracing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5.63</c:v>
                </c:pt>
                <c:pt idx="1">
                  <c:v>8.56</c:v>
                </c:pt>
                <c:pt idx="2">
                  <c:v>7.35</c:v>
                </c:pt>
                <c:pt idx="3">
                  <c:v>7.61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somewhere new</c:v>
                </c:pt>
              </c:strCache>
            </c:strRef>
          </c:tx>
          <c:spPr>
            <a:solidFill>
              <a:srgbClr val="3E5C6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PINN</c:v>
                </c:pt>
                <c:pt idx="1">
                  <c:v>Deep
learning</c:v>
                </c:pt>
                <c:pt idx="2">
                  <c:v>Baseline</c:v>
                </c:pt>
                <c:pt idx="3">
                  <c:v>Ray tracing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15.83</c:v>
                </c:pt>
                <c:pt idx="1">
                  <c:v>13.13</c:v>
                </c:pt>
                <c:pt idx="2">
                  <c:v>9.66</c:v>
                </c:pt>
                <c:pt idx="3">
                  <c:v>7.95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950">
                  <a:solidFill>
                    <a:srgbClr val="1C1917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9D3CB"/>
            </a:solidFill>
          </a:ln>
        </c:spPr>
        <c:txPr>
          <a:bodyPr/>
          <a:lstStyle/>
          <a:p>
            <a:pPr>
              <a:defRPr sz="950">
                <a:solidFill>
                  <a:srgbClr val="79716B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D9D3CB"/>
              </a:solidFill>
            </a:ln>
          </c:spPr>
        </c:majorGridlines>
        <c:majorTickMark val="none"/>
        <c:minorTickMark val="none"/>
        <c:tickLblPos val="nextTo"/>
        <c:spPr>
          <a:ln>
            <a:solidFill>
              <a:srgbClr val="D9D3CB"/>
            </a:solidFill>
          </a:ln>
        </c:spPr>
        <c:txPr>
          <a:bodyPr/>
          <a:lstStyle/>
          <a:p>
            <a:pPr>
              <a:defRPr sz="950">
                <a:solidFill>
                  <a:srgbClr val="79716B"/>
                </a:solidFill>
                <a:latin typeface="Consolas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000">
              <a:solidFill>
                <a:srgbClr val="3A4842"/>
              </a:solidFill>
              <a:latin typeface="Consolas"/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79716B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km</c:v>
                </c:pt>
              </c:strCache>
            </c:strRef>
          </c:tx>
          <c:spPr>
            <a:solidFill>
              <a:srgbClr val="B4532A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what counts as served</c:v>
                </c:pt>
                <c:pt idx="1">
                  <c:v>asset class</c:v>
                </c:pt>
                <c:pt idx="2">
                  <c:v>propagation model</c:v>
                </c:pt>
                <c:pt idx="3">
                  <c:v>threshold</c:v>
                </c:pt>
                <c:pt idx="4">
                  <c:v>route vs area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4.24</c:v>
                </c:pt>
                <c:pt idx="1">
                  <c:v>3.35</c:v>
                </c:pt>
                <c:pt idx="2">
                  <c:v>2.06</c:v>
                </c:pt>
                <c:pt idx="3">
                  <c:v>1.28</c:v>
                </c:pt>
                <c:pt idx="4">
                  <c:v>1.21</c:v>
                </c:pt>
              </c:numCache>
            </c:numRef>
          </c:val>
        </c:ser>
        <c:dLbls>
          <c:numFmt formatCode="0.0&quot;km&quot;" sourceLinked="0"/>
          <c:txPr>
            <a:bodyPr/>
            <a:lstStyle/>
            <a:p>
              <a:pPr>
                <a:defRPr sz="950">
                  <a:solidFill>
                    <a:srgbClr val="1C1917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9D3CB"/>
            </a:solidFill>
          </a:ln>
        </c:spPr>
        <c:txPr>
          <a:bodyPr/>
          <a:lstStyle/>
          <a:p>
            <a:pPr>
              <a:defRPr sz="950">
                <a:solidFill>
                  <a:srgbClr val="79716B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TickMark val="none"/>
        <c:minorTickMark val="none"/>
        <c:tickLblPos val="nextTo"/>
        <c:spPr>
          <a:ln>
            <a:solidFill>
              <a:srgbClr val="D9D3CB"/>
            </a:solidFill>
          </a:ln>
        </c:spPr>
        <c:txPr>
          <a:bodyPr/>
          <a:lstStyle/>
          <a:p>
            <a:pPr>
              <a:defRPr sz="950">
                <a:solidFill>
                  <a:srgbClr val="79716B"/>
                </a:solidFill>
                <a:latin typeface="Consolas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79716B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B4532A"/>
                </a:solidFill>
                <a:latin typeface="Archivo"/>
              </a:rPr>
              <a:t>Arathon Challenge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1C1917"/>
                </a:solidFill>
                <a:latin typeface="Archivo"/>
              </a:rPr>
              <a:t>Where should the next tower go?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395728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>
                <a:solidFill>
                  <a:srgbClr val="B4532A"/>
                </a:solidFill>
                <a:latin typeface="Archivo"/>
              </a:rPr>
              <a:t>Rural network planning on 7% of the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97180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3A4842"/>
                </a:solidFill>
                <a:latin typeface="Archivo"/>
              </a:rPr>
              <a:t>A van drove one rural service area near Ames and logged 7,144 samples. They cover 7% of it. The decision has to be made about the other 93%, so we build a model of the ground and let it stand in for the survey.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4160520"/>
            <a:ext cx="2606040" cy="932688"/>
          </a:xfrm>
          <a:prstGeom prst="rect">
            <a:avLst/>
          </a:prstGeom>
          <a:solidFill>
            <a:srgbClr val="F5F2EE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" y="4251960"/>
            <a:ext cx="23500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79716B"/>
                </a:solidFill>
                <a:latin typeface="Consolas"/>
              </a:rPr>
              <a:t>MEASURED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4416552"/>
            <a:ext cx="23500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1C1917"/>
                </a:solidFill>
                <a:latin typeface="Archivo"/>
              </a:rPr>
              <a:t>7,144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" y="4818888"/>
            <a:ext cx="23500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9716B"/>
                </a:solidFill>
                <a:latin typeface="Consolas"/>
              </a:rPr>
              <a:t>rows · 42% with no service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9272" y="4160520"/>
            <a:ext cx="2606040" cy="932688"/>
          </a:xfrm>
          <a:prstGeom prst="rect">
            <a:avLst/>
          </a:prstGeom>
          <a:solidFill>
            <a:srgbClr val="F5F2EE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47288" y="4251960"/>
            <a:ext cx="23500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79716B"/>
                </a:solidFill>
                <a:latin typeface="Consolas"/>
              </a:rPr>
              <a:t>OF THE AREA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47288" y="4416552"/>
            <a:ext cx="23500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1C1917"/>
                </a:solidFill>
                <a:latin typeface="Archivo"/>
              </a:rPr>
              <a:t>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8" y="4818888"/>
            <a:ext cx="23500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9716B"/>
                </a:solidFill>
                <a:latin typeface="Consolas"/>
              </a:rPr>
              <a:t>the rest is predicted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35624" y="4160520"/>
            <a:ext cx="2606040" cy="932688"/>
          </a:xfrm>
          <a:prstGeom prst="rect">
            <a:avLst/>
          </a:prstGeom>
          <a:solidFill>
            <a:srgbClr val="F5F2EE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4251960"/>
            <a:ext cx="23500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79716B"/>
                </a:solidFill>
                <a:latin typeface="Consolas"/>
              </a:rPr>
              <a:t>BEST HELD 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4416552"/>
            <a:ext cx="23500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3E5C6B"/>
                </a:solidFill>
                <a:latin typeface="Archivo"/>
              </a:rPr>
              <a:t>7.95 dB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4818888"/>
            <a:ext cx="23500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9716B"/>
                </a:solidFill>
                <a:latin typeface="Consolas"/>
              </a:rPr>
              <a:t>Ray tracing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51976" y="4160520"/>
            <a:ext cx="2606040" cy="932688"/>
          </a:xfrm>
          <a:prstGeom prst="rect">
            <a:avLst/>
          </a:prstGeom>
          <a:solidFill>
            <a:srgbClr val="F5F2EE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79992" y="4251960"/>
            <a:ext cx="23500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79716B"/>
                </a:solidFill>
                <a:latin typeface="Consolas"/>
              </a:rPr>
              <a:t>ROUTE COVERED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9992" y="4416552"/>
            <a:ext cx="23500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>
                <a:solidFill>
                  <a:srgbClr val="3E5C6B"/>
                </a:solidFill>
                <a:latin typeface="Archivo"/>
              </a:rPr>
              <a:t>44% → 69%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9992" y="4818888"/>
            <a:ext cx="23500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9716B"/>
                </a:solidFill>
                <a:latin typeface="Consolas"/>
              </a:rPr>
              <a:t>one macro site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48640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79716B"/>
                </a:solidFill>
                <a:latin typeface="Archivo"/>
              </a:rPr>
              <a:t>Mingyue Tang  ·  David Alcantara  ·  Ishan Bansal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B5ADA4"/>
                </a:solidFill>
                <a:latin typeface="Consolas"/>
              </a:rPr>
              <a:t>AgWireless '26 · ARA COTS RAN, Ames 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109728" cy="109728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9716B"/>
                </a:solidFill>
                <a:latin typeface="Archivo"/>
              </a:rPr>
              <a:t>the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C1917"/>
                </a:solidFill>
                <a:latin typeface="Archivo"/>
              </a:rPr>
              <a:t>Measurements alone cannot site a tower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A4842"/>
                </a:solidFill>
                <a:latin typeface="Archivo"/>
              </a:rPr>
              <a:t>Left: every sample the van recorded. Right: what a twin fills in.</a:t>
            </a:r>
          </a:p>
        </p:txBody>
      </p:sp>
      <p:pic>
        <p:nvPicPr>
          <p:cNvPr id="7" name="Picture 6" descr="measu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8306" y="1737360"/>
            <a:ext cx="3232217" cy="3520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58306" y="5349240"/>
            <a:ext cx="323221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C1917"/>
                </a:solidFill>
                <a:latin typeface="Archivo"/>
              </a:rPr>
              <a:t>What we measured</a:t>
            </a:r>
          </a:p>
        </p:txBody>
      </p:sp>
      <p:pic>
        <p:nvPicPr>
          <p:cNvPr id="9" name="Picture 8" descr="predic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3443" y="1737360"/>
            <a:ext cx="4937202" cy="3520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93443" y="5349240"/>
            <a:ext cx="493720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C1917"/>
                </a:solidFill>
                <a:latin typeface="Archivo"/>
              </a:rPr>
              <a:t>What the twin predicts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870448"/>
            <a:ext cx="914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B4532A"/>
                </a:solidFill>
                <a:latin typeface="Archivo"/>
              </a:rPr>
              <a:t>42%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5943600"/>
            <a:ext cx="2788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A4842"/>
                </a:solidFill>
                <a:latin typeface="Archivo"/>
              </a:rPr>
              <a:t>of samples had no serving cell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5870448"/>
            <a:ext cx="914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B4532A"/>
                </a:solidFill>
                <a:latin typeface="Archivo"/>
              </a:rPr>
              <a:t>938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67528" y="5943600"/>
            <a:ext cx="2788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A4842"/>
                </a:solidFill>
                <a:latin typeface="Archivo"/>
              </a:rPr>
              <a:t>of 8,176 cells hold a measurement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456" y="5870448"/>
            <a:ext cx="914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B4532A"/>
                </a:solidFill>
                <a:latin typeface="Archivo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4856" y="5943600"/>
            <a:ext cx="2788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A4842"/>
                </a:solidFill>
                <a:latin typeface="Archivo"/>
              </a:rPr>
              <a:t>candidate sites the van visited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B5ADA4"/>
                </a:solidFill>
                <a:latin typeface="Consolas"/>
              </a:rPr>
              <a:t>7,144 samples · 117 km of road · a 178 km² box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109728" cy="109728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9716B"/>
                </a:solidFill>
                <a:latin typeface="Archivo"/>
              </a:rPr>
              <a:t>approaches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C1917"/>
                </a:solidFill>
                <a:latin typeface="Archivo"/>
              </a:rPr>
              <a:t>Four ways to fill in the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A4842"/>
                </a:solidFill>
                <a:latin typeface="Archivo"/>
              </a:rPr>
              <a:t>Same ground, same scale. Each reads something different and each can be wrong in its own way.</a:t>
            </a:r>
          </a:p>
        </p:txBody>
      </p:sp>
      <p:pic>
        <p:nvPicPr>
          <p:cNvPr id="7" name="Picture 6" descr="map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2697480" cy="246626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4407408"/>
            <a:ext cx="2697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A4842"/>
                </a:solidFill>
                <a:latin typeface="Archivo"/>
              </a:rPr>
              <a:t>reads distance and bearing</a:t>
            </a:r>
          </a:p>
        </p:txBody>
      </p:sp>
      <p:pic>
        <p:nvPicPr>
          <p:cNvPr id="9" name="Picture 8" descr="map_ray_trac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2696" y="1737360"/>
            <a:ext cx="2697480" cy="24662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328416" y="4407408"/>
            <a:ext cx="2697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A4842"/>
                </a:solidFill>
                <a:latin typeface="Archivo"/>
              </a:rPr>
              <a:t>reads terrain and buildings</a:t>
            </a:r>
          </a:p>
        </p:txBody>
      </p:sp>
      <p:pic>
        <p:nvPicPr>
          <p:cNvPr id="11" name="Picture 10" descr="map_deep_learn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8192" y="1737360"/>
            <a:ext cx="2697480" cy="246626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53912" y="4407408"/>
            <a:ext cx="2697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A4842"/>
                </a:solidFill>
                <a:latin typeface="Archivo"/>
              </a:rPr>
              <a:t>reads the shape of the ground</a:t>
            </a:r>
          </a:p>
        </p:txBody>
      </p:sp>
      <p:pic>
        <p:nvPicPr>
          <p:cNvPr id="13" name="Picture 12" descr="map_pin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33688" y="1737360"/>
            <a:ext cx="2697480" cy="246626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979408" y="4407408"/>
            <a:ext cx="2697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A4842"/>
                </a:solidFill>
                <a:latin typeface="Archivo"/>
              </a:rPr>
              <a:t>reads position, guided by physics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983480"/>
            <a:ext cx="11292840" cy="914400"/>
          </a:xfrm>
          <a:prstGeom prst="rect">
            <a:avLst/>
          </a:prstGeom>
          <a:solidFill>
            <a:srgbClr val="F5F2EE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5120640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C1917"/>
                </a:solidFill>
                <a:latin typeface="Archivo"/>
              </a:rPr>
              <a:t>They agree on how much is covered — and disagree about where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44068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A4842"/>
                </a:solidFill>
                <a:latin typeface="Archivo"/>
              </a:rPr>
              <a:t>Between 34% and 41% of cells clear the threshold in all four. That spread is small. The question is which one is still right when you move it somewhere it has never seen.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B5ADA4"/>
                </a:solidFill>
                <a:latin typeface="Consolas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109728" cy="109728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9716B"/>
                </a:solidFill>
                <a:latin typeface="Archivo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C1917"/>
                </a:solidFill>
                <a:latin typeface="Archivo"/>
              </a:rPr>
              <a:t>In sample is not the same as somewhere new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A4842"/>
                </a:solidFill>
                <a:latin typeface="Archivo"/>
              </a:rPr>
              <a:t>RSRP error in dB. Lower is better. Same rows, same splits, same 200 m buffer between train and test.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02920" y="1828800"/>
          <a:ext cx="685800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5120640"/>
            <a:ext cx="6858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A4842"/>
                </a:solidFill>
                <a:latin typeface="Consolas"/>
              </a:rPr>
              <a:t>Grey is in sample. Teal is held out by region. The distance between a pair is how much of the score was memory.</a:t>
            </a:r>
          </a:p>
        </p:txBody>
      </p:sp>
      <p:sp>
        <p:nvSpPr>
          <p:cNvPr id="9" name="Rectangle 8"/>
          <p:cNvSpPr/>
          <p:nvPr/>
        </p:nvSpPr>
        <p:spPr>
          <a:xfrm>
            <a:off x="7635240" y="1828800"/>
            <a:ext cx="4023360" cy="1417320"/>
          </a:xfrm>
          <a:prstGeom prst="rect">
            <a:avLst/>
          </a:prstGeom>
          <a:solidFill>
            <a:srgbClr val="F5F2EE"/>
          </a:solidFill>
          <a:ln w="19050">
            <a:solidFill>
              <a:srgbClr val="3E5C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36408" y="195681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3E5C6B"/>
                </a:solidFill>
                <a:latin typeface="Archivo"/>
              </a:rPr>
              <a:t>Ray tracing barely moves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36408" y="2286000"/>
            <a:ext cx="3657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4842"/>
                </a:solidFill>
                <a:latin typeface="Archivo"/>
              </a:rPr>
              <a:t>7.61 dB in sample, 7.95 held out. It is the only model that does not care whether it has seen the ground before.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35240" y="3383280"/>
            <a:ext cx="4023360" cy="2331720"/>
          </a:xfrm>
          <a:prstGeom prst="rect">
            <a:avLst/>
          </a:prstGeom>
          <a:solidFill>
            <a:srgbClr val="F5F2EE"/>
          </a:solidFill>
          <a:ln w="19050">
            <a:solidFill>
              <a:srgbClr val="B45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36408" y="351129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B4532A"/>
                </a:solidFill>
                <a:latin typeface="Archivo"/>
              </a:rPr>
              <a:t>The learned models memorise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36408" y="3840480"/>
            <a:ext cx="36576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4842"/>
                </a:solidFill>
                <a:latin typeface="Archivo"/>
              </a:rPr>
              <a:t>A terrain profile is nearly a unique location label — its nearest neighbour sits 12 m away on the ground. Feed the operator profiles from the wrong links and it scores 13.16 dB against 13.13 with the right ones. It never used the terrain.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B5ADA4"/>
                </a:solidFill>
                <a:latin typeface="Consolas"/>
              </a:rPr>
              <a:t>Held out by region · 200 m buffer between train and test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109728" cy="109728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9716B"/>
                </a:solidFill>
                <a:latin typeface="Archivo"/>
              </a:rPr>
              <a:t>the planner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C1917"/>
                </a:solidFill>
                <a:latin typeface="Archivo"/>
              </a:rPr>
              <a:t>Turning a surface into a decision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A4842"/>
                </a:solidFill>
                <a:latin typeface="Archivo"/>
              </a:rPr>
              <a:t>Score 627 candidate sites against 4,731 demand cells — then move every assumption and watch where the answer goes.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83080"/>
            <a:ext cx="2606040" cy="841248"/>
          </a:xfrm>
          <a:prstGeom prst="rect">
            <a:avLst/>
          </a:prstGeom>
          <a:solidFill>
            <a:srgbClr val="F5F2EE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874519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1C1917"/>
                </a:solidFill>
                <a:latin typeface="Archivo"/>
              </a:rPr>
              <a:t>Predict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157984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79716B"/>
                </a:solidFill>
                <a:latin typeface="Archivo"/>
              </a:rPr>
              <a:t>a value in every 200 m cell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27248" y="2011680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D9D3CB"/>
                </a:solidFill>
                <a:latin typeface="Archivo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9272" y="1783080"/>
            <a:ext cx="2606040" cy="841248"/>
          </a:xfrm>
          <a:prstGeom prst="rect">
            <a:avLst/>
          </a:prstGeom>
          <a:solidFill>
            <a:srgbClr val="F5F2EE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83864" y="1874519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1C1917"/>
                </a:solidFill>
                <a:latin typeface="Archivo"/>
              </a:rPr>
              <a:t>Define served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3864" y="2157984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79716B"/>
                </a:solidFill>
                <a:latin typeface="Archivo"/>
              </a:rPr>
              <a:t>eight definitions, one threshold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2011680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D9D3CB"/>
                </a:solidFill>
                <a:latin typeface="Archivo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35624" y="1783080"/>
            <a:ext cx="2606040" cy="841248"/>
          </a:xfrm>
          <a:prstGeom prst="rect">
            <a:avLst/>
          </a:prstGeom>
          <a:solidFill>
            <a:srgbClr val="F5F2EE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0216" y="1874519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1C1917"/>
                </a:solidFill>
                <a:latin typeface="Archivo"/>
              </a:rPr>
              <a:t>Score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0216" y="2157984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79716B"/>
                </a:solidFill>
                <a:latin typeface="Archivo"/>
              </a:rPr>
              <a:t>route-km and area gained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59952" y="2011680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D9D3CB"/>
                </a:solidFill>
                <a:latin typeface="Archivo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51976" y="1783080"/>
            <a:ext cx="2606040" cy="841248"/>
          </a:xfrm>
          <a:prstGeom prst="rect">
            <a:avLst/>
          </a:prstGeom>
          <a:solidFill>
            <a:srgbClr val="F5F2EE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16568" y="1874519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1C1917"/>
                </a:solidFill>
                <a:latin typeface="Archivo"/>
              </a:rPr>
              <a:t>Constrain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16568" y="2157984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79716B"/>
                </a:solidFill>
                <a:latin typeface="Archivo"/>
              </a:rPr>
              <a:t>power, access, structures, backhaul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2788920"/>
            <a:ext cx="6858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C1917"/>
                </a:solidFill>
                <a:latin typeface="Archivo"/>
              </a:rPr>
              <a:t>How far the recommended site moves when you change one assumption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365760" y="3108960"/>
          <a:ext cx="7040880" cy="2514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ectangle 23"/>
          <p:cNvSpPr/>
          <p:nvPr/>
        </p:nvSpPr>
        <p:spPr>
          <a:xfrm>
            <a:off x="7635240" y="2788920"/>
            <a:ext cx="4023360" cy="1371600"/>
          </a:xfrm>
          <a:prstGeom prst="rect">
            <a:avLst/>
          </a:prstGeom>
          <a:solidFill>
            <a:srgbClr val="F5F2EE"/>
          </a:solidFill>
          <a:ln w="19050">
            <a:solidFill>
              <a:srgbClr val="B45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36408" y="2907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B4532A"/>
                </a:solidFill>
                <a:latin typeface="Archivo"/>
              </a:rPr>
              <a:t>The definition beats the physics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3236976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4842"/>
                </a:solidFill>
                <a:latin typeface="Archivo"/>
              </a:rPr>
              <a:t>Changing what counts as service moves the site twice as far as changing the model. It was chosen, not measured.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35240" y="4297680"/>
            <a:ext cx="4023360" cy="1325880"/>
          </a:xfrm>
          <a:prstGeom prst="rect">
            <a:avLst/>
          </a:prstGeom>
          <a:solidFill>
            <a:srgbClr val="F5F2EE"/>
          </a:solidFill>
          <a:ln w="19050">
            <a:solidFill>
              <a:srgbClr val="3E5C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36408" y="441655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3E5C6B"/>
                </a:solidFill>
                <a:latin typeface="Archivo"/>
              </a:rPr>
              <a:t>A neighbourhood, not a pin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36408" y="4745736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4842"/>
                </a:solidFill>
                <a:latin typeface="Archivo"/>
              </a:rPr>
              <a:t>Requiring grid power within 1 km moves it 11 km. The exact site repeats in 10% of draws; 3 km in 99%.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B5ADA4"/>
                </a:solidFill>
                <a:latin typeface="Consolas"/>
              </a:rPr>
              <a:t>198 combinations of model, asset, criterion, threshold and weighting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109728" cy="109728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9716B"/>
                </a:solidFill>
                <a:latin typeface="Archivo"/>
              </a:rPr>
              <a:t>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C1917"/>
                </a:solidFill>
                <a:latin typeface="Archivo"/>
              </a:rPr>
              <a:t>The planner,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A4842"/>
                </a:solidFill>
                <a:latin typeface="Archivo"/>
              </a:rPr>
              <a:t>The brief's demo artifact: place an asset and immediately see coverage, performance, uncertainty and route benefit change.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691640"/>
            <a:ext cx="7452360" cy="3931920"/>
          </a:xfrm>
          <a:prstGeom prst="rect">
            <a:avLst/>
          </a:prstGeom>
          <a:solidFill>
            <a:srgbClr val="1C1917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8288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55547" y="18288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52728" y="18288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49908" y="18288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47088" y="18288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144268" y="18288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441448" y="18288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38628" y="18288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035808" y="18288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32988" y="18288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30168" y="18288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927348" y="18288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24528" y="18288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21708" y="18288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18888" y="18288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16068" y="18288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13248" y="18288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710428" y="18288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07608" y="18288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04788" y="18288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601968" y="18288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899148" y="18288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196328" y="18288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93508" y="18288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21259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55547" y="21259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252728" y="21259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49908" y="21259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847088" y="21259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144268" y="21259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41448" y="21259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738628" y="21259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035808" y="21259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332988" y="21259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630168" y="21259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927348" y="21259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224528" y="21259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521708" y="21259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818888" y="21259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116068" y="21259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413248" y="21259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710428" y="21259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007608" y="21259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304788" y="21259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601968" y="21259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899148" y="21259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196328" y="21259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493508" y="21259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58368" y="24231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55547" y="24231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252728" y="24231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549908" y="24231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847088" y="24231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144268" y="24231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441448" y="24231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738628" y="24231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035808" y="24231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332988" y="24231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630168" y="24231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927348" y="24231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224528" y="24231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521708" y="24231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818888" y="24231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116068" y="24231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413248" y="24231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710428" y="24231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007608" y="24231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304788" y="24231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601968" y="24231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899148" y="24231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196328" y="24231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93508" y="24231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58368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55547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252728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549908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847088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2144268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441448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738628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035808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332988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630168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3927348" y="27203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224528" y="27203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521708" y="27203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818888" y="27203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5116068" y="27203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413248" y="27203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5710428" y="27203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007608" y="27203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304788" y="27203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601968" y="27203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6899148" y="27203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7196328" y="27203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7493508" y="27203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658368" y="30175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55547" y="30175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252728" y="30175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549908" y="30175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847088" y="30175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2144268" y="30175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2441448" y="30175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2738628" y="30175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3035808" y="301752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3332988" y="30175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3630168" y="30175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3927348" y="301752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224528" y="301752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521708" y="301752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818888" y="30175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5116068" y="30175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5413248" y="30175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5710428" y="30175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6007608" y="30175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6304788" y="30175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6601968" y="30175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899148" y="30175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7196328" y="30175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7493508" y="30175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658368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955547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252728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549908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847088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2144268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2441448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2738628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3035808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3332988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3630168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3927348" y="33147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4224528" y="33147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4521708" y="33147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4818888" y="33147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5116068" y="33147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5413248" y="33147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5710428" y="33147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6007608" y="33147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6304788" y="33147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6601968" y="33147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899148" y="33147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7196328" y="33147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7493508" y="33147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658368" y="36118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955547" y="36118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1252728" y="36118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549908" y="36118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1847088" y="36118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2144268" y="36118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441448" y="36118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2738628" y="36118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3035808" y="36118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3332988" y="36118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3630168" y="36118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3927348" y="36118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4224528" y="36118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4521708" y="36118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4818888" y="36118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5116068" y="36118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5413248" y="36118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5710428" y="36118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6007608" y="36118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6304788" y="36118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6601968" y="36118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899148" y="36118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7196328" y="36118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7493508" y="36118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658368" y="39090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955547" y="39090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1252728" y="39090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1549908" y="39090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1847088" y="39090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2144268" y="39090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2441448" y="39090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2738628" y="39090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3035808" y="39090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3332988" y="39090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630168" y="39090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3927348" y="39090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4224528" y="39090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4521708" y="39090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4818888" y="39090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5116068" y="39090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5413248" y="39090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5710428" y="39090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6007608" y="39090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6304788" y="39090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6601968" y="39090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6899148" y="39090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7196328" y="39090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7493508" y="39090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658368" y="42062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955547" y="42062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1252728" y="42062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1549908" y="42062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1847088" y="42062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2144268" y="42062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2441448" y="42062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2738628" y="42062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3035808" y="42062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3332988" y="42062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3630168" y="42062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3927348" y="42062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4224528" y="42062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4521708" y="42062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4818888" y="42062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5116068" y="42062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5413248" y="42062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5710428" y="42062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6007608" y="42062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6304788" y="42062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6601968" y="42062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6899148" y="42062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7196328" y="42062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7493508" y="42062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658368" y="45034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955547" y="45034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1252728" y="45034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1549908" y="45034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1847088" y="45034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2144268" y="45034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2441448" y="450342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2738628" y="450342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3035808" y="45034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3332988" y="450342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3630168" y="45034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3927348" y="45034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4224528" y="45034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4521708" y="450342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4818888" y="450342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5116068" y="45034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5413248" y="45034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5710428" y="45034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6007608" y="45034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6304788" y="45034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6601968" y="45034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6899148" y="45034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7196328" y="45034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7493508" y="45034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658368" y="48006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955547" y="48006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1252728" y="48006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1549908" y="48006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1847088" y="48006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2144268" y="48006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2441448" y="48006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2738628" y="48006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3035808" y="48006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3332988" y="48006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3630168" y="48006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3927348" y="48006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4224528" y="48006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4521708" y="48006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4818888" y="48006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5116068" y="48006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5413248" y="48006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5710428" y="48006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6007608" y="48006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6304788" y="48006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6601968" y="48006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6899148" y="48006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7196328" y="48006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7493508" y="48006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658368" y="50977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955547" y="50977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1252728" y="50977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1549908" y="50977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1847088" y="50977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2144268" y="50977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2441448" y="50977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2738628" y="50977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3035808" y="50977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3332988" y="50977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3630168" y="50977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3927348" y="50977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4224528" y="50977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4521708" y="50977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4818888" y="50977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5116068" y="50977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5413248" y="50977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5710428" y="50977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6007608" y="50977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6304788" y="50977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6601968" y="50977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6899148" y="50977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7196328" y="50977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7493508" y="50977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822960" y="24688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940067" y="25170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1057174" y="25651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1174282" y="26132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1291389" y="26613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1408496" y="27095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1525604" y="27576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1642711" y="28057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1759818" y="28538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1876926" y="29020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1994033" y="295014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2111141" y="2998269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2228248" y="304639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2345355" y="309452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2462463" y="314264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2579570" y="319077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2696677" y="323890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2813785" y="328702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2930892" y="333515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3047999" y="33832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3165107" y="34314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3282214" y="34795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3399322" y="35276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3516429" y="35757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3633536" y="36239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3750644" y="36720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3867751" y="37201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3984858" y="37682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4101966" y="38164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4219073" y="38164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Rectangle 325"/>
          <p:cNvSpPr/>
          <p:nvPr/>
        </p:nvSpPr>
        <p:spPr>
          <a:xfrm>
            <a:off x="4336181" y="37682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4453288" y="37201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Rectangle 327"/>
          <p:cNvSpPr/>
          <p:nvPr/>
        </p:nvSpPr>
        <p:spPr>
          <a:xfrm>
            <a:off x="4570395" y="36720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4687503" y="36239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4804610" y="35757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4921717" y="35276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5038825" y="34795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5155932" y="34314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5273040" y="33832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5390147" y="333515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5507254" y="328702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5624362" y="323890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5741469" y="319077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5858576" y="314264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5975684" y="309452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6092791" y="304639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6209898" y="2998269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6327006" y="295014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6444113" y="29020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6561221" y="28538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6678328" y="28057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6795435" y="27576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6912543" y="27095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7029650" y="26613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7146757" y="26132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7263865" y="25651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7380972" y="25170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7498079" y="24688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5029200" y="2331720"/>
            <a:ext cx="201168" cy="201168"/>
          </a:xfrm>
          <a:prstGeom prst="ellipse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2651760" y="3886200"/>
            <a:ext cx="274320" cy="274320"/>
          </a:xfrm>
          <a:prstGeom prst="ellipse">
            <a:avLst/>
          </a:prstGeom>
          <a:noFill/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658368" y="5376672"/>
            <a:ext cx="4206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onsolas"/>
              </a:rPr>
              <a:t>map scale ▬ 2 km   ·   ▪ one 200 m demand cell</a:t>
            </a:r>
          </a:p>
        </p:txBody>
      </p:sp>
      <p:sp>
        <p:nvSpPr>
          <p:cNvPr id="357" name="Rectangle 356"/>
          <p:cNvSpPr/>
          <p:nvPr/>
        </p:nvSpPr>
        <p:spPr>
          <a:xfrm>
            <a:off x="8183879" y="1691640"/>
            <a:ext cx="3474720" cy="3931920"/>
          </a:xfrm>
          <a:prstGeom prst="rect">
            <a:avLst/>
          </a:prstGeom>
          <a:solidFill>
            <a:srgbClr val="F5F2EE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TextBox 357"/>
          <p:cNvSpPr txBox="1"/>
          <p:nvPr/>
        </p:nvSpPr>
        <p:spPr>
          <a:xfrm>
            <a:off x="8366759" y="1810512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C1917"/>
                </a:solidFill>
                <a:latin typeface="Archivo"/>
              </a:rPr>
              <a:t>Rural Coverage Planner</a:t>
            </a:r>
          </a:p>
        </p:txBody>
      </p:sp>
      <p:sp>
        <p:nvSpPr>
          <p:cNvPr id="359" name="TextBox 358"/>
          <p:cNvSpPr txBox="1"/>
          <p:nvPr/>
        </p:nvSpPr>
        <p:spPr>
          <a:xfrm>
            <a:off x="8366759" y="2157984"/>
            <a:ext cx="31089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79716B"/>
                </a:solidFill>
                <a:latin typeface="Consolas"/>
              </a:rPr>
              <a:t>APPROACH</a:t>
            </a:r>
          </a:p>
        </p:txBody>
      </p:sp>
      <p:sp>
        <p:nvSpPr>
          <p:cNvPr id="360" name="Rectangle 359"/>
          <p:cNvSpPr/>
          <p:nvPr/>
        </p:nvSpPr>
        <p:spPr>
          <a:xfrm>
            <a:off x="8366759" y="2331720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TextBox 360"/>
          <p:cNvSpPr txBox="1"/>
          <p:nvPr/>
        </p:nvSpPr>
        <p:spPr>
          <a:xfrm>
            <a:off x="8458199" y="2372868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C1917"/>
                </a:solidFill>
                <a:latin typeface="Consolas"/>
              </a:rPr>
              <a:t>Baseline — fitted physics ▾</a:t>
            </a:r>
          </a:p>
        </p:txBody>
      </p:sp>
      <p:sp>
        <p:nvSpPr>
          <p:cNvPr id="362" name="TextBox 361"/>
          <p:cNvSpPr txBox="1"/>
          <p:nvPr/>
        </p:nvSpPr>
        <p:spPr>
          <a:xfrm>
            <a:off x="8366759" y="2633472"/>
            <a:ext cx="31089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79716B"/>
                </a:solidFill>
                <a:latin typeface="Consolas"/>
              </a:rPr>
              <a:t>WHAT COUNTS AS SERVED</a:t>
            </a:r>
          </a:p>
        </p:txBody>
      </p:sp>
      <p:sp>
        <p:nvSpPr>
          <p:cNvPr id="363" name="Rectangle 362"/>
          <p:cNvSpPr/>
          <p:nvPr/>
        </p:nvSpPr>
        <p:spPr>
          <a:xfrm>
            <a:off x="8366759" y="2807208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8458199" y="2848356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C1917"/>
                </a:solidFill>
                <a:latin typeface="Consolas"/>
              </a:rPr>
              <a:t>Availability ▾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8366759" y="3108960"/>
            <a:ext cx="31089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79716B"/>
                </a:solidFill>
                <a:latin typeface="Consolas"/>
              </a:rPr>
              <a:t>TARGET</a:t>
            </a:r>
          </a:p>
        </p:txBody>
      </p:sp>
      <p:sp>
        <p:nvSpPr>
          <p:cNvPr id="366" name="Rectangle 365"/>
          <p:cNvSpPr/>
          <p:nvPr/>
        </p:nvSpPr>
        <p:spPr>
          <a:xfrm>
            <a:off x="8366759" y="3282696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TextBox 366"/>
          <p:cNvSpPr txBox="1"/>
          <p:nvPr/>
        </p:nvSpPr>
        <p:spPr>
          <a:xfrm>
            <a:off x="8458199" y="3323844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C1917"/>
                </a:solidFill>
                <a:latin typeface="Consolas"/>
              </a:rPr>
              <a:t>≥ 50% of the time</a:t>
            </a:r>
          </a:p>
        </p:txBody>
      </p:sp>
      <p:sp>
        <p:nvSpPr>
          <p:cNvPr id="368" name="TextBox 367"/>
          <p:cNvSpPr txBox="1"/>
          <p:nvPr/>
        </p:nvSpPr>
        <p:spPr>
          <a:xfrm>
            <a:off x="8366759" y="3584448"/>
            <a:ext cx="31089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79716B"/>
                </a:solidFill>
                <a:latin typeface="Consolas"/>
              </a:rPr>
              <a:t>ROUTE VS AREA</a:t>
            </a:r>
          </a:p>
        </p:txBody>
      </p:sp>
      <p:sp>
        <p:nvSpPr>
          <p:cNvPr id="369" name="Rectangle 368"/>
          <p:cNvSpPr/>
          <p:nvPr/>
        </p:nvSpPr>
        <p:spPr>
          <a:xfrm>
            <a:off x="8366759" y="3758184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TextBox 369"/>
          <p:cNvSpPr txBox="1"/>
          <p:nvPr/>
        </p:nvSpPr>
        <p:spPr>
          <a:xfrm>
            <a:off x="8458199" y="3799332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C1917"/>
                </a:solidFill>
                <a:latin typeface="Consolas"/>
              </a:rPr>
              <a:t>0.70 / 0.30</a:t>
            </a:r>
          </a:p>
        </p:txBody>
      </p:sp>
      <p:sp>
        <p:nvSpPr>
          <p:cNvPr id="371" name="TextBox 370"/>
          <p:cNvSpPr txBox="1"/>
          <p:nvPr/>
        </p:nvSpPr>
        <p:spPr>
          <a:xfrm>
            <a:off x="8366759" y="4059935"/>
            <a:ext cx="31089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79716B"/>
                </a:solidFill>
                <a:latin typeface="Consolas"/>
              </a:rPr>
              <a:t>ASSET</a:t>
            </a:r>
          </a:p>
        </p:txBody>
      </p:sp>
      <p:sp>
        <p:nvSpPr>
          <p:cNvPr id="372" name="Rectangle 371"/>
          <p:cNvSpPr/>
          <p:nvPr/>
        </p:nvSpPr>
        <p:spPr>
          <a:xfrm>
            <a:off x="8366759" y="4233671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TextBox 372"/>
          <p:cNvSpPr txBox="1"/>
          <p:nvPr/>
        </p:nvSpPr>
        <p:spPr>
          <a:xfrm>
            <a:off x="8458199" y="4274819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C1917"/>
                </a:solidFill>
                <a:latin typeface="Consolas"/>
              </a:rPr>
              <a:t>Macro · 37 m · 0 dB</a:t>
            </a:r>
          </a:p>
        </p:txBody>
      </p:sp>
      <p:sp>
        <p:nvSpPr>
          <p:cNvPr id="374" name="Rectangle 373"/>
          <p:cNvSpPr/>
          <p:nvPr/>
        </p:nvSpPr>
        <p:spPr>
          <a:xfrm>
            <a:off x="8366759" y="4572000"/>
            <a:ext cx="3108960" cy="292608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TextBox 374"/>
          <p:cNvSpPr txBox="1"/>
          <p:nvPr/>
        </p:nvSpPr>
        <p:spPr>
          <a:xfrm>
            <a:off x="9052559" y="4636008"/>
            <a:ext cx="2194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onsolas"/>
              </a:rPr>
              <a:t>Find the best site</a:t>
            </a:r>
          </a:p>
        </p:txBody>
      </p:sp>
      <p:sp>
        <p:nvSpPr>
          <p:cNvPr id="376" name="Rectangle 375"/>
          <p:cNvSpPr/>
          <p:nvPr/>
        </p:nvSpPr>
        <p:spPr>
          <a:xfrm>
            <a:off x="8366759" y="4983480"/>
            <a:ext cx="15087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TextBox 376"/>
          <p:cNvSpPr txBox="1"/>
          <p:nvPr/>
        </p:nvSpPr>
        <p:spPr>
          <a:xfrm>
            <a:off x="8476487" y="5047488"/>
            <a:ext cx="12801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79716B"/>
                </a:solidFill>
                <a:latin typeface="Consolas"/>
              </a:rPr>
              <a:t>ROUTE-KM</a:t>
            </a:r>
          </a:p>
        </p:txBody>
      </p:sp>
      <p:sp>
        <p:nvSpPr>
          <p:cNvPr id="378" name="TextBox 377"/>
          <p:cNvSpPr txBox="1"/>
          <p:nvPr/>
        </p:nvSpPr>
        <p:spPr>
          <a:xfrm>
            <a:off x="8476487" y="5230368"/>
            <a:ext cx="1280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E5C6B"/>
                </a:solidFill>
                <a:latin typeface="Archivo"/>
              </a:rPr>
              <a:t>51.9 → 80.5</a:t>
            </a:r>
          </a:p>
        </p:txBody>
      </p:sp>
      <p:sp>
        <p:nvSpPr>
          <p:cNvPr id="379" name="Rectangle 378"/>
          <p:cNvSpPr/>
          <p:nvPr/>
        </p:nvSpPr>
        <p:spPr>
          <a:xfrm>
            <a:off x="9966959" y="4983480"/>
            <a:ext cx="15087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TextBox 379"/>
          <p:cNvSpPr txBox="1"/>
          <p:nvPr/>
        </p:nvSpPr>
        <p:spPr>
          <a:xfrm>
            <a:off x="10076686" y="5047488"/>
            <a:ext cx="12801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79716B"/>
                </a:solidFill>
                <a:latin typeface="Consolas"/>
              </a:rPr>
              <a:t>SCORE</a:t>
            </a:r>
          </a:p>
        </p:txBody>
      </p:sp>
      <p:sp>
        <p:nvSpPr>
          <p:cNvPr id="381" name="TextBox 380"/>
          <p:cNvSpPr txBox="1"/>
          <p:nvPr/>
        </p:nvSpPr>
        <p:spPr>
          <a:xfrm>
            <a:off x="10076686" y="5230368"/>
            <a:ext cx="1280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E5C6B"/>
                </a:solidFill>
                <a:latin typeface="Archivo"/>
              </a:rPr>
              <a:t>0.421 → 0.652</a:t>
            </a:r>
          </a:p>
        </p:txBody>
      </p:sp>
      <p:sp>
        <p:nvSpPr>
          <p:cNvPr id="382" name="TextBox 381"/>
          <p:cNvSpPr txBox="1"/>
          <p:nvPr/>
        </p:nvSpPr>
        <p:spPr>
          <a:xfrm>
            <a:off x="502920" y="576072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A4842"/>
                </a:solidFill>
                <a:latin typeface="Consolas"/>
              </a:rPr>
              <a:t>Heatmap of the chosen criterion over shaded relief, with the drive test drawn on top in a contrasting hue — which doubles as the road network. Amber is the existing tower, the ring is the placement. Three sweep buttons re-solve across every criterion, every weighting and every approach; a constrained variant adds the five buildability layers.</a:t>
            </a:r>
          </a:p>
        </p:txBody>
      </p:sp>
      <p:sp>
        <p:nvSpPr>
          <p:cNvPr id="383" name="TextBox 382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B5ADA4"/>
                </a:solidFill>
                <a:latin typeface="Consolas"/>
              </a:rPr>
              <a:t>Runs in a browser. No server, no install, no network.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