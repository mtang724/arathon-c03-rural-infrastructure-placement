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on data it has seen</c:v>
                </c:pt>
              </c:strCache>
            </c:strRef>
          </c:tx>
          <c:spPr>
            <a:solidFill>
              <a:srgbClr val="B0A89E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PINN</c:v>
                </c:pt>
                <c:pt idx="1">
                  <c:v>Deep
learning</c:v>
                </c:pt>
                <c:pt idx="2">
                  <c:v>Baseline</c:v>
                </c:pt>
                <c:pt idx="3">
                  <c:v>Ray tracing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5.63</c:v>
                </c:pt>
                <c:pt idx="1">
                  <c:v>8.56</c:v>
                </c:pt>
                <c:pt idx="2">
                  <c:v>7.35</c:v>
                </c:pt>
                <c:pt idx="3">
                  <c:v>7.61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somewhere new</c:v>
                </c:pt>
              </c:strCache>
            </c:strRef>
          </c:tx>
          <c:spPr>
            <a:solidFill>
              <a:srgbClr val="55606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PINN</c:v>
                </c:pt>
                <c:pt idx="1">
                  <c:v>Deep
learning</c:v>
                </c:pt>
                <c:pt idx="2">
                  <c:v>Baseline</c:v>
                </c:pt>
                <c:pt idx="3">
                  <c:v>Ray tracing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15.83</c:v>
                </c:pt>
                <c:pt idx="1">
                  <c:v>13.13</c:v>
                </c:pt>
                <c:pt idx="2">
                  <c:v>9.66</c:v>
                </c:pt>
                <c:pt idx="3">
                  <c:v>7.95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450">
                  <a:solidFill>
                    <a:srgbClr val="23201C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DD6CC"/>
            </a:solidFill>
          </a:ln>
        </c:spPr>
        <c:txPr>
          <a:bodyPr/>
          <a:lstStyle/>
          <a:p>
            <a:pPr>
              <a:defRPr sz="1450">
                <a:solidFill>
                  <a:srgbClr val="8A8279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DDD6CC"/>
              </a:solidFill>
            </a:ln>
          </c:spPr>
        </c:majorGridlines>
        <c:majorTickMark val="none"/>
        <c:minorTickMark val="none"/>
        <c:tickLblPos val="nextTo"/>
        <c:spPr>
          <a:ln>
            <a:solidFill>
              <a:srgbClr val="DDD6CC"/>
            </a:solidFill>
          </a:ln>
        </c:spPr>
        <c:txPr>
          <a:bodyPr/>
          <a:lstStyle/>
          <a:p>
            <a:pPr>
              <a:defRPr sz="1450">
                <a:solidFill>
                  <a:srgbClr val="8A8279"/>
                </a:solidFill>
                <a:latin typeface="Consolas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500">
              <a:solidFill>
                <a:srgbClr val="4A4540"/>
              </a:solidFill>
              <a:latin typeface="Consolas"/>
            </a:defRPr>
          </a:pPr>
        </a:p>
      </c:txPr>
    </c:legend>
    <c:dispBlanksAs val="gap"/>
  </c:chart>
  <c:txPr>
    <a:bodyPr/>
    <a:lstStyle/>
    <a:p>
      <a:pPr>
        <a:defRPr sz="1500">
          <a:solidFill>
            <a:srgbClr val="8A8279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km</c:v>
                </c:pt>
              </c:strCache>
            </c:strRef>
          </c:tx>
          <c:spPr>
            <a:solidFill>
              <a:srgbClr val="8C3A28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what counts as served</c:v>
                </c:pt>
                <c:pt idx="1">
                  <c:v>asset class</c:v>
                </c:pt>
                <c:pt idx="2">
                  <c:v>propagation model</c:v>
                </c:pt>
                <c:pt idx="3">
                  <c:v>threshold</c:v>
                </c:pt>
                <c:pt idx="4">
                  <c:v>route vs area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4.24</c:v>
                </c:pt>
                <c:pt idx="1">
                  <c:v>3.35</c:v>
                </c:pt>
                <c:pt idx="2">
                  <c:v>2.06</c:v>
                </c:pt>
                <c:pt idx="3">
                  <c:v>1.28</c:v>
                </c:pt>
                <c:pt idx="4">
                  <c:v>1.21</c:v>
                </c:pt>
              </c:numCache>
            </c:numRef>
          </c:val>
        </c:ser>
        <c:dLbls>
          <c:numFmt formatCode="0.0&quot;km&quot;" sourceLinked="0"/>
          <c:txPr>
            <a:bodyPr/>
            <a:lstStyle/>
            <a:p>
              <a:pPr>
                <a:defRPr sz="1450">
                  <a:solidFill>
                    <a:srgbClr val="23201C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DD6CC"/>
            </a:solidFill>
          </a:ln>
        </c:spPr>
        <c:txPr>
          <a:bodyPr/>
          <a:lstStyle/>
          <a:p>
            <a:pPr>
              <a:defRPr sz="1450">
                <a:solidFill>
                  <a:srgbClr val="8A8279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TickMark val="none"/>
        <c:minorTickMark val="none"/>
        <c:tickLblPos val="nextTo"/>
        <c:spPr>
          <a:ln>
            <a:solidFill>
              <a:srgbClr val="DDD6CC"/>
            </a:solidFill>
          </a:ln>
        </c:spPr>
        <c:txPr>
          <a:bodyPr/>
          <a:lstStyle/>
          <a:p>
            <a:pPr>
              <a:defRPr sz="1450">
                <a:solidFill>
                  <a:srgbClr val="8A8279"/>
                </a:solidFill>
                <a:latin typeface="Consolas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500">
          <a:solidFill>
            <a:srgbClr val="8A8279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8A8279"/>
                </a:solidFill>
                <a:latin typeface="Calibri"/>
              </a:rPr>
              <a:t>Arathon Challenge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5486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23201C"/>
                </a:solidFill>
                <a:latin typeface="Cambria"/>
              </a:rPr>
              <a:t>Where should the
next tower go?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761488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8C3A28"/>
                </a:solidFill>
                <a:latin typeface="Cambria"/>
              </a:rPr>
              <a:t>Rural network planning on 7% of the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310128"/>
            <a:ext cx="52120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4A4540"/>
                </a:solidFill>
                <a:latin typeface="Calibri"/>
              </a:rPr>
              <a:t>Four towers serve this area today, and most of it still has no usable signal — 42% of the samples the van took found no cell at all. One more asset could change that. The question is where to put it.</a:t>
            </a:r>
          </a:p>
        </p:txBody>
      </p:sp>
      <p:pic>
        <p:nvPicPr>
          <p:cNvPr id="7" name="Picture 6" descr="d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371600"/>
            <a:ext cx="5585908" cy="3063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89320" y="4526280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A4540"/>
                </a:solidFill>
                <a:latin typeface="Calibri"/>
              </a:rPr>
              <a:t>Red is where service fails today. The star is where our planner would put the next tower.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4937760"/>
            <a:ext cx="3200400" cy="12801"/>
          </a:xfrm>
          <a:prstGeom prst="rect">
            <a:avLst/>
          </a:prstGeom>
          <a:solidFill>
            <a:srgbClr val="DDD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5029200"/>
            <a:ext cx="3264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279"/>
                </a:solidFill>
                <a:latin typeface="Calibri"/>
              </a:rPr>
              <a:t>unserved 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321808"/>
            <a:ext cx="326440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8C3A28"/>
                </a:solidFill>
                <a:latin typeface="Cambria"/>
              </a:rPr>
              <a:t>60%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797296"/>
            <a:ext cx="3264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279"/>
                </a:solidFill>
                <a:latin typeface="Calibri"/>
              </a:rPr>
              <a:t>of the area, by our model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0248" y="4937760"/>
            <a:ext cx="3200400" cy="12801"/>
          </a:xfrm>
          <a:prstGeom prst="rect">
            <a:avLst/>
          </a:prstGeom>
          <a:solidFill>
            <a:srgbClr val="DDD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70248" y="5029200"/>
            <a:ext cx="3264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279"/>
                </a:solidFill>
                <a:latin typeface="Calibri"/>
              </a:rPr>
              <a:t>we measured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0248" y="5321808"/>
            <a:ext cx="326440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23201C"/>
                </a:solidFill>
                <a:latin typeface="Cambria"/>
              </a:rPr>
              <a:t>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0248" y="5797296"/>
            <a:ext cx="3264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279"/>
                </a:solidFill>
                <a:latin typeface="Calibri"/>
              </a:rPr>
              <a:t>of it · the rest is predicted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37576" y="4937760"/>
            <a:ext cx="3200400" cy="12801"/>
          </a:xfrm>
          <a:prstGeom prst="rect">
            <a:avLst/>
          </a:prstGeom>
          <a:solidFill>
            <a:srgbClr val="DDD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37576" y="5029200"/>
            <a:ext cx="3264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279"/>
                </a:solidFill>
                <a:latin typeface="Calibri"/>
              </a:rPr>
              <a:t>with one more site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37576" y="5321808"/>
            <a:ext cx="326440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>
                <a:solidFill>
                  <a:srgbClr val="8C3A28"/>
                </a:solidFill>
                <a:latin typeface="Cambria"/>
              </a:rPr>
              <a:t>44% → 69%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37576" y="5797296"/>
            <a:ext cx="3264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279"/>
                </a:solidFill>
                <a:latin typeface="Calibri"/>
              </a:rPr>
              <a:t>of route covered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144768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8A8279"/>
                </a:solidFill>
                <a:latin typeface="Calibri"/>
              </a:rPr>
              <a:t>Mingyue Tang  ·  David Alcantara  ·  Ishan Bansal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0A89E"/>
                </a:solidFill>
                <a:latin typeface="Calibri"/>
              </a:rPr>
              <a:t>AgWireless '26 · ARA COTS RAN, Ames 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8A8279"/>
                </a:solidFill>
                <a:latin typeface="Calibri"/>
              </a:rPr>
              <a:t>the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23201C"/>
                </a:solidFill>
                <a:latin typeface="Cambria"/>
              </a:rPr>
              <a:t>Measurements alone cannot site a tower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Same ground, same scale, same colours. Only the coverage differs.</a:t>
            </a:r>
          </a:p>
        </p:txBody>
      </p:sp>
      <p:pic>
        <p:nvPicPr>
          <p:cNvPr id="6" name="Picture 5" descr="gap_measu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3" y="1737360"/>
            <a:ext cx="4325112" cy="3520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17903" y="5349240"/>
            <a:ext cx="432511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23201C"/>
                </a:solidFill>
                <a:latin typeface="Calibri"/>
              </a:rPr>
              <a:t>What we measured</a:t>
            </a:r>
          </a:p>
        </p:txBody>
      </p:sp>
      <p:pic>
        <p:nvPicPr>
          <p:cNvPr id="8" name="Picture 7" descr="gap_predi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5936" y="1737360"/>
            <a:ext cx="4325112" cy="3520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45936" y="5349240"/>
            <a:ext cx="432511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23201C"/>
                </a:solidFill>
                <a:latin typeface="Calibri"/>
              </a:rPr>
              <a:t>What the twin predicts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815584"/>
            <a:ext cx="10058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8C3A28"/>
                </a:solidFill>
                <a:latin typeface="Cambria"/>
              </a:rPr>
              <a:t>42%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59436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A4540"/>
                </a:solidFill>
                <a:latin typeface="Calibri"/>
              </a:rPr>
              <a:t>of samples found no cell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3128" y="5815584"/>
            <a:ext cx="10058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8C3A28"/>
                </a:solidFill>
                <a:latin typeface="Cambria"/>
              </a:rPr>
              <a:t>938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77256" y="59436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A4540"/>
                </a:solidFill>
                <a:latin typeface="Calibri"/>
              </a:rPr>
              <a:t>of 8,176 cells measured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0456" y="5815584"/>
            <a:ext cx="10058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8C3A28"/>
                </a:solidFill>
                <a:latin typeface="Cambria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44584" y="59436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A4540"/>
                </a:solidFill>
                <a:latin typeface="Calibri"/>
              </a:rPr>
              <a:t>candidate sites visited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0A89E"/>
                </a:solidFill>
                <a:latin typeface="Calibri"/>
              </a:rPr>
              <a:t>7,144 samples · 117 km of road · a 178 km² box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8A8279"/>
                </a:solidFill>
                <a:latin typeface="Calibri"/>
              </a:rPr>
              <a:t>approaches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23201C"/>
                </a:solidFill>
                <a:latin typeface="Cambria"/>
              </a:rPr>
              <a:t>Four ways to fill in the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They differ in what they need to know before they can answer.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627632"/>
            <a:ext cx="27614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9C7A3C"/>
                </a:solidFill>
                <a:latin typeface="Cambria"/>
              </a:rPr>
              <a:t>Baseline</a:t>
            </a:r>
          </a:p>
        </p:txBody>
      </p:sp>
      <p:pic>
        <p:nvPicPr>
          <p:cNvPr id="7" name="Picture 6" descr="how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93392"/>
            <a:ext cx="2761488" cy="209084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4187952"/>
            <a:ext cx="2761488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4A4540"/>
                </a:solidFill>
                <a:latin typeface="Calibri"/>
              </a:rPr>
              <a:t>The physical law of how signal falls with distance, with its constants fitted to this network.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5394960"/>
            <a:ext cx="2761488" cy="12801"/>
          </a:xfrm>
          <a:prstGeom prst="rect">
            <a:avLst/>
          </a:prstGeom>
          <a:solidFill>
            <a:srgbClr val="DDD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5458968"/>
            <a:ext cx="276148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9C7A3C"/>
                </a:solidFill>
                <a:latin typeface="Calibri"/>
              </a:rPr>
              <a:t>needs: distance and direction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627632"/>
            <a:ext cx="27614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55606B"/>
                </a:solidFill>
                <a:latin typeface="Cambria"/>
              </a:rPr>
              <a:t>Ray tracing</a:t>
            </a:r>
          </a:p>
        </p:txBody>
      </p:sp>
      <p:pic>
        <p:nvPicPr>
          <p:cNvPr id="12" name="Picture 11" descr="how_raytrac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1993392"/>
            <a:ext cx="2761488" cy="209084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91840" y="4187952"/>
            <a:ext cx="2761488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4A4540"/>
                </a:solidFill>
                <a:latin typeface="Calibri"/>
              </a:rPr>
              <a:t>Rebuild the ground and the buildings, then trace the signal through them.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5394960"/>
            <a:ext cx="2761488" cy="12801"/>
          </a:xfrm>
          <a:prstGeom prst="rect">
            <a:avLst/>
          </a:prstGeom>
          <a:solidFill>
            <a:srgbClr val="DDD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1840" y="5458968"/>
            <a:ext cx="276148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55606B"/>
                </a:solidFill>
                <a:latin typeface="Calibri"/>
              </a:rPr>
              <a:t>needs: a 3-D model of the ground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1627632"/>
            <a:ext cx="27614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4E6151"/>
                </a:solidFill>
                <a:latin typeface="Cambria"/>
              </a:rPr>
              <a:t>Deep learning</a:t>
            </a:r>
          </a:p>
        </p:txBody>
      </p:sp>
      <p:pic>
        <p:nvPicPr>
          <p:cNvPr id="17" name="Picture 16" descr="how_deeplearn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993392"/>
            <a:ext cx="2761488" cy="209084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172200" y="4187952"/>
            <a:ext cx="2761488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4A4540"/>
                </a:solidFill>
                <a:latin typeface="Calibri"/>
              </a:rPr>
              <a:t>No assumed law. Learn the mapping from the ground under each link to the signal.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5394960"/>
            <a:ext cx="2761488" cy="12801"/>
          </a:xfrm>
          <a:prstGeom prst="rect">
            <a:avLst/>
          </a:prstGeom>
          <a:solidFill>
            <a:srgbClr val="DDD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5458968"/>
            <a:ext cx="276148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4E6151"/>
                </a:solidFill>
                <a:latin typeface="Calibri"/>
              </a:rPr>
              <a:t>needs: thousands of measurements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59" y="1627632"/>
            <a:ext cx="27614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8C3A28"/>
                </a:solidFill>
                <a:latin typeface="Cambria"/>
              </a:rPr>
              <a:t>PINN</a:t>
            </a:r>
          </a:p>
        </p:txBody>
      </p:sp>
      <p:pic>
        <p:nvPicPr>
          <p:cNvPr id="22" name="Picture 21" descr="how_pin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59" y="1993392"/>
            <a:ext cx="2761488" cy="209084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052559" y="4187952"/>
            <a:ext cx="2761488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4A4540"/>
                </a:solidFill>
                <a:latin typeface="Calibri"/>
              </a:rPr>
              <a:t>Learn what the distance law cannot explain, with physics as a penalty on the answer.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52559" y="5394960"/>
            <a:ext cx="2761488" cy="12801"/>
          </a:xfrm>
          <a:prstGeom prst="rect">
            <a:avLst/>
          </a:prstGeom>
          <a:solidFill>
            <a:srgbClr val="DDD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52559" y="5458968"/>
            <a:ext cx="276148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8C3A28"/>
                </a:solidFill>
                <a:latin typeface="Calibri"/>
              </a:rPr>
              <a:t>needs: measurements, and a law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0A89E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8A8279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23201C"/>
                </a:solidFill>
                <a:latin typeface="Cambria"/>
              </a:rPr>
              <a:t>In sample is not the same as somewhere new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RSRP error in dB. Lower is better. Same rows, same splits, same 200 m buffer between train and test.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02920" y="1828800"/>
          <a:ext cx="685800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120640"/>
            <a:ext cx="6858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A4540"/>
                </a:solidFill>
                <a:latin typeface="Calibri"/>
              </a:rPr>
              <a:t>Left bar: error on data the model was trained on. Right bar: error somewhere it has never been. A tall right bar means it memorised.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828800"/>
            <a:ext cx="4023360" cy="169164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36408" y="195681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55606B"/>
                </a:solidFill>
                <a:latin typeface="Cambria"/>
              </a:rPr>
              <a:t>Ray tracing barely moves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36408" y="2304288"/>
            <a:ext cx="36576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7.61 dB on training ground, 7.95 dB on new ground. It is the only one of the four that barely changes.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35240" y="3657600"/>
            <a:ext cx="4023360" cy="20574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36408" y="3767328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8C3A28"/>
                </a:solidFill>
                <a:latin typeface="Cambria"/>
              </a:rPr>
              <a:t>The learned models memorise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36408" y="4133087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A terrain profile is nearly a unique location label. Feed the operator the wrong links' profiles and it scores 13.16 dB against 13.13 with the right ones — it never used the terrain.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0A89E"/>
                </a:solidFill>
                <a:latin typeface="Calibri"/>
              </a:rPr>
              <a:t>Held out by region · 200 m buffer between train and test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8A8279"/>
                </a:solidFill>
                <a:latin typeface="Calibri"/>
              </a:rPr>
              <a:t>the planner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23201C"/>
                </a:solidFill>
                <a:latin typeface="Cambria"/>
              </a:rPr>
              <a:t>Turning a surface into a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Change one assumption at a time, and measure how far the recommendation moves.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755648"/>
            <a:ext cx="2606040" cy="1024128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47088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3201C"/>
                </a:solidFill>
                <a:latin typeface="Cambria"/>
              </a:rPr>
              <a:t>Predict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22860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8A8279"/>
                </a:solidFill>
                <a:latin typeface="Calibri"/>
              </a:rPr>
              <a:t>a value in every 200 m cell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27248" y="2048256"/>
            <a:ext cx="182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DDD6CC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9272" y="1755648"/>
            <a:ext cx="2606040" cy="1024128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02152" y="1847088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3201C"/>
                </a:solidFill>
                <a:latin typeface="Cambria"/>
              </a:rPr>
              <a:t>Define served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2152" y="2194560"/>
            <a:ext cx="22860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8A8279"/>
                </a:solidFill>
                <a:latin typeface="Calibri"/>
              </a:rPr>
              <a:t>eight definitions, one threshold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048256"/>
            <a:ext cx="182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DDD6CC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35624" y="1755648"/>
            <a:ext cx="2606040" cy="1024128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18504" y="1847088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3201C"/>
                </a:solidFill>
                <a:latin typeface="Cambria"/>
              </a:rPr>
              <a:t>Score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8504" y="2194560"/>
            <a:ext cx="22860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8A8279"/>
                </a:solidFill>
                <a:latin typeface="Calibri"/>
              </a:rPr>
              <a:t>route-km and area gained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59952" y="2048256"/>
            <a:ext cx="182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DDD6CC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51976" y="1755648"/>
            <a:ext cx="2606040" cy="1024128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34856" y="1847088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3201C"/>
                </a:solidFill>
                <a:latin typeface="Cambria"/>
              </a:rPr>
              <a:t>Constrain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34856" y="2194560"/>
            <a:ext cx="22860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8A8279"/>
                </a:solidFill>
                <a:latin typeface="Calibri"/>
              </a:rPr>
              <a:t>power, access, structures, backhaul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2788920"/>
            <a:ext cx="6858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3201C"/>
                </a:solidFill>
                <a:latin typeface="Calibri"/>
              </a:rPr>
              <a:t>How far the recommended site moves when you change one assumption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365760" y="3108960"/>
          <a:ext cx="7040880" cy="2514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3" name="Rectangle 22"/>
          <p:cNvSpPr/>
          <p:nvPr/>
        </p:nvSpPr>
        <p:spPr>
          <a:xfrm>
            <a:off x="7635240" y="2788920"/>
            <a:ext cx="4023360" cy="18288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36408" y="2889504"/>
            <a:ext cx="365760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8C3A28"/>
                </a:solidFill>
                <a:latin typeface="Cambria"/>
              </a:rPr>
              <a:t>The definition beats the physics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36408" y="3529584"/>
            <a:ext cx="36576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Changing what counts as service moves the site twice as far as changing the model. It was chosen, not measured.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35240" y="4754880"/>
            <a:ext cx="4023360" cy="13716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36408" y="4864608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55606B"/>
                </a:solidFill>
                <a:latin typeface="Cambria"/>
              </a:rPr>
              <a:t>A neighbourhood, not a pin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36408" y="5212080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Requiring grid power within 1 km moves it 11 km. The exact site repeats in 10% of draws; 3 km in 99%.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0A89E"/>
                </a:solidFill>
                <a:latin typeface="Calibri"/>
              </a:rPr>
              <a:t>198 combinations of model, asset, criterion, threshold and weighting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8A8279"/>
                </a:solidFill>
                <a:latin typeface="Calibri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23201C"/>
                </a:solidFill>
                <a:latin typeface="Cambria"/>
              </a:rPr>
              <a:t>The planner,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Place an asset and watch coverage, gain and uncertainty change.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91640"/>
            <a:ext cx="7452360" cy="3931920"/>
          </a:xfrm>
          <a:prstGeom prst="rect">
            <a:avLst/>
          </a:prstGeom>
          <a:solidFill>
            <a:srgbClr val="23201C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55547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5272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54990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4708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14426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4144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3862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3580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32988" y="18288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3016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927348" y="18288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24528" y="18288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2170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18888" y="18288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16068" y="18288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1324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71042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00760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0478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0196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89914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9632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350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5547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5272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54990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84708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14426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4144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73862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035808" y="21259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3298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3016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927348" y="21259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224528" y="21259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21708" y="21259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818888" y="21259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11606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41324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71042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00760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30478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60196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89914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19632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49350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5836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55547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25272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54990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84708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14426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44144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73862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03580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332988" y="24231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630168" y="24231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927348" y="24231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224528" y="24231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521708" y="24231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81888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11606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41324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71042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00760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30478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60196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89914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19632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49350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5836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55547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25272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54990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84708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214426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44144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73862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03580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33298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63016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927348" y="27203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4224528" y="27203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521708" y="27203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818888" y="27203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511606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5413248" y="27203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71042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600760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30478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60196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89914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719632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749350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5836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55547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25272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54990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84708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214426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244144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273862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3035808" y="30175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333298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363016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3927348" y="30175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4224528" y="30175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521708" y="30175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81888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511606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541324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571042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600760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630478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660196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689914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719632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749350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65836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955547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25272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54990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84708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14426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244144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273862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303580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333298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363016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3927348" y="33147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4224528" y="33147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4521708" y="33147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4818888" y="33147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511606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541324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5710428" y="33147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00760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630478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660196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689914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719632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749350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658368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955547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1252728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1549908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847088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2144268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2441448" y="36118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738628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3035808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3332988" y="36118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3630168" y="36118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3927348" y="36118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4224528" y="36118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4521708" y="36118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4818888" y="36118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511606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541324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571042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600760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630478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660196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689914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719632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749350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658368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955547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1252728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1549908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1847088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2144268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2441448" y="39090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2738628" y="39090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3035808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3332988" y="39090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3630168" y="39090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927348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4224528" y="39090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521708" y="39090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818888" y="39090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511606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541324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571042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600760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630478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660196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689914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719632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749350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658368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955547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1252728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1549908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1847088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2144268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2441448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273862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3035808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333298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363016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392734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422452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452170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481888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511606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541324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571042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600760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630478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660196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689914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719632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749350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65836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955547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125272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154990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184708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214426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2441448" y="45034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2738628" y="45034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303580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3332988" y="45034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363016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392734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422452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4521708" y="45034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4818888" y="45034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511606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541324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571042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600760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630478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660196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689914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719632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749350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658368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955547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1252728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1549908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1847088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2144268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2441448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273862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3035808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333298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363016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392734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422452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452170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481888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511606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541324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5710428" y="48006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6007608" y="48006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6304788" y="48006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6601968" y="48006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6899148" y="48006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7196328" y="48006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7493508" y="48006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658368" y="50977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955547" y="50977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1252728" y="50977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1549908" y="50977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1847088" y="50977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2144268" y="50977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244144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2738628" y="50977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303580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333298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363016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392734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422452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452170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481888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511606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541324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571042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600760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630478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660196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689914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719632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749350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822960" y="24688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940067" y="25170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1057174" y="25651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1174282" y="26132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1291389" y="26613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1408496" y="27095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1525604" y="27576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1642711" y="28057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1759818" y="28538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1876926" y="29020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1994033" y="295014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2111141" y="2998269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2228248" y="304639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2345355" y="309452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2462463" y="314264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2579570" y="319077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2696677" y="323890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2813785" y="328702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2930892" y="333515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3047999" y="33832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3165107" y="34314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3282214" y="34795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3399322" y="35276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3516429" y="35757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3633536" y="36239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3750644" y="36720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3867751" y="37201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3984858" y="37682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4101966" y="38164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4219073" y="38164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4336181" y="37682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4453288" y="37201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4570395" y="36720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4687503" y="36239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4804610" y="35757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4921717" y="35276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5038825" y="34795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5155932" y="34314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5273040" y="33832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5390147" y="333515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5507254" y="328702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5624362" y="323890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5741469" y="319077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5858576" y="314264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5975684" y="309452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6092791" y="304639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6209898" y="2998269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6327006" y="295014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6444113" y="29020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6561221" y="28538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6678328" y="28057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6795435" y="27576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6912543" y="27095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7029650" y="26613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7146757" y="26132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7263865" y="25651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7380972" y="25170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7498079" y="24688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5029200" y="2331720"/>
            <a:ext cx="201168" cy="201168"/>
          </a:xfrm>
          <a:prstGeom prst="ellipse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2651760" y="3886200"/>
            <a:ext cx="274320" cy="274320"/>
          </a:xfrm>
          <a:prstGeom prst="ellipse">
            <a:avLst/>
          </a:prstGeom>
          <a:noFill/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TextBox 354"/>
          <p:cNvSpPr txBox="1"/>
          <p:nvPr/>
        </p:nvSpPr>
        <p:spPr>
          <a:xfrm>
            <a:off x="658368" y="5376672"/>
            <a:ext cx="4206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onsolas"/>
              </a:rPr>
              <a:t>map scale ▬ 2 km   ·   ▪ one 200 m demand cell</a:t>
            </a:r>
          </a:p>
        </p:txBody>
      </p:sp>
      <p:sp>
        <p:nvSpPr>
          <p:cNvPr id="356" name="Rectangle 355"/>
          <p:cNvSpPr/>
          <p:nvPr/>
        </p:nvSpPr>
        <p:spPr>
          <a:xfrm>
            <a:off x="8183879" y="1691640"/>
            <a:ext cx="3474720" cy="3931920"/>
          </a:xfrm>
          <a:prstGeom prst="rect">
            <a:avLst/>
          </a:prstGeom>
          <a:solidFill>
            <a:srgbClr val="F7F4E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TextBox 356"/>
          <p:cNvSpPr txBox="1"/>
          <p:nvPr/>
        </p:nvSpPr>
        <p:spPr>
          <a:xfrm>
            <a:off x="8366759" y="1810512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3201C"/>
                </a:solidFill>
                <a:latin typeface="Calibri"/>
              </a:rPr>
              <a:t>Rural Coverage Planner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8366759" y="2157984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A8279"/>
                </a:solidFill>
                <a:latin typeface="Calibri"/>
              </a:rPr>
              <a:t>approach</a:t>
            </a:r>
          </a:p>
        </p:txBody>
      </p:sp>
      <p:sp>
        <p:nvSpPr>
          <p:cNvPr id="359" name="Rectangle 358"/>
          <p:cNvSpPr/>
          <p:nvPr/>
        </p:nvSpPr>
        <p:spPr>
          <a:xfrm>
            <a:off x="8366759" y="2331720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8458199" y="2372868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3201C"/>
                </a:solidFill>
                <a:latin typeface="Consolas"/>
              </a:rPr>
              <a:t>Baseline — fitted physics ▾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8366759" y="2633472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A8279"/>
                </a:solidFill>
                <a:latin typeface="Calibri"/>
              </a:rPr>
              <a:t>what counts as served</a:t>
            </a:r>
          </a:p>
        </p:txBody>
      </p:sp>
      <p:sp>
        <p:nvSpPr>
          <p:cNvPr id="362" name="Rectangle 361"/>
          <p:cNvSpPr/>
          <p:nvPr/>
        </p:nvSpPr>
        <p:spPr>
          <a:xfrm>
            <a:off x="8366759" y="2807208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TextBox 362"/>
          <p:cNvSpPr txBox="1"/>
          <p:nvPr/>
        </p:nvSpPr>
        <p:spPr>
          <a:xfrm>
            <a:off x="8458199" y="2848356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3201C"/>
                </a:solidFill>
                <a:latin typeface="Consolas"/>
              </a:rPr>
              <a:t>Availability ▾</a:t>
            </a:r>
          </a:p>
        </p:txBody>
      </p:sp>
      <p:sp>
        <p:nvSpPr>
          <p:cNvPr id="364" name="TextBox 363"/>
          <p:cNvSpPr txBox="1"/>
          <p:nvPr/>
        </p:nvSpPr>
        <p:spPr>
          <a:xfrm>
            <a:off x="8366759" y="3108960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A8279"/>
                </a:solidFill>
                <a:latin typeface="Calibri"/>
              </a:rPr>
              <a:t>target</a:t>
            </a:r>
          </a:p>
        </p:txBody>
      </p:sp>
      <p:sp>
        <p:nvSpPr>
          <p:cNvPr id="365" name="Rectangle 364"/>
          <p:cNvSpPr/>
          <p:nvPr/>
        </p:nvSpPr>
        <p:spPr>
          <a:xfrm>
            <a:off x="8366759" y="3282696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TextBox 365"/>
          <p:cNvSpPr txBox="1"/>
          <p:nvPr/>
        </p:nvSpPr>
        <p:spPr>
          <a:xfrm>
            <a:off x="8458199" y="3323844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3201C"/>
                </a:solidFill>
                <a:latin typeface="Consolas"/>
              </a:rPr>
              <a:t>≥ 50% of the time</a:t>
            </a:r>
          </a:p>
        </p:txBody>
      </p:sp>
      <p:sp>
        <p:nvSpPr>
          <p:cNvPr id="367" name="TextBox 366"/>
          <p:cNvSpPr txBox="1"/>
          <p:nvPr/>
        </p:nvSpPr>
        <p:spPr>
          <a:xfrm>
            <a:off x="8366759" y="3584448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A8279"/>
                </a:solidFill>
                <a:latin typeface="Calibri"/>
              </a:rPr>
              <a:t>route vs area</a:t>
            </a:r>
          </a:p>
        </p:txBody>
      </p:sp>
      <p:sp>
        <p:nvSpPr>
          <p:cNvPr id="368" name="Rectangle 367"/>
          <p:cNvSpPr/>
          <p:nvPr/>
        </p:nvSpPr>
        <p:spPr>
          <a:xfrm>
            <a:off x="8366759" y="3758184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TextBox 368"/>
          <p:cNvSpPr txBox="1"/>
          <p:nvPr/>
        </p:nvSpPr>
        <p:spPr>
          <a:xfrm>
            <a:off x="8458199" y="3799332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3201C"/>
                </a:solidFill>
                <a:latin typeface="Consolas"/>
              </a:rPr>
              <a:t>0.70 / 0.30</a:t>
            </a:r>
          </a:p>
        </p:txBody>
      </p:sp>
      <p:sp>
        <p:nvSpPr>
          <p:cNvPr id="370" name="TextBox 369"/>
          <p:cNvSpPr txBox="1"/>
          <p:nvPr/>
        </p:nvSpPr>
        <p:spPr>
          <a:xfrm>
            <a:off x="8366759" y="4059935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A8279"/>
                </a:solidFill>
                <a:latin typeface="Calibri"/>
              </a:rPr>
              <a:t>asset</a:t>
            </a:r>
          </a:p>
        </p:txBody>
      </p:sp>
      <p:sp>
        <p:nvSpPr>
          <p:cNvPr id="371" name="Rectangle 370"/>
          <p:cNvSpPr/>
          <p:nvPr/>
        </p:nvSpPr>
        <p:spPr>
          <a:xfrm>
            <a:off x="8366759" y="4233671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TextBox 371"/>
          <p:cNvSpPr txBox="1"/>
          <p:nvPr/>
        </p:nvSpPr>
        <p:spPr>
          <a:xfrm>
            <a:off x="8458199" y="4274819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3201C"/>
                </a:solidFill>
                <a:latin typeface="Consolas"/>
              </a:rPr>
              <a:t>Macro · 37 m · 0 dB</a:t>
            </a:r>
          </a:p>
        </p:txBody>
      </p:sp>
      <p:sp>
        <p:nvSpPr>
          <p:cNvPr id="373" name="Rectangle 372"/>
          <p:cNvSpPr/>
          <p:nvPr/>
        </p:nvSpPr>
        <p:spPr>
          <a:xfrm>
            <a:off x="8366759" y="4572000"/>
            <a:ext cx="3108960" cy="292608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TextBox 373"/>
          <p:cNvSpPr txBox="1"/>
          <p:nvPr/>
        </p:nvSpPr>
        <p:spPr>
          <a:xfrm>
            <a:off x="9052559" y="4636008"/>
            <a:ext cx="2194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onsolas"/>
              </a:rPr>
              <a:t>Find the best site</a:t>
            </a:r>
          </a:p>
        </p:txBody>
      </p:sp>
      <p:sp>
        <p:nvSpPr>
          <p:cNvPr id="375" name="Rectangle 374"/>
          <p:cNvSpPr/>
          <p:nvPr/>
        </p:nvSpPr>
        <p:spPr>
          <a:xfrm>
            <a:off x="8366759" y="4983480"/>
            <a:ext cx="15087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8476487" y="5047488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A8279"/>
                </a:solidFill>
                <a:latin typeface="Calibri"/>
              </a:rPr>
              <a:t>route-km</a:t>
            </a:r>
          </a:p>
        </p:txBody>
      </p:sp>
      <p:sp>
        <p:nvSpPr>
          <p:cNvPr id="377" name="TextBox 376"/>
          <p:cNvSpPr txBox="1"/>
          <p:nvPr/>
        </p:nvSpPr>
        <p:spPr>
          <a:xfrm>
            <a:off x="8476487" y="5230368"/>
            <a:ext cx="1280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6B"/>
                </a:solidFill>
                <a:latin typeface="Calibri"/>
              </a:rPr>
              <a:t>51.9 → 80.5</a:t>
            </a:r>
          </a:p>
        </p:txBody>
      </p:sp>
      <p:sp>
        <p:nvSpPr>
          <p:cNvPr id="378" name="Rectangle 377"/>
          <p:cNvSpPr/>
          <p:nvPr/>
        </p:nvSpPr>
        <p:spPr>
          <a:xfrm>
            <a:off x="9966959" y="4983480"/>
            <a:ext cx="15087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TextBox 378"/>
          <p:cNvSpPr txBox="1"/>
          <p:nvPr/>
        </p:nvSpPr>
        <p:spPr>
          <a:xfrm>
            <a:off x="10076686" y="5047488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A8279"/>
                </a:solidFill>
                <a:latin typeface="Calibri"/>
              </a:rPr>
              <a:t>score</a:t>
            </a:r>
          </a:p>
        </p:txBody>
      </p:sp>
      <p:sp>
        <p:nvSpPr>
          <p:cNvPr id="380" name="TextBox 379"/>
          <p:cNvSpPr txBox="1"/>
          <p:nvPr/>
        </p:nvSpPr>
        <p:spPr>
          <a:xfrm>
            <a:off x="10076686" y="5230368"/>
            <a:ext cx="1280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6B"/>
                </a:solidFill>
                <a:latin typeface="Calibri"/>
              </a:rPr>
              <a:t>0.421 → 0.652</a:t>
            </a:r>
          </a:p>
        </p:txBody>
      </p:sp>
      <p:sp>
        <p:nvSpPr>
          <p:cNvPr id="381" name="TextBox 380"/>
          <p:cNvSpPr txBox="1"/>
          <p:nvPr/>
        </p:nvSpPr>
        <p:spPr>
          <a:xfrm>
            <a:off x="502920" y="57972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A4540"/>
                </a:solidFill>
                <a:latin typeface="Calibri"/>
              </a:rPr>
              <a:t>Pick a model, pick what counts as service, drop an asset anywhere — coverage, gain and uncertainty all re-solve live.</a:t>
            </a:r>
          </a:p>
        </p:txBody>
      </p:sp>
      <p:sp>
        <p:nvSpPr>
          <p:cNvPr id="382" name="TextBox 381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0A89E"/>
                </a:solidFill>
                <a:latin typeface="Calibri"/>
              </a:rPr>
              <a:t>Runs in a browser. No server, no install, no network.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