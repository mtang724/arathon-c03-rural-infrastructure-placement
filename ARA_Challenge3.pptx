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0A89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5560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DD6C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500">
              <a:solidFill>
                <a:srgbClr val="4A4540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8C3A2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3201C"/>
                </a:solidFill>
                <a:latin typeface="Cambria"/>
              </a:rPr>
              <a:t>Where should the
next tower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614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8C3A28"/>
                </a:solidFill>
                <a:latin typeface="Cambria"/>
              </a:rPr>
              <a:t>Rural network planning on 7% of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10128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Four towers serve this area today, and most of it still has no usable signal — 42% of the samples the van took found no cell at all. One more asset could change that. The question is where to put it.</a:t>
            </a:r>
          </a:p>
        </p:txBody>
      </p:sp>
      <p:pic>
        <p:nvPicPr>
          <p:cNvPr id="7" name="Picture 6" descr="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71600"/>
            <a:ext cx="5585908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0" y="45262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Red is where service fails today. The star is where our planner would put the next tower.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unserved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8C3A28"/>
                </a:solidFill>
                <a:latin typeface="Cambria"/>
              </a:rP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the area, by our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we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23201C"/>
                </a:solidFill>
                <a:latin typeface="Cambria"/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it · the rest is predicted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6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with one more 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6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8C3A28"/>
                </a:solidFill>
                <a:latin typeface="Cambria"/>
              </a:rPr>
              <a:t>44% → 69%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7576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route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14476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Mingyue Tang  ·  David Alcantara  ·  Ishan Bansal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Measurements alone cannot site a tower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Same ground, same scale, same colours. Only the coverage differs.</a:t>
            </a:r>
          </a:p>
        </p:txBody>
      </p:sp>
      <p:pic>
        <p:nvPicPr>
          <p:cNvPr id="6" name="Picture 5" descr="gap_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737360"/>
            <a:ext cx="4325112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17903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we measured</a:t>
            </a:r>
          </a:p>
        </p:txBody>
      </p:sp>
      <p:pic>
        <p:nvPicPr>
          <p:cNvPr id="8" name="Picture 7" descr="gap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737360"/>
            <a:ext cx="4325112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45936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the twin predicts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42%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samples found no cell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938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7256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8,176 cells 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4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candidate sites visited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Four ways to fill in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Each one reads something different about the same 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C7A3C"/>
                </a:solidFill>
                <a:latin typeface="Cambria"/>
              </a:rPr>
              <a:t>Baseline</a:t>
            </a:r>
          </a:p>
        </p:txBody>
      </p:sp>
      <p:pic>
        <p:nvPicPr>
          <p:cNvPr id="7" name="Picture 6" descr="how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48256"/>
            <a:ext cx="2761488" cy="20908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4261104"/>
            <a:ext cx="276148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4A4540"/>
                </a:solidFill>
                <a:latin typeface="Calibri"/>
              </a:rPr>
              <a:t>Fit a curve to the measurements, read it off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64208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</a:t>
            </a:r>
          </a:p>
        </p:txBody>
      </p:sp>
      <p:pic>
        <p:nvPicPr>
          <p:cNvPr id="10" name="Picture 9" descr="how_ray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048256"/>
            <a:ext cx="2761488" cy="20908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91840" y="4261104"/>
            <a:ext cx="276148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4A4540"/>
                </a:solidFill>
                <a:latin typeface="Calibri"/>
              </a:rPr>
              <a:t>Rebuild the ground and buildings, then trace the signal.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664208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4E6151"/>
                </a:solidFill>
                <a:latin typeface="Cambria"/>
              </a:rPr>
              <a:t>Deep learning</a:t>
            </a:r>
          </a:p>
        </p:txBody>
      </p:sp>
      <p:pic>
        <p:nvPicPr>
          <p:cNvPr id="13" name="Picture 12" descr="how_deep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048256"/>
            <a:ext cx="2761488" cy="209084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4261104"/>
            <a:ext cx="276148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4A4540"/>
                </a:solidFill>
                <a:latin typeface="Calibri"/>
              </a:rPr>
              <a:t>Give it the ground under each link, let it learn the rest.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59" y="1664208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PINN</a:t>
            </a:r>
          </a:p>
        </p:txBody>
      </p:sp>
      <p:pic>
        <p:nvPicPr>
          <p:cNvPr id="16" name="Picture 15" descr="how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59" y="2048256"/>
            <a:ext cx="2761488" cy="209084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52559" y="4261104"/>
            <a:ext cx="276148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4A4540"/>
                </a:solidFill>
                <a:latin typeface="Calibri"/>
              </a:rPr>
              <a:t>Learn what distance cannot explain, with physics as a rule.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In sample is not the same as somewhere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Left bar: error on data the model was trained on. Right bar: error somewhere it has never been. A tall right bar means it memorised.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28800"/>
            <a:ext cx="4023360" cy="16916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 barely moves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304288"/>
            <a:ext cx="36576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7.61 dB on training ground, 7.95 dB on new ground. It is the only one of the four that barely changes.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3657600"/>
            <a:ext cx="4023360" cy="20574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376732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learned models memorise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4133087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A terrain profile is nearly a unique location label. Feed the operator the wrong links' profiles and it scores 13.16 dB against 13.13 with the right ones — it never used the terrain.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Turning a surface into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Change one assumption at a time, and measure how far the recommendation moves.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a value in every 200 m cell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248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9272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Define served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eight definitions, one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route-km and area gained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9952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4856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Constrain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856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power, access, structures, backhaul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How far the recommended site moves when you change one assumption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7635240" y="2788920"/>
            <a:ext cx="4023360" cy="18288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36408" y="2889504"/>
            <a:ext cx="36576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definition beats the physics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36408" y="3529584"/>
            <a:ext cx="3657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36408" y="486460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A neighbourhood, not a 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36408" y="521208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Requiring grid power within 1 km moves it 11 km. The exact site repeats in 10% of draws; 3 km in 99%.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The planner,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Place an asset and watch coverage, gain and uncertainty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23201C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7F4E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Rural Coverage Planner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8366759" y="215798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approach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8366759" y="2633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what counts as served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Availability ▾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8366759" y="3108960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target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≥ 50% of the time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8366759" y="358444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 vs area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0.70 / 0.30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8366759" y="4059935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asset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Macro · 37 m · 0 dB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8476487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route-km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8476487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51.9 → 80.5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10076686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score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076686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0.421 → 0.652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502920" y="57972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Pick a model, pick what counts as service, drop an asset anywhere — coverage, gain and uncertainty all re-solve live.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