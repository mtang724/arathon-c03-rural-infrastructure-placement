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on data it has seen</c:v>
                </c:pt>
              </c:strCache>
            </c:strRef>
          </c:tx>
          <c:spPr>
            <a:solidFill>
              <a:srgbClr val="B5ADA4"/>
            </a:solidFill>
            <a:ln>
              <a:noFill/>
            </a:ln>
          </c:spPr>
          <c:cat>
            <c:strRef>
              <c:f>Sheet1!$A$2:$A$5</c:f>
              <c:strCache>
                <c:ptCount val="4"/>
                <c:pt idx="0">
                  <c:v>PINN</c:v>
                </c:pt>
                <c:pt idx="1">
                  <c:v>Deep
learning</c:v>
                </c:pt>
                <c:pt idx="2">
                  <c:v>Baseline</c:v>
                </c:pt>
                <c:pt idx="3">
                  <c:v>Ray tracing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5.63</c:v>
                </c:pt>
                <c:pt idx="1">
                  <c:v>8.56</c:v>
                </c:pt>
                <c:pt idx="2">
                  <c:v>7.35</c:v>
                </c:pt>
                <c:pt idx="3">
                  <c:v>7.61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somewhere new</c:v>
                </c:pt>
              </c:strCache>
            </c:strRef>
          </c:tx>
          <c:spPr>
            <a:solidFill>
              <a:srgbClr val="3E5C6B"/>
            </a:solidFill>
            <a:ln>
              <a:noFill/>
            </a:ln>
          </c:spPr>
          <c:cat>
            <c:strRef>
              <c:f>Sheet1!$A$2:$A$5</c:f>
              <c:strCache>
                <c:ptCount val="4"/>
                <c:pt idx="0">
                  <c:v>PINN</c:v>
                </c:pt>
                <c:pt idx="1">
                  <c:v>Deep
learning</c:v>
                </c:pt>
                <c:pt idx="2">
                  <c:v>Baseline</c:v>
                </c:pt>
                <c:pt idx="3">
                  <c:v>Ray tracing</c:v>
                </c:pt>
              </c:strCache>
            </c: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15.83</c:v>
                </c:pt>
                <c:pt idx="1">
                  <c:v>13.13</c:v>
                </c:pt>
                <c:pt idx="2">
                  <c:v>9.66</c:v>
                </c:pt>
                <c:pt idx="3">
                  <c:v>7.95</c:v>
                </c:pt>
              </c:numCache>
            </c:numRef>
          </c:val>
        </c:ser>
        <c:dLbls>
          <c:numFmt formatCode="0.0" sourceLinked="0"/>
          <c:txPr>
            <a:bodyPr/>
            <a:lstStyle/>
            <a:p>
              <a:pPr>
                <a:defRPr sz="950">
                  <a:solidFill>
                    <a:srgbClr val="1C1917"/>
                  </a:solidFill>
                  <a:latin typeface="Consolas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60"/>
        <c:overlap val="-2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none"/>
        <c:minorTickMark val="none"/>
        <c:tickLblPos val="nextTo"/>
        <c:spPr>
          <a:ln>
            <a:solidFill>
              <a:srgbClr val="D9D3CB"/>
            </a:solidFill>
          </a:ln>
        </c:spPr>
        <c:txPr>
          <a:bodyPr/>
          <a:lstStyle/>
          <a:p>
            <a:pPr>
              <a:defRPr sz="950">
                <a:solidFill>
                  <a:srgbClr val="79716B"/>
                </a:solidFill>
                <a:latin typeface="Consolas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>
          <c:spPr>
            <a:ln w="6350">
              <a:solidFill>
                <a:srgbClr val="D9D3CB"/>
              </a:solidFill>
            </a:ln>
          </c:spPr>
        </c:majorGridlines>
        <c:majorTickMark val="none"/>
        <c:minorTickMark val="none"/>
        <c:tickLblPos val="nextTo"/>
        <c:spPr>
          <a:ln>
            <a:solidFill>
              <a:srgbClr val="D9D3CB"/>
            </a:solidFill>
          </a:ln>
        </c:spPr>
        <c:txPr>
          <a:bodyPr/>
          <a:lstStyle/>
          <a:p>
            <a:pPr>
              <a:defRPr sz="950">
                <a:solidFill>
                  <a:srgbClr val="79716B"/>
                </a:solidFill>
                <a:latin typeface="Consolas"/>
              </a:defRPr>
            </a:pPr>
          </a:p>
        </c:txPr>
        <c:crossAx val="-2068027336"/>
        <c:crosses val="autoZero"/>
      </c:valAx>
    </c:plotArea>
    <c:legend>
      <c:legendPos val="t"/>
      <c:overlay val="0"/>
      <c:txPr>
        <a:bodyPr/>
        <a:lstStyle/>
        <a:p>
          <a:pPr>
            <a:defRPr sz="1000">
              <a:solidFill>
                <a:srgbClr val="3A4842"/>
              </a:solidFill>
              <a:latin typeface="Consolas"/>
            </a:defRPr>
          </a:pPr>
        </a:p>
      </c:txPr>
    </c:legend>
    <c:dispBlanksAs val="gap"/>
  </c:chart>
  <c:txPr>
    <a:bodyPr/>
    <a:lstStyle/>
    <a:p>
      <a:pPr>
        <a:defRPr sz="1000">
          <a:solidFill>
            <a:srgbClr val="79716B"/>
          </a:solidFill>
          <a:latin typeface="Consolas"/>
        </a:defRPr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km</c:v>
                </c:pt>
              </c:strCache>
            </c:strRef>
          </c:tx>
          <c:spPr>
            <a:solidFill>
              <a:srgbClr val="B4532A"/>
            </a:solidFill>
            <a:ln>
              <a:noFill/>
            </a:ln>
          </c:spPr>
          <c:cat>
            <c:strRef>
              <c:f>Sheet1!$A$2:$A$6</c:f>
              <c:strCache>
                <c:ptCount val="5"/>
                <c:pt idx="0">
                  <c:v>what counts as served</c:v>
                </c:pt>
                <c:pt idx="1">
                  <c:v>asset class</c:v>
                </c:pt>
                <c:pt idx="2">
                  <c:v>propagation model</c:v>
                </c:pt>
                <c:pt idx="3">
                  <c:v>threshold</c:v>
                </c:pt>
                <c:pt idx="4">
                  <c:v>route vs area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4.24</c:v>
                </c:pt>
                <c:pt idx="1">
                  <c:v>3.35</c:v>
                </c:pt>
                <c:pt idx="2">
                  <c:v>2.06</c:v>
                </c:pt>
                <c:pt idx="3">
                  <c:v>1.28</c:v>
                </c:pt>
                <c:pt idx="4">
                  <c:v>1.21</c:v>
                </c:pt>
              </c:numCache>
            </c:numRef>
          </c:val>
        </c:ser>
        <c:dLbls>
          <c:numFmt formatCode="0.0&quot;km&quot;" sourceLinked="0"/>
          <c:txPr>
            <a:bodyPr/>
            <a:lstStyle/>
            <a:p>
              <a:pPr>
                <a:defRPr sz="950">
                  <a:solidFill>
                    <a:srgbClr val="1C1917"/>
                  </a:solidFill>
                  <a:latin typeface="Consolas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6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none"/>
        <c:minorTickMark val="none"/>
        <c:tickLblPos val="nextTo"/>
        <c:spPr>
          <a:ln>
            <a:solidFill>
              <a:srgbClr val="D9D3CB"/>
            </a:solidFill>
          </a:ln>
        </c:spPr>
        <c:txPr>
          <a:bodyPr/>
          <a:lstStyle/>
          <a:p>
            <a:pPr>
              <a:defRPr sz="950">
                <a:solidFill>
                  <a:srgbClr val="79716B"/>
                </a:solidFill>
                <a:latin typeface="Consolas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b"/>
        <c:majorTickMark val="none"/>
        <c:minorTickMark val="none"/>
        <c:tickLblPos val="nextTo"/>
        <c:spPr>
          <a:ln>
            <a:solidFill>
              <a:srgbClr val="D9D3CB"/>
            </a:solidFill>
          </a:ln>
        </c:spPr>
        <c:txPr>
          <a:bodyPr/>
          <a:lstStyle/>
          <a:p>
            <a:pPr>
              <a:defRPr sz="950">
                <a:solidFill>
                  <a:srgbClr val="79716B"/>
                </a:solidFill>
                <a:latin typeface="Consolas"/>
              </a:defRPr>
            </a:pPr>
          </a:p>
        </c:txPr>
        <c:crossAx val="-2068027336"/>
        <c:crosses val="autoZero"/>
      </c:valAx>
    </c:plotArea>
    <c:dispBlanksAs val="gap"/>
  </c:chart>
  <c:txPr>
    <a:bodyPr/>
    <a:lstStyle/>
    <a:p>
      <a:pPr>
        <a:defRPr sz="1000">
          <a:solidFill>
            <a:srgbClr val="79716B"/>
          </a:solidFill>
          <a:latin typeface="Consolas"/>
        </a:defRPr>
      </a:pPr>
      <a:endParaRPr lang="en-US"/>
    </a:p>
  </c:txPr>
  <c:externalData r:id="rId1">
    <c:autoUpdate val="0"/>
  </c:externalData>
</c:chartSpac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5.png"/><Relationship Id="rId4" Type="http://schemas.openxmlformats.org/officeDocument/2006/relationships/image" Target="../media/image6.png"/><Relationship Id="rId5" Type="http://schemas.openxmlformats.org/officeDocument/2006/relationships/image" Target="../media/image7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914400"/>
            <a:ext cx="8229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B4532A"/>
                </a:solidFill>
                <a:latin typeface="Archivo"/>
              </a:rPr>
              <a:t>Arathon Challenge 03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463040"/>
            <a:ext cx="5486400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000" b="1">
                <a:solidFill>
                  <a:srgbClr val="1C1917"/>
                </a:solidFill>
                <a:latin typeface="Archivo"/>
              </a:rPr>
              <a:t>Where should the
next tower go?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2761488"/>
            <a:ext cx="539496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900" b="0">
                <a:solidFill>
                  <a:srgbClr val="B4532A"/>
                </a:solidFill>
                <a:latin typeface="Archivo"/>
              </a:rPr>
              <a:t>Rural network planning on 7% of the map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3310128"/>
            <a:ext cx="521208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50" b="0">
                <a:solidFill>
                  <a:srgbClr val="3A4842"/>
                </a:solidFill>
                <a:latin typeface="Archivo"/>
              </a:rPr>
              <a:t>A van drove one rural service area near Ames and logged 7,144 samples. They cover 7% of it. The decision has to be made about the other 93%, so we build a model of the ground and let it stand in for the survey.</a:t>
            </a:r>
          </a:p>
        </p:txBody>
      </p:sp>
      <p:pic>
        <p:nvPicPr>
          <p:cNvPr id="7" name="Picture 6" descr="decis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89320" y="1371600"/>
            <a:ext cx="5585908" cy="306324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5989320" y="4526280"/>
            <a:ext cx="5577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0">
                <a:solidFill>
                  <a:srgbClr val="3A4842"/>
                </a:solidFill>
                <a:latin typeface="Consolas"/>
              </a:rPr>
              <a:t>Four towers today. 627 places the next one could go.</a:t>
            </a:r>
          </a:p>
        </p:txBody>
      </p:sp>
      <p:sp>
        <p:nvSpPr>
          <p:cNvPr id="9" name="Rectangle 8"/>
          <p:cNvSpPr/>
          <p:nvPr/>
        </p:nvSpPr>
        <p:spPr>
          <a:xfrm>
            <a:off x="502920" y="4937760"/>
            <a:ext cx="3520440" cy="932688"/>
          </a:xfrm>
          <a:prstGeom prst="rect">
            <a:avLst/>
          </a:prstGeom>
          <a:solidFill>
            <a:srgbClr val="F5F2EE"/>
          </a:solidFill>
          <a:ln w="12700">
            <a:solidFill>
              <a:srgbClr val="D9D3C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30936" y="5029200"/>
            <a:ext cx="3264408" cy="1463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spc="120">
                <a:solidFill>
                  <a:srgbClr val="79716B"/>
                </a:solidFill>
                <a:latin typeface="Consolas"/>
              </a:rPr>
              <a:t>MEASURED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30936" y="5193792"/>
            <a:ext cx="326440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400" b="1">
                <a:solidFill>
                  <a:srgbClr val="1C1917"/>
                </a:solidFill>
                <a:latin typeface="Archivo"/>
              </a:rPr>
              <a:t>7,144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30936" y="5596128"/>
            <a:ext cx="3264408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79716B"/>
                </a:solidFill>
                <a:latin typeface="Consolas"/>
              </a:rPr>
              <a:t>rows · 42% no service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270248" y="4937760"/>
            <a:ext cx="3520440" cy="932688"/>
          </a:xfrm>
          <a:prstGeom prst="rect">
            <a:avLst/>
          </a:prstGeom>
          <a:solidFill>
            <a:srgbClr val="F5F2EE"/>
          </a:solidFill>
          <a:ln w="12700">
            <a:solidFill>
              <a:srgbClr val="D9D3C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398264" y="5029200"/>
            <a:ext cx="3264408" cy="1463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spc="120">
                <a:solidFill>
                  <a:srgbClr val="79716B"/>
                </a:solidFill>
                <a:latin typeface="Consolas"/>
              </a:rPr>
              <a:t>OF THE AREA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398264" y="5193792"/>
            <a:ext cx="326440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400" b="1">
                <a:solidFill>
                  <a:srgbClr val="1C1917"/>
                </a:solidFill>
                <a:latin typeface="Archivo"/>
              </a:rPr>
              <a:t>7%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398264" y="5596128"/>
            <a:ext cx="3264408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79716B"/>
                </a:solidFill>
                <a:latin typeface="Consolas"/>
              </a:rPr>
              <a:t>the rest is predicted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037576" y="4937760"/>
            <a:ext cx="3520440" cy="932688"/>
          </a:xfrm>
          <a:prstGeom prst="rect">
            <a:avLst/>
          </a:prstGeom>
          <a:solidFill>
            <a:srgbClr val="F5F2EE"/>
          </a:solidFill>
          <a:ln w="12700">
            <a:solidFill>
              <a:srgbClr val="D9D3C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165592" y="5029200"/>
            <a:ext cx="3264408" cy="1463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spc="120">
                <a:solidFill>
                  <a:srgbClr val="79716B"/>
                </a:solidFill>
                <a:latin typeface="Consolas"/>
              </a:rPr>
              <a:t>ROUTE COVERED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165592" y="5193792"/>
            <a:ext cx="326440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100" b="1">
                <a:solidFill>
                  <a:srgbClr val="B4532A"/>
                </a:solidFill>
                <a:latin typeface="Archivo"/>
              </a:rPr>
              <a:t>44% → 69%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165592" y="5596128"/>
            <a:ext cx="3264408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79716B"/>
                </a:solidFill>
                <a:latin typeface="Consolas"/>
              </a:rPr>
              <a:t>with one more site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02920" y="6144768"/>
            <a:ext cx="108813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>
                <a:solidFill>
                  <a:srgbClr val="79716B"/>
                </a:solidFill>
                <a:latin typeface="Archivo"/>
              </a:rPr>
              <a:t>Mingyue Tang  ·  David Alcantara  ·  Ishan Bansal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02920" y="6473952"/>
            <a:ext cx="1115568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B5ADA4"/>
                </a:solidFill>
                <a:latin typeface="Consolas"/>
              </a:rPr>
              <a:t>AgWireless '26 · ARA COTS RAN, Ames IA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384048"/>
            <a:ext cx="109728" cy="109728"/>
          </a:xfrm>
          <a:prstGeom prst="rect">
            <a:avLst/>
          </a:prstGeom>
          <a:solidFill>
            <a:srgbClr val="3E5C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310896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79716B"/>
                </a:solidFill>
                <a:latin typeface="Archivo"/>
              </a:rPr>
              <a:t>the gap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21792"/>
            <a:ext cx="1115568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900" b="1">
                <a:solidFill>
                  <a:srgbClr val="1C1917"/>
                </a:solidFill>
                <a:latin typeface="Archivo"/>
              </a:rPr>
              <a:t>Measurements alone cannot site a tower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152144"/>
            <a:ext cx="111556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0">
                <a:solidFill>
                  <a:srgbClr val="3A4842"/>
                </a:solidFill>
                <a:latin typeface="Archivo"/>
              </a:rPr>
              <a:t>Same ground, same scale, same colours. Only the coverage differs.</a:t>
            </a:r>
          </a:p>
        </p:txBody>
      </p:sp>
      <p:pic>
        <p:nvPicPr>
          <p:cNvPr id="7" name="Picture 6" descr="gap_measu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17903" y="1737360"/>
            <a:ext cx="4325112" cy="352044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1517903" y="5349240"/>
            <a:ext cx="4325112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50" b="1">
                <a:solidFill>
                  <a:srgbClr val="1C1917"/>
                </a:solidFill>
                <a:latin typeface="Archivo"/>
              </a:rPr>
              <a:t>What we measured</a:t>
            </a:r>
          </a:p>
        </p:txBody>
      </p:sp>
      <p:pic>
        <p:nvPicPr>
          <p:cNvPr id="9" name="Picture 8" descr="gap_predict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45936" y="1737360"/>
            <a:ext cx="4325112" cy="352044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6345936" y="5349240"/>
            <a:ext cx="4325112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50" b="1">
                <a:solidFill>
                  <a:srgbClr val="1C1917"/>
                </a:solidFill>
                <a:latin typeface="Archivo"/>
              </a:rPr>
              <a:t>What the twin predicts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5800" y="5870448"/>
            <a:ext cx="9144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>
                <a:solidFill>
                  <a:srgbClr val="B4532A"/>
                </a:solidFill>
                <a:latin typeface="Archivo"/>
              </a:rPr>
              <a:t>42%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600200" y="5943600"/>
            <a:ext cx="27889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0">
                <a:solidFill>
                  <a:srgbClr val="3A4842"/>
                </a:solidFill>
                <a:latin typeface="Archivo"/>
              </a:rPr>
              <a:t>of samples had no serving cell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453128" y="5870448"/>
            <a:ext cx="9144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>
                <a:solidFill>
                  <a:srgbClr val="B4532A"/>
                </a:solidFill>
                <a:latin typeface="Archivo"/>
              </a:rPr>
              <a:t>938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367528" y="5943600"/>
            <a:ext cx="27889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0">
                <a:solidFill>
                  <a:srgbClr val="3A4842"/>
                </a:solidFill>
                <a:latin typeface="Archivo"/>
              </a:rPr>
              <a:t>of 8,176 cells hold a measurement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20456" y="5870448"/>
            <a:ext cx="9144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>
                <a:solidFill>
                  <a:srgbClr val="B4532A"/>
                </a:solidFill>
                <a:latin typeface="Archivo"/>
              </a:rPr>
              <a:t>0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134856" y="5943600"/>
            <a:ext cx="27889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0">
                <a:solidFill>
                  <a:srgbClr val="3A4842"/>
                </a:solidFill>
                <a:latin typeface="Archivo"/>
              </a:rPr>
              <a:t>candidate sites the van visited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02920" y="6473952"/>
            <a:ext cx="1115568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B5ADA4"/>
                </a:solidFill>
                <a:latin typeface="Consolas"/>
              </a:rPr>
              <a:t>7,144 samples · 117 km of road · a 178 km² box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384048"/>
            <a:ext cx="109728" cy="109728"/>
          </a:xfrm>
          <a:prstGeom prst="rect">
            <a:avLst/>
          </a:prstGeom>
          <a:solidFill>
            <a:srgbClr val="3E5C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310896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79716B"/>
                </a:solidFill>
                <a:latin typeface="Archivo"/>
              </a:rPr>
              <a:t>approaches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21792"/>
            <a:ext cx="1115568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900" b="1">
                <a:solidFill>
                  <a:srgbClr val="1C1917"/>
                </a:solidFill>
                <a:latin typeface="Archivo"/>
              </a:rPr>
              <a:t>Four ways to fill in the map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152144"/>
            <a:ext cx="111556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0">
                <a:solidFill>
                  <a:srgbClr val="3A4842"/>
                </a:solidFill>
                <a:latin typeface="Archivo"/>
              </a:rPr>
              <a:t>Each one reads something different about the same ground.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75488" y="1664208"/>
            <a:ext cx="267004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9A6E1E"/>
                </a:solidFill>
                <a:latin typeface="Archivo"/>
              </a:rPr>
              <a:t>Baseline</a:t>
            </a:r>
          </a:p>
        </p:txBody>
      </p:sp>
      <p:pic>
        <p:nvPicPr>
          <p:cNvPr id="8" name="Picture 7" descr="how_baseli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5488" y="2011680"/>
            <a:ext cx="2670048" cy="2021608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475488" y="4114800"/>
            <a:ext cx="2670048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>
                <a:solidFill>
                  <a:srgbClr val="3A4842"/>
                </a:solidFill>
                <a:latin typeface="Archivo"/>
              </a:rPr>
              <a:t>Fit a curve to the measurements and read it off anywhere.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300984" y="1664208"/>
            <a:ext cx="267004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3E5C6B"/>
                </a:solidFill>
                <a:latin typeface="Archivo"/>
              </a:rPr>
              <a:t>Ray tracing</a:t>
            </a:r>
          </a:p>
        </p:txBody>
      </p:sp>
      <p:pic>
        <p:nvPicPr>
          <p:cNvPr id="11" name="Picture 10" descr="how_raytracing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300984" y="2011680"/>
            <a:ext cx="2670048" cy="2021608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3300984" y="4114800"/>
            <a:ext cx="2670048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>
                <a:solidFill>
                  <a:srgbClr val="3A4842"/>
                </a:solidFill>
                <a:latin typeface="Archivo"/>
              </a:rPr>
              <a:t>Rebuild the terrain and buildings, then trace the signal through it.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126479" y="1664208"/>
            <a:ext cx="267004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6B7F5C"/>
                </a:solidFill>
                <a:latin typeface="Archivo"/>
              </a:rPr>
              <a:t>Deep learning</a:t>
            </a:r>
          </a:p>
        </p:txBody>
      </p:sp>
      <p:pic>
        <p:nvPicPr>
          <p:cNvPr id="14" name="Picture 13" descr="how_deeplearning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26479" y="2011680"/>
            <a:ext cx="2670048" cy="2021608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6126479" y="4114800"/>
            <a:ext cx="2670048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>
                <a:solidFill>
                  <a:srgbClr val="3A4842"/>
                </a:solidFill>
                <a:latin typeface="Archivo"/>
              </a:rPr>
              <a:t>Feed it the ground profile along each link and let it learn the rest.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951976" y="1664208"/>
            <a:ext cx="267004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B4532A"/>
                </a:solidFill>
                <a:latin typeface="Archivo"/>
              </a:rPr>
              <a:t>PINN</a:t>
            </a:r>
          </a:p>
        </p:txBody>
      </p:sp>
      <p:pic>
        <p:nvPicPr>
          <p:cNvPr id="17" name="Picture 16" descr="how_pinn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951976" y="2011680"/>
            <a:ext cx="2670048" cy="2021608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8951976" y="4114800"/>
            <a:ext cx="2670048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>
                <a:solidFill>
                  <a:srgbClr val="3A4842"/>
                </a:solidFill>
                <a:latin typeface="Archivo"/>
              </a:rPr>
              <a:t>Learn what distance alone cannot explain, with physics as a rule.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75488" y="5029200"/>
            <a:ext cx="11256264" cy="868680"/>
          </a:xfrm>
          <a:prstGeom prst="rect">
            <a:avLst/>
          </a:prstGeom>
          <a:solidFill>
            <a:srgbClr val="F5F2EE"/>
          </a:solidFill>
          <a:ln w="12700">
            <a:solidFill>
              <a:srgbClr val="D9D3C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49808" y="5157216"/>
            <a:ext cx="107899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1C1917"/>
                </a:solidFill>
                <a:latin typeface="Archivo"/>
              </a:rPr>
              <a:t>Same ground, four different bets about what matters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49808" y="5477256"/>
            <a:ext cx="10789920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>
                <a:solidFill>
                  <a:srgbClr val="3A4842"/>
                </a:solidFill>
                <a:latin typeface="Archivo"/>
              </a:rPr>
              <a:t>Distance, geometry, the shape of the ground, or whatever is left over. Each is cheap to believe until you move it somewhere new.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02920" y="6473952"/>
            <a:ext cx="1115568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B5ADA4"/>
                </a:solidFill>
                <a:latin typeface="Consolas"/>
              </a:rPr>
              <a:t/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384048"/>
            <a:ext cx="109728" cy="109728"/>
          </a:xfrm>
          <a:prstGeom prst="rect">
            <a:avLst/>
          </a:prstGeom>
          <a:solidFill>
            <a:srgbClr val="3E5C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310896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79716B"/>
                </a:solidFill>
                <a:latin typeface="Archivo"/>
              </a:rPr>
              <a:t>results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21792"/>
            <a:ext cx="1115568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900" b="1">
                <a:solidFill>
                  <a:srgbClr val="1C1917"/>
                </a:solidFill>
                <a:latin typeface="Archivo"/>
              </a:rPr>
              <a:t>In sample is not the same as somewhere new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152144"/>
            <a:ext cx="111556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0">
                <a:solidFill>
                  <a:srgbClr val="3A4842"/>
                </a:solidFill>
                <a:latin typeface="Archivo"/>
              </a:rPr>
              <a:t>RSRP error in dB. Lower is better. Same rows, same splits, same 200 m buffer between train and test.</a:t>
            </a:r>
          </a:p>
        </p:txBody>
      </p:sp>
      <p:graphicFrame>
        <p:nvGraphicFramePr>
          <p:cNvPr id="7" name="Chart 6"/>
          <p:cNvGraphicFramePr>
            <a:graphicFrameLocks noGrp="1"/>
          </p:cNvGraphicFramePr>
          <p:nvPr/>
        </p:nvGraphicFramePr>
        <p:xfrm>
          <a:off x="502920" y="1828800"/>
          <a:ext cx="6858000" cy="32004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502920" y="5120640"/>
            <a:ext cx="68580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0">
                <a:solidFill>
                  <a:srgbClr val="3A4842"/>
                </a:solidFill>
                <a:latin typeface="Consolas"/>
              </a:rPr>
              <a:t>Grey is in sample. Teal is held out by region. The distance between a pair is how much of the score was memory.</a:t>
            </a:r>
          </a:p>
        </p:txBody>
      </p:sp>
      <p:sp>
        <p:nvSpPr>
          <p:cNvPr id="9" name="Rectangle 8"/>
          <p:cNvSpPr/>
          <p:nvPr/>
        </p:nvSpPr>
        <p:spPr>
          <a:xfrm>
            <a:off x="7635240" y="1828800"/>
            <a:ext cx="4023360" cy="1417320"/>
          </a:xfrm>
          <a:prstGeom prst="rect">
            <a:avLst/>
          </a:prstGeom>
          <a:solidFill>
            <a:srgbClr val="F5F2EE"/>
          </a:solidFill>
          <a:ln w="19050">
            <a:solidFill>
              <a:srgbClr val="3E5C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836408" y="1956816"/>
            <a:ext cx="3657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50" b="1">
                <a:solidFill>
                  <a:srgbClr val="3E5C6B"/>
                </a:solidFill>
                <a:latin typeface="Archivo"/>
              </a:rPr>
              <a:t>Ray tracing barely moves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836408" y="2286000"/>
            <a:ext cx="365760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>
                <a:solidFill>
                  <a:srgbClr val="3A4842"/>
                </a:solidFill>
                <a:latin typeface="Archivo"/>
              </a:rPr>
              <a:t>7.61 dB in sample, 7.95 held out. It is the only model that does not care whether it has seen the ground before.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635240" y="3383280"/>
            <a:ext cx="4023360" cy="2331720"/>
          </a:xfrm>
          <a:prstGeom prst="rect">
            <a:avLst/>
          </a:prstGeom>
          <a:solidFill>
            <a:srgbClr val="F5F2EE"/>
          </a:solidFill>
          <a:ln w="19050">
            <a:solidFill>
              <a:srgbClr val="B453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836408" y="3511296"/>
            <a:ext cx="3657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50" b="1">
                <a:solidFill>
                  <a:srgbClr val="B4532A"/>
                </a:solidFill>
                <a:latin typeface="Archivo"/>
              </a:rPr>
              <a:t>The learned models memorise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836408" y="3840480"/>
            <a:ext cx="3657600" cy="1737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>
                <a:solidFill>
                  <a:srgbClr val="3A4842"/>
                </a:solidFill>
                <a:latin typeface="Archivo"/>
              </a:rPr>
              <a:t>A terrain profile is nearly a unique location label — its nearest neighbour sits 12 m away on the ground. Feed the operator profiles from the wrong links and it scores 13.16 dB against 13.13 with the right ones. It never used the terrain.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02920" y="6473952"/>
            <a:ext cx="1115568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B5ADA4"/>
                </a:solidFill>
                <a:latin typeface="Consolas"/>
              </a:rPr>
              <a:t>Held out by region · 200 m buffer between train and test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384048"/>
            <a:ext cx="109728" cy="109728"/>
          </a:xfrm>
          <a:prstGeom prst="rect">
            <a:avLst/>
          </a:prstGeom>
          <a:solidFill>
            <a:srgbClr val="3E5C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310896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79716B"/>
                </a:solidFill>
                <a:latin typeface="Archivo"/>
              </a:rPr>
              <a:t>the planner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21792"/>
            <a:ext cx="1115568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900" b="1">
                <a:solidFill>
                  <a:srgbClr val="1C1917"/>
                </a:solidFill>
                <a:latin typeface="Archivo"/>
              </a:rPr>
              <a:t>Turning a surface into a decision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152144"/>
            <a:ext cx="111556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0">
                <a:solidFill>
                  <a:srgbClr val="3A4842"/>
                </a:solidFill>
                <a:latin typeface="Archivo"/>
              </a:rPr>
              <a:t>Score 627 candidate sites against 4,731 demand cells — then move every assumption and watch where the answer goes.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1783080"/>
            <a:ext cx="2606040" cy="841248"/>
          </a:xfrm>
          <a:prstGeom prst="rect">
            <a:avLst/>
          </a:prstGeom>
          <a:solidFill>
            <a:srgbClr val="F5F2EE"/>
          </a:solidFill>
          <a:ln w="12700">
            <a:solidFill>
              <a:srgbClr val="D9D3C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67512" y="1874519"/>
            <a:ext cx="22860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1">
                <a:solidFill>
                  <a:srgbClr val="1C1917"/>
                </a:solidFill>
                <a:latin typeface="Archivo"/>
              </a:rPr>
              <a:t>Predict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67512" y="2157984"/>
            <a:ext cx="22860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>
                <a:solidFill>
                  <a:srgbClr val="79716B"/>
                </a:solidFill>
                <a:latin typeface="Archivo"/>
              </a:rPr>
              <a:t>a value in every 200 m cell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127248" y="2011680"/>
            <a:ext cx="1828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D9D3CB"/>
                </a:solidFill>
                <a:latin typeface="Archivo"/>
              </a:rPr>
              <a:t>→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319272" y="1783080"/>
            <a:ext cx="2606040" cy="841248"/>
          </a:xfrm>
          <a:prstGeom prst="rect">
            <a:avLst/>
          </a:prstGeom>
          <a:solidFill>
            <a:srgbClr val="F5F2EE"/>
          </a:solidFill>
          <a:ln w="12700">
            <a:solidFill>
              <a:srgbClr val="D9D3C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483864" y="1874519"/>
            <a:ext cx="22860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1">
                <a:solidFill>
                  <a:srgbClr val="1C1917"/>
                </a:solidFill>
                <a:latin typeface="Archivo"/>
              </a:rPr>
              <a:t>Define served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483864" y="2157984"/>
            <a:ext cx="22860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>
                <a:solidFill>
                  <a:srgbClr val="79716B"/>
                </a:solidFill>
                <a:latin typeface="Archivo"/>
              </a:rPr>
              <a:t>eight definitions, one threshold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943600" y="2011680"/>
            <a:ext cx="1828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D9D3CB"/>
                </a:solidFill>
                <a:latin typeface="Archivo"/>
              </a:rPr>
              <a:t>→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135624" y="1783080"/>
            <a:ext cx="2606040" cy="841248"/>
          </a:xfrm>
          <a:prstGeom prst="rect">
            <a:avLst/>
          </a:prstGeom>
          <a:solidFill>
            <a:srgbClr val="F5F2EE"/>
          </a:solidFill>
          <a:ln w="12700">
            <a:solidFill>
              <a:srgbClr val="D9D3C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300216" y="1874519"/>
            <a:ext cx="22860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1">
                <a:solidFill>
                  <a:srgbClr val="1C1917"/>
                </a:solidFill>
                <a:latin typeface="Archivo"/>
              </a:rPr>
              <a:t>Score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00216" y="2157984"/>
            <a:ext cx="22860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>
                <a:solidFill>
                  <a:srgbClr val="79716B"/>
                </a:solidFill>
                <a:latin typeface="Archivo"/>
              </a:rPr>
              <a:t>route-km and area gained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759952" y="2011680"/>
            <a:ext cx="1828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D9D3CB"/>
                </a:solidFill>
                <a:latin typeface="Archivo"/>
              </a:rPr>
              <a:t>→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951976" y="1783080"/>
            <a:ext cx="2606040" cy="841248"/>
          </a:xfrm>
          <a:prstGeom prst="rect">
            <a:avLst/>
          </a:prstGeom>
          <a:solidFill>
            <a:srgbClr val="F5F2EE"/>
          </a:solidFill>
          <a:ln w="12700">
            <a:solidFill>
              <a:srgbClr val="D9D3C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116568" y="1874519"/>
            <a:ext cx="22860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1">
                <a:solidFill>
                  <a:srgbClr val="1C1917"/>
                </a:solidFill>
                <a:latin typeface="Archivo"/>
              </a:rPr>
              <a:t>Constrain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116568" y="2157984"/>
            <a:ext cx="22860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>
                <a:solidFill>
                  <a:srgbClr val="79716B"/>
                </a:solidFill>
                <a:latin typeface="Archivo"/>
              </a:rPr>
              <a:t>power, access, structures, backhaul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02920" y="2788920"/>
            <a:ext cx="68580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1C1917"/>
                </a:solidFill>
                <a:latin typeface="Archivo"/>
              </a:rPr>
              <a:t>How far the recommended site moves when you change one assumption</a:t>
            </a:r>
          </a:p>
        </p:txBody>
      </p:sp>
      <p:graphicFrame>
        <p:nvGraphicFramePr>
          <p:cNvPr id="23" name="Chart 22"/>
          <p:cNvGraphicFramePr>
            <a:graphicFrameLocks noGrp="1"/>
          </p:cNvGraphicFramePr>
          <p:nvPr/>
        </p:nvGraphicFramePr>
        <p:xfrm>
          <a:off x="365760" y="3108960"/>
          <a:ext cx="7040880" cy="25146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24" name="Rectangle 23"/>
          <p:cNvSpPr/>
          <p:nvPr/>
        </p:nvSpPr>
        <p:spPr>
          <a:xfrm>
            <a:off x="7635240" y="2788920"/>
            <a:ext cx="4023360" cy="1371600"/>
          </a:xfrm>
          <a:prstGeom prst="rect">
            <a:avLst/>
          </a:prstGeom>
          <a:solidFill>
            <a:srgbClr val="F5F2EE"/>
          </a:solidFill>
          <a:ln w="19050">
            <a:solidFill>
              <a:srgbClr val="B453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836408" y="2907792"/>
            <a:ext cx="3657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50" b="1">
                <a:solidFill>
                  <a:srgbClr val="B4532A"/>
                </a:solidFill>
                <a:latin typeface="Archivo"/>
              </a:rPr>
              <a:t>The definition beats the physics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836408" y="3236976"/>
            <a:ext cx="36576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>
                <a:solidFill>
                  <a:srgbClr val="3A4842"/>
                </a:solidFill>
                <a:latin typeface="Archivo"/>
              </a:rPr>
              <a:t>Changing what counts as service moves the site twice as far as changing the model. It was chosen, not measured.</a:t>
            </a:r>
          </a:p>
        </p:txBody>
      </p:sp>
      <p:sp>
        <p:nvSpPr>
          <p:cNvPr id="27" name="Rectangle 26"/>
          <p:cNvSpPr/>
          <p:nvPr/>
        </p:nvSpPr>
        <p:spPr>
          <a:xfrm>
            <a:off x="7635240" y="4297680"/>
            <a:ext cx="4023360" cy="1325880"/>
          </a:xfrm>
          <a:prstGeom prst="rect">
            <a:avLst/>
          </a:prstGeom>
          <a:solidFill>
            <a:srgbClr val="F5F2EE"/>
          </a:solidFill>
          <a:ln w="19050">
            <a:solidFill>
              <a:srgbClr val="3E5C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836408" y="4416552"/>
            <a:ext cx="3657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50" b="1">
                <a:solidFill>
                  <a:srgbClr val="3E5C6B"/>
                </a:solidFill>
                <a:latin typeface="Archivo"/>
              </a:rPr>
              <a:t>A neighbourhood, not a pin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836408" y="4745736"/>
            <a:ext cx="36576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>
                <a:solidFill>
                  <a:srgbClr val="3A4842"/>
                </a:solidFill>
                <a:latin typeface="Archivo"/>
              </a:rPr>
              <a:t>Requiring grid power within 1 km moves it 11 km. The exact site repeats in 10% of draws; 3 km in 99%.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02920" y="6473952"/>
            <a:ext cx="1115568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B5ADA4"/>
                </a:solidFill>
                <a:latin typeface="Consolas"/>
              </a:rPr>
              <a:t>198 combinations of model, asset, criterion, threshold and weighting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384048"/>
            <a:ext cx="109728" cy="109728"/>
          </a:xfrm>
          <a:prstGeom prst="rect">
            <a:avLst/>
          </a:prstGeom>
          <a:solidFill>
            <a:srgbClr val="3E5C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310896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79716B"/>
                </a:solidFill>
                <a:latin typeface="Archivo"/>
              </a:rPr>
              <a:t>demo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21792"/>
            <a:ext cx="1115568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900" b="1">
                <a:solidFill>
                  <a:srgbClr val="1C1917"/>
                </a:solidFill>
                <a:latin typeface="Archivo"/>
              </a:rPr>
              <a:t>The planner, live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152144"/>
            <a:ext cx="111556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0">
                <a:solidFill>
                  <a:srgbClr val="3A4842"/>
                </a:solidFill>
                <a:latin typeface="Archivo"/>
              </a:rPr>
              <a:t>The brief's demo artifact: place an asset and immediately see coverage, performance, uncertainty and route benefit change.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1691640"/>
            <a:ext cx="7452360" cy="3931920"/>
          </a:xfrm>
          <a:prstGeom prst="rect">
            <a:avLst/>
          </a:prstGeom>
          <a:solidFill>
            <a:srgbClr val="1C1917"/>
          </a:solidFill>
          <a:ln w="12700">
            <a:solidFill>
              <a:srgbClr val="D9D3C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58368" y="1828800"/>
            <a:ext cx="278892" cy="278892"/>
          </a:xfrm>
          <a:prstGeom prst="rect">
            <a:avLst/>
          </a:prstGeom>
          <a:solidFill>
            <a:srgbClr val="B453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955547" y="1828800"/>
            <a:ext cx="278892" cy="278892"/>
          </a:xfrm>
          <a:prstGeom prst="rect">
            <a:avLst/>
          </a:prstGeom>
          <a:solidFill>
            <a:srgbClr val="B453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1252728" y="1828800"/>
            <a:ext cx="278892" cy="278892"/>
          </a:xfrm>
          <a:prstGeom prst="rect">
            <a:avLst/>
          </a:prstGeom>
          <a:solidFill>
            <a:srgbClr val="B453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1549908" y="1828800"/>
            <a:ext cx="278892" cy="278892"/>
          </a:xfrm>
          <a:prstGeom prst="rect">
            <a:avLst/>
          </a:prstGeom>
          <a:solidFill>
            <a:srgbClr val="B453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1847088" y="1828800"/>
            <a:ext cx="278892" cy="278892"/>
          </a:xfrm>
          <a:prstGeom prst="rect">
            <a:avLst/>
          </a:prstGeom>
          <a:solidFill>
            <a:srgbClr val="B453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2144268" y="1828800"/>
            <a:ext cx="278892" cy="278892"/>
          </a:xfrm>
          <a:prstGeom prst="rect">
            <a:avLst/>
          </a:prstGeom>
          <a:solidFill>
            <a:srgbClr val="B453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2441448" y="1828800"/>
            <a:ext cx="278892" cy="278892"/>
          </a:xfrm>
          <a:prstGeom prst="rect">
            <a:avLst/>
          </a:prstGeom>
          <a:solidFill>
            <a:srgbClr val="B453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2738628" y="1828800"/>
            <a:ext cx="278892" cy="278892"/>
          </a:xfrm>
          <a:prstGeom prst="rect">
            <a:avLst/>
          </a:prstGeom>
          <a:solidFill>
            <a:srgbClr val="B453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3035808" y="1828800"/>
            <a:ext cx="278892" cy="278892"/>
          </a:xfrm>
          <a:prstGeom prst="rect">
            <a:avLst/>
          </a:prstGeom>
          <a:solidFill>
            <a:srgbClr val="B453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3332988" y="1828800"/>
            <a:ext cx="278892" cy="278892"/>
          </a:xfrm>
          <a:prstGeom prst="rect">
            <a:avLst/>
          </a:prstGeom>
          <a:solidFill>
            <a:srgbClr val="9A6E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3630168" y="1828800"/>
            <a:ext cx="278892" cy="278892"/>
          </a:xfrm>
          <a:prstGeom prst="rect">
            <a:avLst/>
          </a:prstGeom>
          <a:solidFill>
            <a:srgbClr val="B453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3927348" y="1828800"/>
            <a:ext cx="278892" cy="278892"/>
          </a:xfrm>
          <a:prstGeom prst="rect">
            <a:avLst/>
          </a:prstGeom>
          <a:solidFill>
            <a:srgbClr val="9A6E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4224528" y="1828800"/>
            <a:ext cx="278892" cy="278892"/>
          </a:xfrm>
          <a:prstGeom prst="rect">
            <a:avLst/>
          </a:prstGeom>
          <a:solidFill>
            <a:srgbClr val="9A6E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4521708" y="1828800"/>
            <a:ext cx="278892" cy="278892"/>
          </a:xfrm>
          <a:prstGeom prst="rect">
            <a:avLst/>
          </a:prstGeom>
          <a:solidFill>
            <a:srgbClr val="3E5C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4818888" y="1828800"/>
            <a:ext cx="278892" cy="278892"/>
          </a:xfrm>
          <a:prstGeom prst="rect">
            <a:avLst/>
          </a:prstGeom>
          <a:solidFill>
            <a:srgbClr val="9A6E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5116068" y="1828800"/>
            <a:ext cx="278892" cy="278892"/>
          </a:xfrm>
          <a:prstGeom prst="rect">
            <a:avLst/>
          </a:prstGeom>
          <a:solidFill>
            <a:srgbClr val="9A6E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5413248" y="1828800"/>
            <a:ext cx="278892" cy="278892"/>
          </a:xfrm>
          <a:prstGeom prst="rect">
            <a:avLst/>
          </a:prstGeom>
          <a:solidFill>
            <a:srgbClr val="3E5C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5710428" y="1828800"/>
            <a:ext cx="278892" cy="278892"/>
          </a:xfrm>
          <a:prstGeom prst="rect">
            <a:avLst/>
          </a:prstGeom>
          <a:solidFill>
            <a:srgbClr val="3E5C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6007608" y="1828800"/>
            <a:ext cx="278892" cy="278892"/>
          </a:xfrm>
          <a:prstGeom prst="rect">
            <a:avLst/>
          </a:prstGeom>
          <a:solidFill>
            <a:srgbClr val="3E5C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6304788" y="1828800"/>
            <a:ext cx="278892" cy="278892"/>
          </a:xfrm>
          <a:prstGeom prst="rect">
            <a:avLst/>
          </a:prstGeom>
          <a:solidFill>
            <a:srgbClr val="3E5C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6601968" y="1828800"/>
            <a:ext cx="278892" cy="278892"/>
          </a:xfrm>
          <a:prstGeom prst="rect">
            <a:avLst/>
          </a:prstGeom>
          <a:solidFill>
            <a:srgbClr val="3E5C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6899148" y="1828800"/>
            <a:ext cx="278892" cy="278892"/>
          </a:xfrm>
          <a:prstGeom prst="rect">
            <a:avLst/>
          </a:prstGeom>
          <a:solidFill>
            <a:srgbClr val="3E5C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7196328" y="1828800"/>
            <a:ext cx="278892" cy="278892"/>
          </a:xfrm>
          <a:prstGeom prst="rect">
            <a:avLst/>
          </a:prstGeom>
          <a:solidFill>
            <a:srgbClr val="3E5C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7493508" y="1828800"/>
            <a:ext cx="278892" cy="278892"/>
          </a:xfrm>
          <a:prstGeom prst="rect">
            <a:avLst/>
          </a:prstGeom>
          <a:solidFill>
            <a:srgbClr val="3E5C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658368" y="2125980"/>
            <a:ext cx="278892" cy="278892"/>
          </a:xfrm>
          <a:prstGeom prst="rect">
            <a:avLst/>
          </a:prstGeom>
          <a:solidFill>
            <a:srgbClr val="B453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955547" y="2125980"/>
            <a:ext cx="278892" cy="278892"/>
          </a:xfrm>
          <a:prstGeom prst="rect">
            <a:avLst/>
          </a:prstGeom>
          <a:solidFill>
            <a:srgbClr val="B453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1252728" y="2125980"/>
            <a:ext cx="278892" cy="278892"/>
          </a:xfrm>
          <a:prstGeom prst="rect">
            <a:avLst/>
          </a:prstGeom>
          <a:solidFill>
            <a:srgbClr val="B453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1549908" y="2125980"/>
            <a:ext cx="278892" cy="278892"/>
          </a:xfrm>
          <a:prstGeom prst="rect">
            <a:avLst/>
          </a:prstGeom>
          <a:solidFill>
            <a:srgbClr val="B453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1847088" y="2125980"/>
            <a:ext cx="278892" cy="278892"/>
          </a:xfrm>
          <a:prstGeom prst="rect">
            <a:avLst/>
          </a:prstGeom>
          <a:solidFill>
            <a:srgbClr val="B453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2144268" y="2125980"/>
            <a:ext cx="278892" cy="278892"/>
          </a:xfrm>
          <a:prstGeom prst="rect">
            <a:avLst/>
          </a:prstGeom>
          <a:solidFill>
            <a:srgbClr val="B453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2441448" y="2125980"/>
            <a:ext cx="278892" cy="278892"/>
          </a:xfrm>
          <a:prstGeom prst="rect">
            <a:avLst/>
          </a:prstGeom>
          <a:solidFill>
            <a:srgbClr val="B453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2738628" y="2125980"/>
            <a:ext cx="278892" cy="278892"/>
          </a:xfrm>
          <a:prstGeom prst="rect">
            <a:avLst/>
          </a:prstGeom>
          <a:solidFill>
            <a:srgbClr val="B453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3035808" y="2125980"/>
            <a:ext cx="278892" cy="278892"/>
          </a:xfrm>
          <a:prstGeom prst="rect">
            <a:avLst/>
          </a:prstGeom>
          <a:solidFill>
            <a:srgbClr val="9A6E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3332988" y="2125980"/>
            <a:ext cx="278892" cy="278892"/>
          </a:xfrm>
          <a:prstGeom prst="rect">
            <a:avLst/>
          </a:prstGeom>
          <a:solidFill>
            <a:srgbClr val="B453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3630168" y="2125980"/>
            <a:ext cx="278892" cy="278892"/>
          </a:xfrm>
          <a:prstGeom prst="rect">
            <a:avLst/>
          </a:prstGeom>
          <a:solidFill>
            <a:srgbClr val="B453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3927348" y="2125980"/>
            <a:ext cx="278892" cy="278892"/>
          </a:xfrm>
          <a:prstGeom prst="rect">
            <a:avLst/>
          </a:prstGeom>
          <a:solidFill>
            <a:srgbClr val="9A6E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4224528" y="2125980"/>
            <a:ext cx="278892" cy="278892"/>
          </a:xfrm>
          <a:prstGeom prst="rect">
            <a:avLst/>
          </a:prstGeom>
          <a:solidFill>
            <a:srgbClr val="9A6E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4521708" y="2125980"/>
            <a:ext cx="278892" cy="278892"/>
          </a:xfrm>
          <a:prstGeom prst="rect">
            <a:avLst/>
          </a:prstGeom>
          <a:solidFill>
            <a:srgbClr val="9A6E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ectangle 45"/>
          <p:cNvSpPr/>
          <p:nvPr/>
        </p:nvSpPr>
        <p:spPr>
          <a:xfrm>
            <a:off x="4818888" y="2125980"/>
            <a:ext cx="278892" cy="278892"/>
          </a:xfrm>
          <a:prstGeom prst="rect">
            <a:avLst/>
          </a:prstGeom>
          <a:solidFill>
            <a:srgbClr val="9A6E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5116068" y="2125980"/>
            <a:ext cx="278892" cy="278892"/>
          </a:xfrm>
          <a:prstGeom prst="rect">
            <a:avLst/>
          </a:prstGeom>
          <a:solidFill>
            <a:srgbClr val="3E5C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5413248" y="2125980"/>
            <a:ext cx="278892" cy="278892"/>
          </a:xfrm>
          <a:prstGeom prst="rect">
            <a:avLst/>
          </a:prstGeom>
          <a:solidFill>
            <a:srgbClr val="3E5C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ectangle 48"/>
          <p:cNvSpPr/>
          <p:nvPr/>
        </p:nvSpPr>
        <p:spPr>
          <a:xfrm>
            <a:off x="5710428" y="2125980"/>
            <a:ext cx="278892" cy="278892"/>
          </a:xfrm>
          <a:prstGeom prst="rect">
            <a:avLst/>
          </a:prstGeom>
          <a:solidFill>
            <a:srgbClr val="3E5C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Rectangle 49"/>
          <p:cNvSpPr/>
          <p:nvPr/>
        </p:nvSpPr>
        <p:spPr>
          <a:xfrm>
            <a:off x="6007608" y="2125980"/>
            <a:ext cx="278892" cy="278892"/>
          </a:xfrm>
          <a:prstGeom prst="rect">
            <a:avLst/>
          </a:prstGeom>
          <a:solidFill>
            <a:srgbClr val="3E5C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Rectangle 50"/>
          <p:cNvSpPr/>
          <p:nvPr/>
        </p:nvSpPr>
        <p:spPr>
          <a:xfrm>
            <a:off x="6304788" y="2125980"/>
            <a:ext cx="278892" cy="278892"/>
          </a:xfrm>
          <a:prstGeom prst="rect">
            <a:avLst/>
          </a:prstGeom>
          <a:solidFill>
            <a:srgbClr val="3E5C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Rectangle 51"/>
          <p:cNvSpPr/>
          <p:nvPr/>
        </p:nvSpPr>
        <p:spPr>
          <a:xfrm>
            <a:off x="6601968" y="2125980"/>
            <a:ext cx="278892" cy="278892"/>
          </a:xfrm>
          <a:prstGeom prst="rect">
            <a:avLst/>
          </a:prstGeom>
          <a:solidFill>
            <a:srgbClr val="3E5C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Rectangle 52"/>
          <p:cNvSpPr/>
          <p:nvPr/>
        </p:nvSpPr>
        <p:spPr>
          <a:xfrm>
            <a:off x="6899148" y="2125980"/>
            <a:ext cx="278892" cy="278892"/>
          </a:xfrm>
          <a:prstGeom prst="rect">
            <a:avLst/>
          </a:prstGeom>
          <a:solidFill>
            <a:srgbClr val="3E5C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Rectangle 53"/>
          <p:cNvSpPr/>
          <p:nvPr/>
        </p:nvSpPr>
        <p:spPr>
          <a:xfrm>
            <a:off x="7196328" y="2125980"/>
            <a:ext cx="278892" cy="278892"/>
          </a:xfrm>
          <a:prstGeom prst="rect">
            <a:avLst/>
          </a:prstGeom>
          <a:solidFill>
            <a:srgbClr val="3E5C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7493508" y="2125980"/>
            <a:ext cx="278892" cy="278892"/>
          </a:xfrm>
          <a:prstGeom prst="rect">
            <a:avLst/>
          </a:prstGeom>
          <a:solidFill>
            <a:srgbClr val="3E5C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Rectangle 55"/>
          <p:cNvSpPr/>
          <p:nvPr/>
        </p:nvSpPr>
        <p:spPr>
          <a:xfrm>
            <a:off x="658368" y="2423160"/>
            <a:ext cx="278892" cy="278892"/>
          </a:xfrm>
          <a:prstGeom prst="rect">
            <a:avLst/>
          </a:prstGeom>
          <a:solidFill>
            <a:srgbClr val="B453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Rectangle 56"/>
          <p:cNvSpPr/>
          <p:nvPr/>
        </p:nvSpPr>
        <p:spPr>
          <a:xfrm>
            <a:off x="955547" y="2423160"/>
            <a:ext cx="278892" cy="278892"/>
          </a:xfrm>
          <a:prstGeom prst="rect">
            <a:avLst/>
          </a:prstGeom>
          <a:solidFill>
            <a:srgbClr val="B453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Rectangle 57"/>
          <p:cNvSpPr/>
          <p:nvPr/>
        </p:nvSpPr>
        <p:spPr>
          <a:xfrm>
            <a:off x="1252728" y="2423160"/>
            <a:ext cx="278892" cy="278892"/>
          </a:xfrm>
          <a:prstGeom prst="rect">
            <a:avLst/>
          </a:prstGeom>
          <a:solidFill>
            <a:srgbClr val="B453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Rectangle 58"/>
          <p:cNvSpPr/>
          <p:nvPr/>
        </p:nvSpPr>
        <p:spPr>
          <a:xfrm>
            <a:off x="1549908" y="2423160"/>
            <a:ext cx="278892" cy="278892"/>
          </a:xfrm>
          <a:prstGeom prst="rect">
            <a:avLst/>
          </a:prstGeom>
          <a:solidFill>
            <a:srgbClr val="B453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Rectangle 59"/>
          <p:cNvSpPr/>
          <p:nvPr/>
        </p:nvSpPr>
        <p:spPr>
          <a:xfrm>
            <a:off x="1847088" y="2423160"/>
            <a:ext cx="278892" cy="278892"/>
          </a:xfrm>
          <a:prstGeom prst="rect">
            <a:avLst/>
          </a:prstGeom>
          <a:solidFill>
            <a:srgbClr val="B453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Rectangle 60"/>
          <p:cNvSpPr/>
          <p:nvPr/>
        </p:nvSpPr>
        <p:spPr>
          <a:xfrm>
            <a:off x="2144268" y="2423160"/>
            <a:ext cx="278892" cy="278892"/>
          </a:xfrm>
          <a:prstGeom prst="rect">
            <a:avLst/>
          </a:prstGeom>
          <a:solidFill>
            <a:srgbClr val="B453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Rectangle 61"/>
          <p:cNvSpPr/>
          <p:nvPr/>
        </p:nvSpPr>
        <p:spPr>
          <a:xfrm>
            <a:off x="2441448" y="2423160"/>
            <a:ext cx="278892" cy="278892"/>
          </a:xfrm>
          <a:prstGeom prst="rect">
            <a:avLst/>
          </a:prstGeom>
          <a:solidFill>
            <a:srgbClr val="B453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Rectangle 62"/>
          <p:cNvSpPr/>
          <p:nvPr/>
        </p:nvSpPr>
        <p:spPr>
          <a:xfrm>
            <a:off x="2738628" y="2423160"/>
            <a:ext cx="278892" cy="278892"/>
          </a:xfrm>
          <a:prstGeom prst="rect">
            <a:avLst/>
          </a:prstGeom>
          <a:solidFill>
            <a:srgbClr val="B453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Rectangle 63"/>
          <p:cNvSpPr/>
          <p:nvPr/>
        </p:nvSpPr>
        <p:spPr>
          <a:xfrm>
            <a:off x="3035808" y="2423160"/>
            <a:ext cx="278892" cy="278892"/>
          </a:xfrm>
          <a:prstGeom prst="rect">
            <a:avLst/>
          </a:prstGeom>
          <a:solidFill>
            <a:srgbClr val="B453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Rectangle 64"/>
          <p:cNvSpPr/>
          <p:nvPr/>
        </p:nvSpPr>
        <p:spPr>
          <a:xfrm>
            <a:off x="3332988" y="2423160"/>
            <a:ext cx="278892" cy="278892"/>
          </a:xfrm>
          <a:prstGeom prst="rect">
            <a:avLst/>
          </a:prstGeom>
          <a:solidFill>
            <a:srgbClr val="9A6E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Rectangle 65"/>
          <p:cNvSpPr/>
          <p:nvPr/>
        </p:nvSpPr>
        <p:spPr>
          <a:xfrm>
            <a:off x="3630168" y="2423160"/>
            <a:ext cx="278892" cy="278892"/>
          </a:xfrm>
          <a:prstGeom prst="rect">
            <a:avLst/>
          </a:prstGeom>
          <a:solidFill>
            <a:srgbClr val="9A6E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Rectangle 66"/>
          <p:cNvSpPr/>
          <p:nvPr/>
        </p:nvSpPr>
        <p:spPr>
          <a:xfrm>
            <a:off x="3927348" y="2423160"/>
            <a:ext cx="278892" cy="278892"/>
          </a:xfrm>
          <a:prstGeom prst="rect">
            <a:avLst/>
          </a:prstGeom>
          <a:solidFill>
            <a:srgbClr val="9A6E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Rectangle 67"/>
          <p:cNvSpPr/>
          <p:nvPr/>
        </p:nvSpPr>
        <p:spPr>
          <a:xfrm>
            <a:off x="4224528" y="2423160"/>
            <a:ext cx="278892" cy="278892"/>
          </a:xfrm>
          <a:prstGeom prst="rect">
            <a:avLst/>
          </a:prstGeom>
          <a:solidFill>
            <a:srgbClr val="9A6E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Rectangle 68"/>
          <p:cNvSpPr/>
          <p:nvPr/>
        </p:nvSpPr>
        <p:spPr>
          <a:xfrm>
            <a:off x="4521708" y="2423160"/>
            <a:ext cx="278892" cy="278892"/>
          </a:xfrm>
          <a:prstGeom prst="rect">
            <a:avLst/>
          </a:prstGeom>
          <a:solidFill>
            <a:srgbClr val="9A6E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Rectangle 69"/>
          <p:cNvSpPr/>
          <p:nvPr/>
        </p:nvSpPr>
        <p:spPr>
          <a:xfrm>
            <a:off x="4818888" y="2423160"/>
            <a:ext cx="278892" cy="278892"/>
          </a:xfrm>
          <a:prstGeom prst="rect">
            <a:avLst/>
          </a:prstGeom>
          <a:solidFill>
            <a:srgbClr val="3E5C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Rectangle 70"/>
          <p:cNvSpPr/>
          <p:nvPr/>
        </p:nvSpPr>
        <p:spPr>
          <a:xfrm>
            <a:off x="5116068" y="2423160"/>
            <a:ext cx="278892" cy="278892"/>
          </a:xfrm>
          <a:prstGeom prst="rect">
            <a:avLst/>
          </a:prstGeom>
          <a:solidFill>
            <a:srgbClr val="3E5C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Rectangle 71"/>
          <p:cNvSpPr/>
          <p:nvPr/>
        </p:nvSpPr>
        <p:spPr>
          <a:xfrm>
            <a:off x="5413248" y="2423160"/>
            <a:ext cx="278892" cy="278892"/>
          </a:xfrm>
          <a:prstGeom prst="rect">
            <a:avLst/>
          </a:prstGeom>
          <a:solidFill>
            <a:srgbClr val="3E5C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Rectangle 72"/>
          <p:cNvSpPr/>
          <p:nvPr/>
        </p:nvSpPr>
        <p:spPr>
          <a:xfrm>
            <a:off x="5710428" y="2423160"/>
            <a:ext cx="278892" cy="278892"/>
          </a:xfrm>
          <a:prstGeom prst="rect">
            <a:avLst/>
          </a:prstGeom>
          <a:solidFill>
            <a:srgbClr val="3E5C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Rectangle 73"/>
          <p:cNvSpPr/>
          <p:nvPr/>
        </p:nvSpPr>
        <p:spPr>
          <a:xfrm>
            <a:off x="6007608" y="2423160"/>
            <a:ext cx="278892" cy="278892"/>
          </a:xfrm>
          <a:prstGeom prst="rect">
            <a:avLst/>
          </a:prstGeom>
          <a:solidFill>
            <a:srgbClr val="3E5C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Rectangle 74"/>
          <p:cNvSpPr/>
          <p:nvPr/>
        </p:nvSpPr>
        <p:spPr>
          <a:xfrm>
            <a:off x="6304788" y="2423160"/>
            <a:ext cx="278892" cy="278892"/>
          </a:xfrm>
          <a:prstGeom prst="rect">
            <a:avLst/>
          </a:prstGeom>
          <a:solidFill>
            <a:srgbClr val="3E5C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Rectangle 75"/>
          <p:cNvSpPr/>
          <p:nvPr/>
        </p:nvSpPr>
        <p:spPr>
          <a:xfrm>
            <a:off x="6601968" y="2423160"/>
            <a:ext cx="278892" cy="278892"/>
          </a:xfrm>
          <a:prstGeom prst="rect">
            <a:avLst/>
          </a:prstGeom>
          <a:solidFill>
            <a:srgbClr val="3E5C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Rectangle 76"/>
          <p:cNvSpPr/>
          <p:nvPr/>
        </p:nvSpPr>
        <p:spPr>
          <a:xfrm>
            <a:off x="6899148" y="2423160"/>
            <a:ext cx="278892" cy="278892"/>
          </a:xfrm>
          <a:prstGeom prst="rect">
            <a:avLst/>
          </a:prstGeom>
          <a:solidFill>
            <a:srgbClr val="3E5C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Rectangle 77"/>
          <p:cNvSpPr/>
          <p:nvPr/>
        </p:nvSpPr>
        <p:spPr>
          <a:xfrm>
            <a:off x="7196328" y="2423160"/>
            <a:ext cx="278892" cy="278892"/>
          </a:xfrm>
          <a:prstGeom prst="rect">
            <a:avLst/>
          </a:prstGeom>
          <a:solidFill>
            <a:srgbClr val="3E5C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Rectangle 78"/>
          <p:cNvSpPr/>
          <p:nvPr/>
        </p:nvSpPr>
        <p:spPr>
          <a:xfrm>
            <a:off x="7493508" y="2423160"/>
            <a:ext cx="278892" cy="278892"/>
          </a:xfrm>
          <a:prstGeom prst="rect">
            <a:avLst/>
          </a:prstGeom>
          <a:solidFill>
            <a:srgbClr val="3E5C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Rectangle 79"/>
          <p:cNvSpPr/>
          <p:nvPr/>
        </p:nvSpPr>
        <p:spPr>
          <a:xfrm>
            <a:off x="658368" y="2720340"/>
            <a:ext cx="278892" cy="278892"/>
          </a:xfrm>
          <a:prstGeom prst="rect">
            <a:avLst/>
          </a:prstGeom>
          <a:solidFill>
            <a:srgbClr val="B453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Rectangle 80"/>
          <p:cNvSpPr/>
          <p:nvPr/>
        </p:nvSpPr>
        <p:spPr>
          <a:xfrm>
            <a:off x="955547" y="2720340"/>
            <a:ext cx="278892" cy="278892"/>
          </a:xfrm>
          <a:prstGeom prst="rect">
            <a:avLst/>
          </a:prstGeom>
          <a:solidFill>
            <a:srgbClr val="B453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Rectangle 81"/>
          <p:cNvSpPr/>
          <p:nvPr/>
        </p:nvSpPr>
        <p:spPr>
          <a:xfrm>
            <a:off x="1252728" y="2720340"/>
            <a:ext cx="278892" cy="278892"/>
          </a:xfrm>
          <a:prstGeom prst="rect">
            <a:avLst/>
          </a:prstGeom>
          <a:solidFill>
            <a:srgbClr val="B453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Rectangle 82"/>
          <p:cNvSpPr/>
          <p:nvPr/>
        </p:nvSpPr>
        <p:spPr>
          <a:xfrm>
            <a:off x="1549908" y="2720340"/>
            <a:ext cx="278892" cy="278892"/>
          </a:xfrm>
          <a:prstGeom prst="rect">
            <a:avLst/>
          </a:prstGeom>
          <a:solidFill>
            <a:srgbClr val="B453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Rectangle 83"/>
          <p:cNvSpPr/>
          <p:nvPr/>
        </p:nvSpPr>
        <p:spPr>
          <a:xfrm>
            <a:off x="1847088" y="2720340"/>
            <a:ext cx="278892" cy="278892"/>
          </a:xfrm>
          <a:prstGeom prst="rect">
            <a:avLst/>
          </a:prstGeom>
          <a:solidFill>
            <a:srgbClr val="B453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Rectangle 84"/>
          <p:cNvSpPr/>
          <p:nvPr/>
        </p:nvSpPr>
        <p:spPr>
          <a:xfrm>
            <a:off x="2144268" y="2720340"/>
            <a:ext cx="278892" cy="278892"/>
          </a:xfrm>
          <a:prstGeom prst="rect">
            <a:avLst/>
          </a:prstGeom>
          <a:solidFill>
            <a:srgbClr val="B453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Rectangle 85"/>
          <p:cNvSpPr/>
          <p:nvPr/>
        </p:nvSpPr>
        <p:spPr>
          <a:xfrm>
            <a:off x="2441448" y="2720340"/>
            <a:ext cx="278892" cy="278892"/>
          </a:xfrm>
          <a:prstGeom prst="rect">
            <a:avLst/>
          </a:prstGeom>
          <a:solidFill>
            <a:srgbClr val="B453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Rectangle 86"/>
          <p:cNvSpPr/>
          <p:nvPr/>
        </p:nvSpPr>
        <p:spPr>
          <a:xfrm>
            <a:off x="2738628" y="2720340"/>
            <a:ext cx="278892" cy="278892"/>
          </a:xfrm>
          <a:prstGeom prst="rect">
            <a:avLst/>
          </a:prstGeom>
          <a:solidFill>
            <a:srgbClr val="B453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Rectangle 87"/>
          <p:cNvSpPr/>
          <p:nvPr/>
        </p:nvSpPr>
        <p:spPr>
          <a:xfrm>
            <a:off x="3035808" y="2720340"/>
            <a:ext cx="278892" cy="278892"/>
          </a:xfrm>
          <a:prstGeom prst="rect">
            <a:avLst/>
          </a:prstGeom>
          <a:solidFill>
            <a:srgbClr val="B453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Rectangle 88"/>
          <p:cNvSpPr/>
          <p:nvPr/>
        </p:nvSpPr>
        <p:spPr>
          <a:xfrm>
            <a:off x="3332988" y="2720340"/>
            <a:ext cx="278892" cy="278892"/>
          </a:xfrm>
          <a:prstGeom prst="rect">
            <a:avLst/>
          </a:prstGeom>
          <a:solidFill>
            <a:srgbClr val="B453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Rectangle 89"/>
          <p:cNvSpPr/>
          <p:nvPr/>
        </p:nvSpPr>
        <p:spPr>
          <a:xfrm>
            <a:off x="3630168" y="2720340"/>
            <a:ext cx="278892" cy="278892"/>
          </a:xfrm>
          <a:prstGeom prst="rect">
            <a:avLst/>
          </a:prstGeom>
          <a:solidFill>
            <a:srgbClr val="B453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Rectangle 90"/>
          <p:cNvSpPr/>
          <p:nvPr/>
        </p:nvSpPr>
        <p:spPr>
          <a:xfrm>
            <a:off x="3927348" y="2720340"/>
            <a:ext cx="278892" cy="278892"/>
          </a:xfrm>
          <a:prstGeom prst="rect">
            <a:avLst/>
          </a:prstGeom>
          <a:solidFill>
            <a:srgbClr val="9A6E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Rectangle 91"/>
          <p:cNvSpPr/>
          <p:nvPr/>
        </p:nvSpPr>
        <p:spPr>
          <a:xfrm>
            <a:off x="4224528" y="2720340"/>
            <a:ext cx="278892" cy="278892"/>
          </a:xfrm>
          <a:prstGeom prst="rect">
            <a:avLst/>
          </a:prstGeom>
          <a:solidFill>
            <a:srgbClr val="9A6E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Rectangle 92"/>
          <p:cNvSpPr/>
          <p:nvPr/>
        </p:nvSpPr>
        <p:spPr>
          <a:xfrm>
            <a:off x="4521708" y="2720340"/>
            <a:ext cx="278892" cy="278892"/>
          </a:xfrm>
          <a:prstGeom prst="rect">
            <a:avLst/>
          </a:prstGeom>
          <a:solidFill>
            <a:srgbClr val="9A6E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" name="Rectangle 93"/>
          <p:cNvSpPr/>
          <p:nvPr/>
        </p:nvSpPr>
        <p:spPr>
          <a:xfrm>
            <a:off x="4818888" y="2720340"/>
            <a:ext cx="278892" cy="278892"/>
          </a:xfrm>
          <a:prstGeom prst="rect">
            <a:avLst/>
          </a:prstGeom>
          <a:solidFill>
            <a:srgbClr val="9A6E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Rectangle 94"/>
          <p:cNvSpPr/>
          <p:nvPr/>
        </p:nvSpPr>
        <p:spPr>
          <a:xfrm>
            <a:off x="5116068" y="2720340"/>
            <a:ext cx="278892" cy="278892"/>
          </a:xfrm>
          <a:prstGeom prst="rect">
            <a:avLst/>
          </a:prstGeom>
          <a:solidFill>
            <a:srgbClr val="3E5C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Rectangle 95"/>
          <p:cNvSpPr/>
          <p:nvPr/>
        </p:nvSpPr>
        <p:spPr>
          <a:xfrm>
            <a:off x="5413248" y="2720340"/>
            <a:ext cx="278892" cy="278892"/>
          </a:xfrm>
          <a:prstGeom prst="rect">
            <a:avLst/>
          </a:prstGeom>
          <a:solidFill>
            <a:srgbClr val="9A6E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Rectangle 96"/>
          <p:cNvSpPr/>
          <p:nvPr/>
        </p:nvSpPr>
        <p:spPr>
          <a:xfrm>
            <a:off x="5710428" y="2720340"/>
            <a:ext cx="278892" cy="278892"/>
          </a:xfrm>
          <a:prstGeom prst="rect">
            <a:avLst/>
          </a:prstGeom>
          <a:solidFill>
            <a:srgbClr val="3E5C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Rectangle 97"/>
          <p:cNvSpPr/>
          <p:nvPr/>
        </p:nvSpPr>
        <p:spPr>
          <a:xfrm>
            <a:off x="6007608" y="2720340"/>
            <a:ext cx="278892" cy="278892"/>
          </a:xfrm>
          <a:prstGeom prst="rect">
            <a:avLst/>
          </a:prstGeom>
          <a:solidFill>
            <a:srgbClr val="3E5C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Rectangle 98"/>
          <p:cNvSpPr/>
          <p:nvPr/>
        </p:nvSpPr>
        <p:spPr>
          <a:xfrm>
            <a:off x="6304788" y="2720340"/>
            <a:ext cx="278892" cy="278892"/>
          </a:xfrm>
          <a:prstGeom prst="rect">
            <a:avLst/>
          </a:prstGeom>
          <a:solidFill>
            <a:srgbClr val="3E5C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" name="Rectangle 99"/>
          <p:cNvSpPr/>
          <p:nvPr/>
        </p:nvSpPr>
        <p:spPr>
          <a:xfrm>
            <a:off x="6601968" y="2720340"/>
            <a:ext cx="278892" cy="278892"/>
          </a:xfrm>
          <a:prstGeom prst="rect">
            <a:avLst/>
          </a:prstGeom>
          <a:solidFill>
            <a:srgbClr val="3E5C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Rectangle 100"/>
          <p:cNvSpPr/>
          <p:nvPr/>
        </p:nvSpPr>
        <p:spPr>
          <a:xfrm>
            <a:off x="6899148" y="2720340"/>
            <a:ext cx="278892" cy="278892"/>
          </a:xfrm>
          <a:prstGeom prst="rect">
            <a:avLst/>
          </a:prstGeom>
          <a:solidFill>
            <a:srgbClr val="3E5C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" name="Rectangle 101"/>
          <p:cNvSpPr/>
          <p:nvPr/>
        </p:nvSpPr>
        <p:spPr>
          <a:xfrm>
            <a:off x="7196328" y="2720340"/>
            <a:ext cx="278892" cy="278892"/>
          </a:xfrm>
          <a:prstGeom prst="rect">
            <a:avLst/>
          </a:prstGeom>
          <a:solidFill>
            <a:srgbClr val="3E5C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" name="Rectangle 102"/>
          <p:cNvSpPr/>
          <p:nvPr/>
        </p:nvSpPr>
        <p:spPr>
          <a:xfrm>
            <a:off x="7493508" y="2720340"/>
            <a:ext cx="278892" cy="278892"/>
          </a:xfrm>
          <a:prstGeom prst="rect">
            <a:avLst/>
          </a:prstGeom>
          <a:solidFill>
            <a:srgbClr val="3E5C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" name="Rectangle 103"/>
          <p:cNvSpPr/>
          <p:nvPr/>
        </p:nvSpPr>
        <p:spPr>
          <a:xfrm>
            <a:off x="658368" y="3017520"/>
            <a:ext cx="278892" cy="278892"/>
          </a:xfrm>
          <a:prstGeom prst="rect">
            <a:avLst/>
          </a:prstGeom>
          <a:solidFill>
            <a:srgbClr val="B453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Rectangle 104"/>
          <p:cNvSpPr/>
          <p:nvPr/>
        </p:nvSpPr>
        <p:spPr>
          <a:xfrm>
            <a:off x="955547" y="3017520"/>
            <a:ext cx="278892" cy="278892"/>
          </a:xfrm>
          <a:prstGeom prst="rect">
            <a:avLst/>
          </a:prstGeom>
          <a:solidFill>
            <a:srgbClr val="B453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" name="Rectangle 105"/>
          <p:cNvSpPr/>
          <p:nvPr/>
        </p:nvSpPr>
        <p:spPr>
          <a:xfrm>
            <a:off x="1252728" y="3017520"/>
            <a:ext cx="278892" cy="278892"/>
          </a:xfrm>
          <a:prstGeom prst="rect">
            <a:avLst/>
          </a:prstGeom>
          <a:solidFill>
            <a:srgbClr val="B453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" name="Rectangle 106"/>
          <p:cNvSpPr/>
          <p:nvPr/>
        </p:nvSpPr>
        <p:spPr>
          <a:xfrm>
            <a:off x="1549908" y="3017520"/>
            <a:ext cx="278892" cy="278892"/>
          </a:xfrm>
          <a:prstGeom prst="rect">
            <a:avLst/>
          </a:prstGeom>
          <a:solidFill>
            <a:srgbClr val="B453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" name="Rectangle 107"/>
          <p:cNvSpPr/>
          <p:nvPr/>
        </p:nvSpPr>
        <p:spPr>
          <a:xfrm>
            <a:off x="1847088" y="3017520"/>
            <a:ext cx="278892" cy="278892"/>
          </a:xfrm>
          <a:prstGeom prst="rect">
            <a:avLst/>
          </a:prstGeom>
          <a:solidFill>
            <a:srgbClr val="B453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" name="Rectangle 108"/>
          <p:cNvSpPr/>
          <p:nvPr/>
        </p:nvSpPr>
        <p:spPr>
          <a:xfrm>
            <a:off x="2144268" y="3017520"/>
            <a:ext cx="278892" cy="278892"/>
          </a:xfrm>
          <a:prstGeom prst="rect">
            <a:avLst/>
          </a:prstGeom>
          <a:solidFill>
            <a:srgbClr val="B453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" name="Rectangle 109"/>
          <p:cNvSpPr/>
          <p:nvPr/>
        </p:nvSpPr>
        <p:spPr>
          <a:xfrm>
            <a:off x="2441448" y="3017520"/>
            <a:ext cx="278892" cy="278892"/>
          </a:xfrm>
          <a:prstGeom prst="rect">
            <a:avLst/>
          </a:prstGeom>
          <a:solidFill>
            <a:srgbClr val="B453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Rectangle 110"/>
          <p:cNvSpPr/>
          <p:nvPr/>
        </p:nvSpPr>
        <p:spPr>
          <a:xfrm>
            <a:off x="2738628" y="3017520"/>
            <a:ext cx="278892" cy="278892"/>
          </a:xfrm>
          <a:prstGeom prst="rect">
            <a:avLst/>
          </a:prstGeom>
          <a:solidFill>
            <a:srgbClr val="B453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Rectangle 111"/>
          <p:cNvSpPr/>
          <p:nvPr/>
        </p:nvSpPr>
        <p:spPr>
          <a:xfrm>
            <a:off x="3035808" y="3017520"/>
            <a:ext cx="278892" cy="278892"/>
          </a:xfrm>
          <a:prstGeom prst="rect">
            <a:avLst/>
          </a:prstGeom>
          <a:solidFill>
            <a:srgbClr val="9A6E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" name="Rectangle 112"/>
          <p:cNvSpPr/>
          <p:nvPr/>
        </p:nvSpPr>
        <p:spPr>
          <a:xfrm>
            <a:off x="3332988" y="3017520"/>
            <a:ext cx="278892" cy="278892"/>
          </a:xfrm>
          <a:prstGeom prst="rect">
            <a:avLst/>
          </a:prstGeom>
          <a:solidFill>
            <a:srgbClr val="B453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" name="Rectangle 113"/>
          <p:cNvSpPr/>
          <p:nvPr/>
        </p:nvSpPr>
        <p:spPr>
          <a:xfrm>
            <a:off x="3630168" y="3017520"/>
            <a:ext cx="278892" cy="278892"/>
          </a:xfrm>
          <a:prstGeom prst="rect">
            <a:avLst/>
          </a:prstGeom>
          <a:solidFill>
            <a:srgbClr val="B453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" name="Rectangle 114"/>
          <p:cNvSpPr/>
          <p:nvPr/>
        </p:nvSpPr>
        <p:spPr>
          <a:xfrm>
            <a:off x="3927348" y="3017520"/>
            <a:ext cx="278892" cy="278892"/>
          </a:xfrm>
          <a:prstGeom prst="rect">
            <a:avLst/>
          </a:prstGeom>
          <a:solidFill>
            <a:srgbClr val="9A6E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6" name="Rectangle 115"/>
          <p:cNvSpPr/>
          <p:nvPr/>
        </p:nvSpPr>
        <p:spPr>
          <a:xfrm>
            <a:off x="4224528" y="3017520"/>
            <a:ext cx="278892" cy="278892"/>
          </a:xfrm>
          <a:prstGeom prst="rect">
            <a:avLst/>
          </a:prstGeom>
          <a:solidFill>
            <a:srgbClr val="9A6E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7" name="Rectangle 116"/>
          <p:cNvSpPr/>
          <p:nvPr/>
        </p:nvSpPr>
        <p:spPr>
          <a:xfrm>
            <a:off x="4521708" y="3017520"/>
            <a:ext cx="278892" cy="278892"/>
          </a:xfrm>
          <a:prstGeom prst="rect">
            <a:avLst/>
          </a:prstGeom>
          <a:solidFill>
            <a:srgbClr val="9A6E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8" name="Rectangle 117"/>
          <p:cNvSpPr/>
          <p:nvPr/>
        </p:nvSpPr>
        <p:spPr>
          <a:xfrm>
            <a:off x="4818888" y="3017520"/>
            <a:ext cx="278892" cy="278892"/>
          </a:xfrm>
          <a:prstGeom prst="rect">
            <a:avLst/>
          </a:prstGeom>
          <a:solidFill>
            <a:srgbClr val="3E5C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Rectangle 118"/>
          <p:cNvSpPr/>
          <p:nvPr/>
        </p:nvSpPr>
        <p:spPr>
          <a:xfrm>
            <a:off x="5116068" y="3017520"/>
            <a:ext cx="278892" cy="278892"/>
          </a:xfrm>
          <a:prstGeom prst="rect">
            <a:avLst/>
          </a:prstGeom>
          <a:solidFill>
            <a:srgbClr val="3E5C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0" name="Rectangle 119"/>
          <p:cNvSpPr/>
          <p:nvPr/>
        </p:nvSpPr>
        <p:spPr>
          <a:xfrm>
            <a:off x="5413248" y="3017520"/>
            <a:ext cx="278892" cy="278892"/>
          </a:xfrm>
          <a:prstGeom prst="rect">
            <a:avLst/>
          </a:prstGeom>
          <a:solidFill>
            <a:srgbClr val="3E5C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1" name="Rectangle 120"/>
          <p:cNvSpPr/>
          <p:nvPr/>
        </p:nvSpPr>
        <p:spPr>
          <a:xfrm>
            <a:off x="5710428" y="3017520"/>
            <a:ext cx="278892" cy="278892"/>
          </a:xfrm>
          <a:prstGeom prst="rect">
            <a:avLst/>
          </a:prstGeom>
          <a:solidFill>
            <a:srgbClr val="3E5C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2" name="Rectangle 121"/>
          <p:cNvSpPr/>
          <p:nvPr/>
        </p:nvSpPr>
        <p:spPr>
          <a:xfrm>
            <a:off x="6007608" y="3017520"/>
            <a:ext cx="278892" cy="278892"/>
          </a:xfrm>
          <a:prstGeom prst="rect">
            <a:avLst/>
          </a:prstGeom>
          <a:solidFill>
            <a:srgbClr val="3E5C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" name="Rectangle 122"/>
          <p:cNvSpPr/>
          <p:nvPr/>
        </p:nvSpPr>
        <p:spPr>
          <a:xfrm>
            <a:off x="6304788" y="3017520"/>
            <a:ext cx="278892" cy="278892"/>
          </a:xfrm>
          <a:prstGeom prst="rect">
            <a:avLst/>
          </a:prstGeom>
          <a:solidFill>
            <a:srgbClr val="3E5C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4" name="Rectangle 123"/>
          <p:cNvSpPr/>
          <p:nvPr/>
        </p:nvSpPr>
        <p:spPr>
          <a:xfrm>
            <a:off x="6601968" y="3017520"/>
            <a:ext cx="278892" cy="278892"/>
          </a:xfrm>
          <a:prstGeom prst="rect">
            <a:avLst/>
          </a:prstGeom>
          <a:solidFill>
            <a:srgbClr val="3E5C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5" name="Rectangle 124"/>
          <p:cNvSpPr/>
          <p:nvPr/>
        </p:nvSpPr>
        <p:spPr>
          <a:xfrm>
            <a:off x="6899148" y="3017520"/>
            <a:ext cx="278892" cy="278892"/>
          </a:xfrm>
          <a:prstGeom prst="rect">
            <a:avLst/>
          </a:prstGeom>
          <a:solidFill>
            <a:srgbClr val="3E5C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" name="Rectangle 125"/>
          <p:cNvSpPr/>
          <p:nvPr/>
        </p:nvSpPr>
        <p:spPr>
          <a:xfrm>
            <a:off x="7196328" y="3017520"/>
            <a:ext cx="278892" cy="278892"/>
          </a:xfrm>
          <a:prstGeom prst="rect">
            <a:avLst/>
          </a:prstGeom>
          <a:solidFill>
            <a:srgbClr val="3E5C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7" name="Rectangle 126"/>
          <p:cNvSpPr/>
          <p:nvPr/>
        </p:nvSpPr>
        <p:spPr>
          <a:xfrm>
            <a:off x="7493508" y="3017520"/>
            <a:ext cx="278892" cy="278892"/>
          </a:xfrm>
          <a:prstGeom prst="rect">
            <a:avLst/>
          </a:prstGeom>
          <a:solidFill>
            <a:srgbClr val="3E5C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8" name="Rectangle 127"/>
          <p:cNvSpPr/>
          <p:nvPr/>
        </p:nvSpPr>
        <p:spPr>
          <a:xfrm>
            <a:off x="658368" y="3314700"/>
            <a:ext cx="278892" cy="278892"/>
          </a:xfrm>
          <a:prstGeom prst="rect">
            <a:avLst/>
          </a:prstGeom>
          <a:solidFill>
            <a:srgbClr val="B453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9" name="Rectangle 128"/>
          <p:cNvSpPr/>
          <p:nvPr/>
        </p:nvSpPr>
        <p:spPr>
          <a:xfrm>
            <a:off x="955547" y="3314700"/>
            <a:ext cx="278892" cy="278892"/>
          </a:xfrm>
          <a:prstGeom prst="rect">
            <a:avLst/>
          </a:prstGeom>
          <a:solidFill>
            <a:srgbClr val="B453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0" name="Rectangle 129"/>
          <p:cNvSpPr/>
          <p:nvPr/>
        </p:nvSpPr>
        <p:spPr>
          <a:xfrm>
            <a:off x="1252728" y="3314700"/>
            <a:ext cx="278892" cy="278892"/>
          </a:xfrm>
          <a:prstGeom prst="rect">
            <a:avLst/>
          </a:prstGeom>
          <a:solidFill>
            <a:srgbClr val="B453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1" name="Rectangle 130"/>
          <p:cNvSpPr/>
          <p:nvPr/>
        </p:nvSpPr>
        <p:spPr>
          <a:xfrm>
            <a:off x="1549908" y="3314700"/>
            <a:ext cx="278892" cy="278892"/>
          </a:xfrm>
          <a:prstGeom prst="rect">
            <a:avLst/>
          </a:prstGeom>
          <a:solidFill>
            <a:srgbClr val="B453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2" name="Rectangle 131"/>
          <p:cNvSpPr/>
          <p:nvPr/>
        </p:nvSpPr>
        <p:spPr>
          <a:xfrm>
            <a:off x="1847088" y="3314700"/>
            <a:ext cx="278892" cy="278892"/>
          </a:xfrm>
          <a:prstGeom prst="rect">
            <a:avLst/>
          </a:prstGeom>
          <a:solidFill>
            <a:srgbClr val="B453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" name="Rectangle 132"/>
          <p:cNvSpPr/>
          <p:nvPr/>
        </p:nvSpPr>
        <p:spPr>
          <a:xfrm>
            <a:off x="2144268" y="3314700"/>
            <a:ext cx="278892" cy="278892"/>
          </a:xfrm>
          <a:prstGeom prst="rect">
            <a:avLst/>
          </a:prstGeom>
          <a:solidFill>
            <a:srgbClr val="B453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4" name="Rectangle 133"/>
          <p:cNvSpPr/>
          <p:nvPr/>
        </p:nvSpPr>
        <p:spPr>
          <a:xfrm>
            <a:off x="2441448" y="3314700"/>
            <a:ext cx="278892" cy="278892"/>
          </a:xfrm>
          <a:prstGeom prst="rect">
            <a:avLst/>
          </a:prstGeom>
          <a:solidFill>
            <a:srgbClr val="B453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5" name="Rectangle 134"/>
          <p:cNvSpPr/>
          <p:nvPr/>
        </p:nvSpPr>
        <p:spPr>
          <a:xfrm>
            <a:off x="2738628" y="3314700"/>
            <a:ext cx="278892" cy="278892"/>
          </a:xfrm>
          <a:prstGeom prst="rect">
            <a:avLst/>
          </a:prstGeom>
          <a:solidFill>
            <a:srgbClr val="B453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6" name="Rectangle 135"/>
          <p:cNvSpPr/>
          <p:nvPr/>
        </p:nvSpPr>
        <p:spPr>
          <a:xfrm>
            <a:off x="3035808" y="3314700"/>
            <a:ext cx="278892" cy="278892"/>
          </a:xfrm>
          <a:prstGeom prst="rect">
            <a:avLst/>
          </a:prstGeom>
          <a:solidFill>
            <a:srgbClr val="B453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7" name="Rectangle 136"/>
          <p:cNvSpPr/>
          <p:nvPr/>
        </p:nvSpPr>
        <p:spPr>
          <a:xfrm>
            <a:off x="3332988" y="3314700"/>
            <a:ext cx="278892" cy="278892"/>
          </a:xfrm>
          <a:prstGeom prst="rect">
            <a:avLst/>
          </a:prstGeom>
          <a:solidFill>
            <a:srgbClr val="B453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8" name="Rectangle 137"/>
          <p:cNvSpPr/>
          <p:nvPr/>
        </p:nvSpPr>
        <p:spPr>
          <a:xfrm>
            <a:off x="3630168" y="3314700"/>
            <a:ext cx="278892" cy="278892"/>
          </a:xfrm>
          <a:prstGeom prst="rect">
            <a:avLst/>
          </a:prstGeom>
          <a:solidFill>
            <a:srgbClr val="B453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9" name="Rectangle 138"/>
          <p:cNvSpPr/>
          <p:nvPr/>
        </p:nvSpPr>
        <p:spPr>
          <a:xfrm>
            <a:off x="3927348" y="3314700"/>
            <a:ext cx="278892" cy="278892"/>
          </a:xfrm>
          <a:prstGeom prst="rect">
            <a:avLst/>
          </a:prstGeom>
          <a:solidFill>
            <a:srgbClr val="9A6E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0" name="Rectangle 139"/>
          <p:cNvSpPr/>
          <p:nvPr/>
        </p:nvSpPr>
        <p:spPr>
          <a:xfrm>
            <a:off x="4224528" y="3314700"/>
            <a:ext cx="278892" cy="278892"/>
          </a:xfrm>
          <a:prstGeom prst="rect">
            <a:avLst/>
          </a:prstGeom>
          <a:solidFill>
            <a:srgbClr val="9A6E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1" name="Rectangle 140"/>
          <p:cNvSpPr/>
          <p:nvPr/>
        </p:nvSpPr>
        <p:spPr>
          <a:xfrm>
            <a:off x="4521708" y="3314700"/>
            <a:ext cx="278892" cy="278892"/>
          </a:xfrm>
          <a:prstGeom prst="rect">
            <a:avLst/>
          </a:prstGeom>
          <a:solidFill>
            <a:srgbClr val="9A6E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2" name="Rectangle 141"/>
          <p:cNvSpPr/>
          <p:nvPr/>
        </p:nvSpPr>
        <p:spPr>
          <a:xfrm>
            <a:off x="4818888" y="3314700"/>
            <a:ext cx="278892" cy="278892"/>
          </a:xfrm>
          <a:prstGeom prst="rect">
            <a:avLst/>
          </a:prstGeom>
          <a:solidFill>
            <a:srgbClr val="9A6E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3" name="Rectangle 142"/>
          <p:cNvSpPr/>
          <p:nvPr/>
        </p:nvSpPr>
        <p:spPr>
          <a:xfrm>
            <a:off x="5116068" y="3314700"/>
            <a:ext cx="278892" cy="278892"/>
          </a:xfrm>
          <a:prstGeom prst="rect">
            <a:avLst/>
          </a:prstGeom>
          <a:solidFill>
            <a:srgbClr val="3E5C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4" name="Rectangle 143"/>
          <p:cNvSpPr/>
          <p:nvPr/>
        </p:nvSpPr>
        <p:spPr>
          <a:xfrm>
            <a:off x="5413248" y="3314700"/>
            <a:ext cx="278892" cy="278892"/>
          </a:xfrm>
          <a:prstGeom prst="rect">
            <a:avLst/>
          </a:prstGeom>
          <a:solidFill>
            <a:srgbClr val="3E5C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5" name="Rectangle 144"/>
          <p:cNvSpPr/>
          <p:nvPr/>
        </p:nvSpPr>
        <p:spPr>
          <a:xfrm>
            <a:off x="5710428" y="3314700"/>
            <a:ext cx="278892" cy="278892"/>
          </a:xfrm>
          <a:prstGeom prst="rect">
            <a:avLst/>
          </a:prstGeom>
          <a:solidFill>
            <a:srgbClr val="9A6E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6" name="Rectangle 145"/>
          <p:cNvSpPr/>
          <p:nvPr/>
        </p:nvSpPr>
        <p:spPr>
          <a:xfrm>
            <a:off x="6007608" y="3314700"/>
            <a:ext cx="278892" cy="278892"/>
          </a:xfrm>
          <a:prstGeom prst="rect">
            <a:avLst/>
          </a:prstGeom>
          <a:solidFill>
            <a:srgbClr val="3E5C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7" name="Rectangle 146"/>
          <p:cNvSpPr/>
          <p:nvPr/>
        </p:nvSpPr>
        <p:spPr>
          <a:xfrm>
            <a:off x="6304788" y="3314700"/>
            <a:ext cx="278892" cy="278892"/>
          </a:xfrm>
          <a:prstGeom prst="rect">
            <a:avLst/>
          </a:prstGeom>
          <a:solidFill>
            <a:srgbClr val="3E5C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8" name="Rectangle 147"/>
          <p:cNvSpPr/>
          <p:nvPr/>
        </p:nvSpPr>
        <p:spPr>
          <a:xfrm>
            <a:off x="6601968" y="3314700"/>
            <a:ext cx="278892" cy="278892"/>
          </a:xfrm>
          <a:prstGeom prst="rect">
            <a:avLst/>
          </a:prstGeom>
          <a:solidFill>
            <a:srgbClr val="3E5C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9" name="Rectangle 148"/>
          <p:cNvSpPr/>
          <p:nvPr/>
        </p:nvSpPr>
        <p:spPr>
          <a:xfrm>
            <a:off x="6899148" y="3314700"/>
            <a:ext cx="278892" cy="278892"/>
          </a:xfrm>
          <a:prstGeom prst="rect">
            <a:avLst/>
          </a:prstGeom>
          <a:solidFill>
            <a:srgbClr val="3E5C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0" name="Rectangle 149"/>
          <p:cNvSpPr/>
          <p:nvPr/>
        </p:nvSpPr>
        <p:spPr>
          <a:xfrm>
            <a:off x="7196328" y="3314700"/>
            <a:ext cx="278892" cy="278892"/>
          </a:xfrm>
          <a:prstGeom prst="rect">
            <a:avLst/>
          </a:prstGeom>
          <a:solidFill>
            <a:srgbClr val="3E5C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1" name="Rectangle 150"/>
          <p:cNvSpPr/>
          <p:nvPr/>
        </p:nvSpPr>
        <p:spPr>
          <a:xfrm>
            <a:off x="7493508" y="3314700"/>
            <a:ext cx="278892" cy="278892"/>
          </a:xfrm>
          <a:prstGeom prst="rect">
            <a:avLst/>
          </a:prstGeom>
          <a:solidFill>
            <a:srgbClr val="3E5C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2" name="Rectangle 151"/>
          <p:cNvSpPr/>
          <p:nvPr/>
        </p:nvSpPr>
        <p:spPr>
          <a:xfrm>
            <a:off x="658368" y="3611880"/>
            <a:ext cx="278892" cy="278892"/>
          </a:xfrm>
          <a:prstGeom prst="rect">
            <a:avLst/>
          </a:prstGeom>
          <a:solidFill>
            <a:srgbClr val="B453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3" name="Rectangle 152"/>
          <p:cNvSpPr/>
          <p:nvPr/>
        </p:nvSpPr>
        <p:spPr>
          <a:xfrm>
            <a:off x="955547" y="3611880"/>
            <a:ext cx="278892" cy="278892"/>
          </a:xfrm>
          <a:prstGeom prst="rect">
            <a:avLst/>
          </a:prstGeom>
          <a:solidFill>
            <a:srgbClr val="B453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4" name="Rectangle 153"/>
          <p:cNvSpPr/>
          <p:nvPr/>
        </p:nvSpPr>
        <p:spPr>
          <a:xfrm>
            <a:off x="1252728" y="3611880"/>
            <a:ext cx="278892" cy="278892"/>
          </a:xfrm>
          <a:prstGeom prst="rect">
            <a:avLst/>
          </a:prstGeom>
          <a:solidFill>
            <a:srgbClr val="B453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5" name="Rectangle 154"/>
          <p:cNvSpPr/>
          <p:nvPr/>
        </p:nvSpPr>
        <p:spPr>
          <a:xfrm>
            <a:off x="1549908" y="3611880"/>
            <a:ext cx="278892" cy="278892"/>
          </a:xfrm>
          <a:prstGeom prst="rect">
            <a:avLst/>
          </a:prstGeom>
          <a:solidFill>
            <a:srgbClr val="B453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6" name="Rectangle 155"/>
          <p:cNvSpPr/>
          <p:nvPr/>
        </p:nvSpPr>
        <p:spPr>
          <a:xfrm>
            <a:off x="1847088" y="3611880"/>
            <a:ext cx="278892" cy="278892"/>
          </a:xfrm>
          <a:prstGeom prst="rect">
            <a:avLst/>
          </a:prstGeom>
          <a:solidFill>
            <a:srgbClr val="B453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7" name="Rectangle 156"/>
          <p:cNvSpPr/>
          <p:nvPr/>
        </p:nvSpPr>
        <p:spPr>
          <a:xfrm>
            <a:off x="2144268" y="3611880"/>
            <a:ext cx="278892" cy="278892"/>
          </a:xfrm>
          <a:prstGeom prst="rect">
            <a:avLst/>
          </a:prstGeom>
          <a:solidFill>
            <a:srgbClr val="B453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8" name="Rectangle 157"/>
          <p:cNvSpPr/>
          <p:nvPr/>
        </p:nvSpPr>
        <p:spPr>
          <a:xfrm>
            <a:off x="2441448" y="3611880"/>
            <a:ext cx="278892" cy="278892"/>
          </a:xfrm>
          <a:prstGeom prst="rect">
            <a:avLst/>
          </a:prstGeom>
          <a:solidFill>
            <a:srgbClr val="9A6E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9" name="Rectangle 158"/>
          <p:cNvSpPr/>
          <p:nvPr/>
        </p:nvSpPr>
        <p:spPr>
          <a:xfrm>
            <a:off x="2738628" y="3611880"/>
            <a:ext cx="278892" cy="278892"/>
          </a:xfrm>
          <a:prstGeom prst="rect">
            <a:avLst/>
          </a:prstGeom>
          <a:solidFill>
            <a:srgbClr val="B453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Rectangle 159"/>
          <p:cNvSpPr/>
          <p:nvPr/>
        </p:nvSpPr>
        <p:spPr>
          <a:xfrm>
            <a:off x="3035808" y="3611880"/>
            <a:ext cx="278892" cy="278892"/>
          </a:xfrm>
          <a:prstGeom prst="rect">
            <a:avLst/>
          </a:prstGeom>
          <a:solidFill>
            <a:srgbClr val="B453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1" name="Rectangle 160"/>
          <p:cNvSpPr/>
          <p:nvPr/>
        </p:nvSpPr>
        <p:spPr>
          <a:xfrm>
            <a:off x="3332988" y="3611880"/>
            <a:ext cx="278892" cy="278892"/>
          </a:xfrm>
          <a:prstGeom prst="rect">
            <a:avLst/>
          </a:prstGeom>
          <a:solidFill>
            <a:srgbClr val="9A6E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2" name="Rectangle 161"/>
          <p:cNvSpPr/>
          <p:nvPr/>
        </p:nvSpPr>
        <p:spPr>
          <a:xfrm>
            <a:off x="3630168" y="3611880"/>
            <a:ext cx="278892" cy="278892"/>
          </a:xfrm>
          <a:prstGeom prst="rect">
            <a:avLst/>
          </a:prstGeom>
          <a:solidFill>
            <a:srgbClr val="9A6E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3" name="Rectangle 162"/>
          <p:cNvSpPr/>
          <p:nvPr/>
        </p:nvSpPr>
        <p:spPr>
          <a:xfrm>
            <a:off x="3927348" y="3611880"/>
            <a:ext cx="278892" cy="278892"/>
          </a:xfrm>
          <a:prstGeom prst="rect">
            <a:avLst/>
          </a:prstGeom>
          <a:solidFill>
            <a:srgbClr val="9A6E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4" name="Rectangle 163"/>
          <p:cNvSpPr/>
          <p:nvPr/>
        </p:nvSpPr>
        <p:spPr>
          <a:xfrm>
            <a:off x="4224528" y="3611880"/>
            <a:ext cx="278892" cy="278892"/>
          </a:xfrm>
          <a:prstGeom prst="rect">
            <a:avLst/>
          </a:prstGeom>
          <a:solidFill>
            <a:srgbClr val="9A6E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5" name="Rectangle 164"/>
          <p:cNvSpPr/>
          <p:nvPr/>
        </p:nvSpPr>
        <p:spPr>
          <a:xfrm>
            <a:off x="4521708" y="3611880"/>
            <a:ext cx="278892" cy="278892"/>
          </a:xfrm>
          <a:prstGeom prst="rect">
            <a:avLst/>
          </a:prstGeom>
          <a:solidFill>
            <a:srgbClr val="9A6E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Rectangle 165"/>
          <p:cNvSpPr/>
          <p:nvPr/>
        </p:nvSpPr>
        <p:spPr>
          <a:xfrm>
            <a:off x="4818888" y="3611880"/>
            <a:ext cx="278892" cy="278892"/>
          </a:xfrm>
          <a:prstGeom prst="rect">
            <a:avLst/>
          </a:prstGeom>
          <a:solidFill>
            <a:srgbClr val="9A6E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7" name="Rectangle 166"/>
          <p:cNvSpPr/>
          <p:nvPr/>
        </p:nvSpPr>
        <p:spPr>
          <a:xfrm>
            <a:off x="5116068" y="3611880"/>
            <a:ext cx="278892" cy="278892"/>
          </a:xfrm>
          <a:prstGeom prst="rect">
            <a:avLst/>
          </a:prstGeom>
          <a:solidFill>
            <a:srgbClr val="3E5C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8" name="Rectangle 167"/>
          <p:cNvSpPr/>
          <p:nvPr/>
        </p:nvSpPr>
        <p:spPr>
          <a:xfrm>
            <a:off x="5413248" y="3611880"/>
            <a:ext cx="278892" cy="278892"/>
          </a:xfrm>
          <a:prstGeom prst="rect">
            <a:avLst/>
          </a:prstGeom>
          <a:solidFill>
            <a:srgbClr val="3E5C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9" name="Rectangle 168"/>
          <p:cNvSpPr/>
          <p:nvPr/>
        </p:nvSpPr>
        <p:spPr>
          <a:xfrm>
            <a:off x="5710428" y="3611880"/>
            <a:ext cx="278892" cy="278892"/>
          </a:xfrm>
          <a:prstGeom prst="rect">
            <a:avLst/>
          </a:prstGeom>
          <a:solidFill>
            <a:srgbClr val="3E5C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Rectangle 169"/>
          <p:cNvSpPr/>
          <p:nvPr/>
        </p:nvSpPr>
        <p:spPr>
          <a:xfrm>
            <a:off x="6007608" y="3611880"/>
            <a:ext cx="278892" cy="278892"/>
          </a:xfrm>
          <a:prstGeom prst="rect">
            <a:avLst/>
          </a:prstGeom>
          <a:solidFill>
            <a:srgbClr val="3E5C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1" name="Rectangle 170"/>
          <p:cNvSpPr/>
          <p:nvPr/>
        </p:nvSpPr>
        <p:spPr>
          <a:xfrm>
            <a:off x="6304788" y="3611880"/>
            <a:ext cx="278892" cy="278892"/>
          </a:xfrm>
          <a:prstGeom prst="rect">
            <a:avLst/>
          </a:prstGeom>
          <a:solidFill>
            <a:srgbClr val="3E5C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Rectangle 171"/>
          <p:cNvSpPr/>
          <p:nvPr/>
        </p:nvSpPr>
        <p:spPr>
          <a:xfrm>
            <a:off x="6601968" y="3611880"/>
            <a:ext cx="278892" cy="278892"/>
          </a:xfrm>
          <a:prstGeom prst="rect">
            <a:avLst/>
          </a:prstGeom>
          <a:solidFill>
            <a:srgbClr val="3E5C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3" name="Rectangle 172"/>
          <p:cNvSpPr/>
          <p:nvPr/>
        </p:nvSpPr>
        <p:spPr>
          <a:xfrm>
            <a:off x="6899148" y="3611880"/>
            <a:ext cx="278892" cy="278892"/>
          </a:xfrm>
          <a:prstGeom prst="rect">
            <a:avLst/>
          </a:prstGeom>
          <a:solidFill>
            <a:srgbClr val="3E5C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" name="Rectangle 173"/>
          <p:cNvSpPr/>
          <p:nvPr/>
        </p:nvSpPr>
        <p:spPr>
          <a:xfrm>
            <a:off x="7196328" y="3611880"/>
            <a:ext cx="278892" cy="278892"/>
          </a:xfrm>
          <a:prstGeom prst="rect">
            <a:avLst/>
          </a:prstGeom>
          <a:solidFill>
            <a:srgbClr val="3E5C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5" name="Rectangle 174"/>
          <p:cNvSpPr/>
          <p:nvPr/>
        </p:nvSpPr>
        <p:spPr>
          <a:xfrm>
            <a:off x="7493508" y="3611880"/>
            <a:ext cx="278892" cy="278892"/>
          </a:xfrm>
          <a:prstGeom prst="rect">
            <a:avLst/>
          </a:prstGeom>
          <a:solidFill>
            <a:srgbClr val="3E5C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6" name="Rectangle 175"/>
          <p:cNvSpPr/>
          <p:nvPr/>
        </p:nvSpPr>
        <p:spPr>
          <a:xfrm>
            <a:off x="658368" y="3909060"/>
            <a:ext cx="278892" cy="278892"/>
          </a:xfrm>
          <a:prstGeom prst="rect">
            <a:avLst/>
          </a:prstGeom>
          <a:solidFill>
            <a:srgbClr val="B453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7" name="Rectangle 176"/>
          <p:cNvSpPr/>
          <p:nvPr/>
        </p:nvSpPr>
        <p:spPr>
          <a:xfrm>
            <a:off x="955547" y="3909060"/>
            <a:ext cx="278892" cy="278892"/>
          </a:xfrm>
          <a:prstGeom prst="rect">
            <a:avLst/>
          </a:prstGeom>
          <a:solidFill>
            <a:srgbClr val="B453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8" name="Rectangle 177"/>
          <p:cNvSpPr/>
          <p:nvPr/>
        </p:nvSpPr>
        <p:spPr>
          <a:xfrm>
            <a:off x="1252728" y="3909060"/>
            <a:ext cx="278892" cy="278892"/>
          </a:xfrm>
          <a:prstGeom prst="rect">
            <a:avLst/>
          </a:prstGeom>
          <a:solidFill>
            <a:srgbClr val="B453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9" name="Rectangle 178"/>
          <p:cNvSpPr/>
          <p:nvPr/>
        </p:nvSpPr>
        <p:spPr>
          <a:xfrm>
            <a:off x="1549908" y="3909060"/>
            <a:ext cx="278892" cy="278892"/>
          </a:xfrm>
          <a:prstGeom prst="rect">
            <a:avLst/>
          </a:prstGeom>
          <a:solidFill>
            <a:srgbClr val="B453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0" name="Rectangle 179"/>
          <p:cNvSpPr/>
          <p:nvPr/>
        </p:nvSpPr>
        <p:spPr>
          <a:xfrm>
            <a:off x="1847088" y="3909060"/>
            <a:ext cx="278892" cy="278892"/>
          </a:xfrm>
          <a:prstGeom prst="rect">
            <a:avLst/>
          </a:prstGeom>
          <a:solidFill>
            <a:srgbClr val="B453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1" name="Rectangle 180"/>
          <p:cNvSpPr/>
          <p:nvPr/>
        </p:nvSpPr>
        <p:spPr>
          <a:xfrm>
            <a:off x="2144268" y="3909060"/>
            <a:ext cx="278892" cy="278892"/>
          </a:xfrm>
          <a:prstGeom prst="rect">
            <a:avLst/>
          </a:prstGeom>
          <a:solidFill>
            <a:srgbClr val="B453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2" name="Rectangle 181"/>
          <p:cNvSpPr/>
          <p:nvPr/>
        </p:nvSpPr>
        <p:spPr>
          <a:xfrm>
            <a:off x="2441448" y="3909060"/>
            <a:ext cx="278892" cy="278892"/>
          </a:xfrm>
          <a:prstGeom prst="rect">
            <a:avLst/>
          </a:prstGeom>
          <a:solidFill>
            <a:srgbClr val="9A6E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3" name="Rectangle 182"/>
          <p:cNvSpPr/>
          <p:nvPr/>
        </p:nvSpPr>
        <p:spPr>
          <a:xfrm>
            <a:off x="2738628" y="3909060"/>
            <a:ext cx="278892" cy="278892"/>
          </a:xfrm>
          <a:prstGeom prst="rect">
            <a:avLst/>
          </a:prstGeom>
          <a:solidFill>
            <a:srgbClr val="9A6E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4" name="Rectangle 183"/>
          <p:cNvSpPr/>
          <p:nvPr/>
        </p:nvSpPr>
        <p:spPr>
          <a:xfrm>
            <a:off x="3035808" y="3909060"/>
            <a:ext cx="278892" cy="278892"/>
          </a:xfrm>
          <a:prstGeom prst="rect">
            <a:avLst/>
          </a:prstGeom>
          <a:solidFill>
            <a:srgbClr val="B453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5" name="Rectangle 184"/>
          <p:cNvSpPr/>
          <p:nvPr/>
        </p:nvSpPr>
        <p:spPr>
          <a:xfrm>
            <a:off x="3332988" y="3909060"/>
            <a:ext cx="278892" cy="278892"/>
          </a:xfrm>
          <a:prstGeom prst="rect">
            <a:avLst/>
          </a:prstGeom>
          <a:solidFill>
            <a:srgbClr val="9A6E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6" name="Rectangle 185"/>
          <p:cNvSpPr/>
          <p:nvPr/>
        </p:nvSpPr>
        <p:spPr>
          <a:xfrm>
            <a:off x="3630168" y="3909060"/>
            <a:ext cx="278892" cy="278892"/>
          </a:xfrm>
          <a:prstGeom prst="rect">
            <a:avLst/>
          </a:prstGeom>
          <a:solidFill>
            <a:srgbClr val="9A6E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7" name="Rectangle 186"/>
          <p:cNvSpPr/>
          <p:nvPr/>
        </p:nvSpPr>
        <p:spPr>
          <a:xfrm>
            <a:off x="3927348" y="3909060"/>
            <a:ext cx="278892" cy="278892"/>
          </a:xfrm>
          <a:prstGeom prst="rect">
            <a:avLst/>
          </a:prstGeom>
          <a:solidFill>
            <a:srgbClr val="B453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8" name="Rectangle 187"/>
          <p:cNvSpPr/>
          <p:nvPr/>
        </p:nvSpPr>
        <p:spPr>
          <a:xfrm>
            <a:off x="4224528" y="3909060"/>
            <a:ext cx="278892" cy="278892"/>
          </a:xfrm>
          <a:prstGeom prst="rect">
            <a:avLst/>
          </a:prstGeom>
          <a:solidFill>
            <a:srgbClr val="9A6E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9" name="Rectangle 188"/>
          <p:cNvSpPr/>
          <p:nvPr/>
        </p:nvSpPr>
        <p:spPr>
          <a:xfrm>
            <a:off x="4521708" y="3909060"/>
            <a:ext cx="278892" cy="278892"/>
          </a:xfrm>
          <a:prstGeom prst="rect">
            <a:avLst/>
          </a:prstGeom>
          <a:solidFill>
            <a:srgbClr val="9A6E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0" name="Rectangle 189"/>
          <p:cNvSpPr/>
          <p:nvPr/>
        </p:nvSpPr>
        <p:spPr>
          <a:xfrm>
            <a:off x="4818888" y="3909060"/>
            <a:ext cx="278892" cy="278892"/>
          </a:xfrm>
          <a:prstGeom prst="rect">
            <a:avLst/>
          </a:prstGeom>
          <a:solidFill>
            <a:srgbClr val="9A6E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1" name="Rectangle 190"/>
          <p:cNvSpPr/>
          <p:nvPr/>
        </p:nvSpPr>
        <p:spPr>
          <a:xfrm>
            <a:off x="5116068" y="3909060"/>
            <a:ext cx="278892" cy="278892"/>
          </a:xfrm>
          <a:prstGeom prst="rect">
            <a:avLst/>
          </a:prstGeom>
          <a:solidFill>
            <a:srgbClr val="3E5C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2" name="Rectangle 191"/>
          <p:cNvSpPr/>
          <p:nvPr/>
        </p:nvSpPr>
        <p:spPr>
          <a:xfrm>
            <a:off x="5413248" y="3909060"/>
            <a:ext cx="278892" cy="278892"/>
          </a:xfrm>
          <a:prstGeom prst="rect">
            <a:avLst/>
          </a:prstGeom>
          <a:solidFill>
            <a:srgbClr val="3E5C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3" name="Rectangle 192"/>
          <p:cNvSpPr/>
          <p:nvPr/>
        </p:nvSpPr>
        <p:spPr>
          <a:xfrm>
            <a:off x="5710428" y="3909060"/>
            <a:ext cx="278892" cy="278892"/>
          </a:xfrm>
          <a:prstGeom prst="rect">
            <a:avLst/>
          </a:prstGeom>
          <a:solidFill>
            <a:srgbClr val="3E5C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4" name="Rectangle 193"/>
          <p:cNvSpPr/>
          <p:nvPr/>
        </p:nvSpPr>
        <p:spPr>
          <a:xfrm>
            <a:off x="6007608" y="3909060"/>
            <a:ext cx="278892" cy="278892"/>
          </a:xfrm>
          <a:prstGeom prst="rect">
            <a:avLst/>
          </a:prstGeom>
          <a:solidFill>
            <a:srgbClr val="3E5C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5" name="Rectangle 194"/>
          <p:cNvSpPr/>
          <p:nvPr/>
        </p:nvSpPr>
        <p:spPr>
          <a:xfrm>
            <a:off x="6304788" y="3909060"/>
            <a:ext cx="278892" cy="278892"/>
          </a:xfrm>
          <a:prstGeom prst="rect">
            <a:avLst/>
          </a:prstGeom>
          <a:solidFill>
            <a:srgbClr val="3E5C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6" name="Rectangle 195"/>
          <p:cNvSpPr/>
          <p:nvPr/>
        </p:nvSpPr>
        <p:spPr>
          <a:xfrm>
            <a:off x="6601968" y="3909060"/>
            <a:ext cx="278892" cy="278892"/>
          </a:xfrm>
          <a:prstGeom prst="rect">
            <a:avLst/>
          </a:prstGeom>
          <a:solidFill>
            <a:srgbClr val="3E5C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7" name="Rectangle 196"/>
          <p:cNvSpPr/>
          <p:nvPr/>
        </p:nvSpPr>
        <p:spPr>
          <a:xfrm>
            <a:off x="6899148" y="3909060"/>
            <a:ext cx="278892" cy="278892"/>
          </a:xfrm>
          <a:prstGeom prst="rect">
            <a:avLst/>
          </a:prstGeom>
          <a:solidFill>
            <a:srgbClr val="3E5C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8" name="Rectangle 197"/>
          <p:cNvSpPr/>
          <p:nvPr/>
        </p:nvSpPr>
        <p:spPr>
          <a:xfrm>
            <a:off x="7196328" y="3909060"/>
            <a:ext cx="278892" cy="278892"/>
          </a:xfrm>
          <a:prstGeom prst="rect">
            <a:avLst/>
          </a:prstGeom>
          <a:solidFill>
            <a:srgbClr val="3E5C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9" name="Rectangle 198"/>
          <p:cNvSpPr/>
          <p:nvPr/>
        </p:nvSpPr>
        <p:spPr>
          <a:xfrm>
            <a:off x="7493508" y="3909060"/>
            <a:ext cx="278892" cy="278892"/>
          </a:xfrm>
          <a:prstGeom prst="rect">
            <a:avLst/>
          </a:prstGeom>
          <a:solidFill>
            <a:srgbClr val="3E5C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0" name="Rectangle 199"/>
          <p:cNvSpPr/>
          <p:nvPr/>
        </p:nvSpPr>
        <p:spPr>
          <a:xfrm>
            <a:off x="658368" y="4206240"/>
            <a:ext cx="278892" cy="278892"/>
          </a:xfrm>
          <a:prstGeom prst="rect">
            <a:avLst/>
          </a:prstGeom>
          <a:solidFill>
            <a:srgbClr val="B453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1" name="Rectangle 200"/>
          <p:cNvSpPr/>
          <p:nvPr/>
        </p:nvSpPr>
        <p:spPr>
          <a:xfrm>
            <a:off x="955547" y="4206240"/>
            <a:ext cx="278892" cy="278892"/>
          </a:xfrm>
          <a:prstGeom prst="rect">
            <a:avLst/>
          </a:prstGeom>
          <a:solidFill>
            <a:srgbClr val="B453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2" name="Rectangle 201"/>
          <p:cNvSpPr/>
          <p:nvPr/>
        </p:nvSpPr>
        <p:spPr>
          <a:xfrm>
            <a:off x="1252728" y="4206240"/>
            <a:ext cx="278892" cy="278892"/>
          </a:xfrm>
          <a:prstGeom prst="rect">
            <a:avLst/>
          </a:prstGeom>
          <a:solidFill>
            <a:srgbClr val="B453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3" name="Rectangle 202"/>
          <p:cNvSpPr/>
          <p:nvPr/>
        </p:nvSpPr>
        <p:spPr>
          <a:xfrm>
            <a:off x="1549908" y="4206240"/>
            <a:ext cx="278892" cy="278892"/>
          </a:xfrm>
          <a:prstGeom prst="rect">
            <a:avLst/>
          </a:prstGeom>
          <a:solidFill>
            <a:srgbClr val="B453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4" name="Rectangle 203"/>
          <p:cNvSpPr/>
          <p:nvPr/>
        </p:nvSpPr>
        <p:spPr>
          <a:xfrm>
            <a:off x="1847088" y="4206240"/>
            <a:ext cx="278892" cy="278892"/>
          </a:xfrm>
          <a:prstGeom prst="rect">
            <a:avLst/>
          </a:prstGeom>
          <a:solidFill>
            <a:srgbClr val="B453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5" name="Rectangle 204"/>
          <p:cNvSpPr/>
          <p:nvPr/>
        </p:nvSpPr>
        <p:spPr>
          <a:xfrm>
            <a:off x="2144268" y="4206240"/>
            <a:ext cx="278892" cy="278892"/>
          </a:xfrm>
          <a:prstGeom prst="rect">
            <a:avLst/>
          </a:prstGeom>
          <a:solidFill>
            <a:srgbClr val="B453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6" name="Rectangle 205"/>
          <p:cNvSpPr/>
          <p:nvPr/>
        </p:nvSpPr>
        <p:spPr>
          <a:xfrm>
            <a:off x="2441448" y="4206240"/>
            <a:ext cx="278892" cy="278892"/>
          </a:xfrm>
          <a:prstGeom prst="rect">
            <a:avLst/>
          </a:prstGeom>
          <a:solidFill>
            <a:srgbClr val="B453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7" name="Rectangle 206"/>
          <p:cNvSpPr/>
          <p:nvPr/>
        </p:nvSpPr>
        <p:spPr>
          <a:xfrm>
            <a:off x="2738628" y="4206240"/>
            <a:ext cx="278892" cy="278892"/>
          </a:xfrm>
          <a:prstGeom prst="rect">
            <a:avLst/>
          </a:prstGeom>
          <a:solidFill>
            <a:srgbClr val="9A6E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8" name="Rectangle 207"/>
          <p:cNvSpPr/>
          <p:nvPr/>
        </p:nvSpPr>
        <p:spPr>
          <a:xfrm>
            <a:off x="3035808" y="4206240"/>
            <a:ext cx="278892" cy="278892"/>
          </a:xfrm>
          <a:prstGeom prst="rect">
            <a:avLst/>
          </a:prstGeom>
          <a:solidFill>
            <a:srgbClr val="B453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9" name="Rectangle 208"/>
          <p:cNvSpPr/>
          <p:nvPr/>
        </p:nvSpPr>
        <p:spPr>
          <a:xfrm>
            <a:off x="3332988" y="4206240"/>
            <a:ext cx="278892" cy="278892"/>
          </a:xfrm>
          <a:prstGeom prst="rect">
            <a:avLst/>
          </a:prstGeom>
          <a:solidFill>
            <a:srgbClr val="9A6E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0" name="Rectangle 209"/>
          <p:cNvSpPr/>
          <p:nvPr/>
        </p:nvSpPr>
        <p:spPr>
          <a:xfrm>
            <a:off x="3630168" y="4206240"/>
            <a:ext cx="278892" cy="278892"/>
          </a:xfrm>
          <a:prstGeom prst="rect">
            <a:avLst/>
          </a:prstGeom>
          <a:solidFill>
            <a:srgbClr val="9A6E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1" name="Rectangle 210"/>
          <p:cNvSpPr/>
          <p:nvPr/>
        </p:nvSpPr>
        <p:spPr>
          <a:xfrm>
            <a:off x="3927348" y="4206240"/>
            <a:ext cx="278892" cy="278892"/>
          </a:xfrm>
          <a:prstGeom prst="rect">
            <a:avLst/>
          </a:prstGeom>
          <a:solidFill>
            <a:srgbClr val="9A6E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2" name="Rectangle 211"/>
          <p:cNvSpPr/>
          <p:nvPr/>
        </p:nvSpPr>
        <p:spPr>
          <a:xfrm>
            <a:off x="4224528" y="4206240"/>
            <a:ext cx="278892" cy="278892"/>
          </a:xfrm>
          <a:prstGeom prst="rect">
            <a:avLst/>
          </a:prstGeom>
          <a:solidFill>
            <a:srgbClr val="9A6E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3" name="Rectangle 212"/>
          <p:cNvSpPr/>
          <p:nvPr/>
        </p:nvSpPr>
        <p:spPr>
          <a:xfrm>
            <a:off x="4521708" y="4206240"/>
            <a:ext cx="278892" cy="278892"/>
          </a:xfrm>
          <a:prstGeom prst="rect">
            <a:avLst/>
          </a:prstGeom>
          <a:solidFill>
            <a:srgbClr val="9A6E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4" name="Rectangle 213"/>
          <p:cNvSpPr/>
          <p:nvPr/>
        </p:nvSpPr>
        <p:spPr>
          <a:xfrm>
            <a:off x="4818888" y="4206240"/>
            <a:ext cx="278892" cy="278892"/>
          </a:xfrm>
          <a:prstGeom prst="rect">
            <a:avLst/>
          </a:prstGeom>
          <a:solidFill>
            <a:srgbClr val="9A6E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5" name="Rectangle 214"/>
          <p:cNvSpPr/>
          <p:nvPr/>
        </p:nvSpPr>
        <p:spPr>
          <a:xfrm>
            <a:off x="5116068" y="4206240"/>
            <a:ext cx="278892" cy="278892"/>
          </a:xfrm>
          <a:prstGeom prst="rect">
            <a:avLst/>
          </a:prstGeom>
          <a:solidFill>
            <a:srgbClr val="3E5C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6" name="Rectangle 215"/>
          <p:cNvSpPr/>
          <p:nvPr/>
        </p:nvSpPr>
        <p:spPr>
          <a:xfrm>
            <a:off x="5413248" y="4206240"/>
            <a:ext cx="278892" cy="278892"/>
          </a:xfrm>
          <a:prstGeom prst="rect">
            <a:avLst/>
          </a:prstGeom>
          <a:solidFill>
            <a:srgbClr val="9A6E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7" name="Rectangle 216"/>
          <p:cNvSpPr/>
          <p:nvPr/>
        </p:nvSpPr>
        <p:spPr>
          <a:xfrm>
            <a:off x="5710428" y="4206240"/>
            <a:ext cx="278892" cy="278892"/>
          </a:xfrm>
          <a:prstGeom prst="rect">
            <a:avLst/>
          </a:prstGeom>
          <a:solidFill>
            <a:srgbClr val="3E5C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8" name="Rectangle 217"/>
          <p:cNvSpPr/>
          <p:nvPr/>
        </p:nvSpPr>
        <p:spPr>
          <a:xfrm>
            <a:off x="6007608" y="4206240"/>
            <a:ext cx="278892" cy="278892"/>
          </a:xfrm>
          <a:prstGeom prst="rect">
            <a:avLst/>
          </a:prstGeom>
          <a:solidFill>
            <a:srgbClr val="3E5C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9" name="Rectangle 218"/>
          <p:cNvSpPr/>
          <p:nvPr/>
        </p:nvSpPr>
        <p:spPr>
          <a:xfrm>
            <a:off x="6304788" y="4206240"/>
            <a:ext cx="278892" cy="278892"/>
          </a:xfrm>
          <a:prstGeom prst="rect">
            <a:avLst/>
          </a:prstGeom>
          <a:solidFill>
            <a:srgbClr val="3E5C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0" name="Rectangle 219"/>
          <p:cNvSpPr/>
          <p:nvPr/>
        </p:nvSpPr>
        <p:spPr>
          <a:xfrm>
            <a:off x="6601968" y="4206240"/>
            <a:ext cx="278892" cy="278892"/>
          </a:xfrm>
          <a:prstGeom prst="rect">
            <a:avLst/>
          </a:prstGeom>
          <a:solidFill>
            <a:srgbClr val="3E5C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1" name="Rectangle 220"/>
          <p:cNvSpPr/>
          <p:nvPr/>
        </p:nvSpPr>
        <p:spPr>
          <a:xfrm>
            <a:off x="6899148" y="4206240"/>
            <a:ext cx="278892" cy="278892"/>
          </a:xfrm>
          <a:prstGeom prst="rect">
            <a:avLst/>
          </a:prstGeom>
          <a:solidFill>
            <a:srgbClr val="3E5C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2" name="Rectangle 221"/>
          <p:cNvSpPr/>
          <p:nvPr/>
        </p:nvSpPr>
        <p:spPr>
          <a:xfrm>
            <a:off x="7196328" y="4206240"/>
            <a:ext cx="278892" cy="278892"/>
          </a:xfrm>
          <a:prstGeom prst="rect">
            <a:avLst/>
          </a:prstGeom>
          <a:solidFill>
            <a:srgbClr val="3E5C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3" name="Rectangle 222"/>
          <p:cNvSpPr/>
          <p:nvPr/>
        </p:nvSpPr>
        <p:spPr>
          <a:xfrm>
            <a:off x="7493508" y="4206240"/>
            <a:ext cx="278892" cy="278892"/>
          </a:xfrm>
          <a:prstGeom prst="rect">
            <a:avLst/>
          </a:prstGeom>
          <a:solidFill>
            <a:srgbClr val="3E5C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4" name="Rectangle 223"/>
          <p:cNvSpPr/>
          <p:nvPr/>
        </p:nvSpPr>
        <p:spPr>
          <a:xfrm>
            <a:off x="658368" y="4503420"/>
            <a:ext cx="278892" cy="278892"/>
          </a:xfrm>
          <a:prstGeom prst="rect">
            <a:avLst/>
          </a:prstGeom>
          <a:solidFill>
            <a:srgbClr val="B453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5" name="Rectangle 224"/>
          <p:cNvSpPr/>
          <p:nvPr/>
        </p:nvSpPr>
        <p:spPr>
          <a:xfrm>
            <a:off x="955547" y="4503420"/>
            <a:ext cx="278892" cy="278892"/>
          </a:xfrm>
          <a:prstGeom prst="rect">
            <a:avLst/>
          </a:prstGeom>
          <a:solidFill>
            <a:srgbClr val="B453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6" name="Rectangle 225"/>
          <p:cNvSpPr/>
          <p:nvPr/>
        </p:nvSpPr>
        <p:spPr>
          <a:xfrm>
            <a:off x="1252728" y="4503420"/>
            <a:ext cx="278892" cy="278892"/>
          </a:xfrm>
          <a:prstGeom prst="rect">
            <a:avLst/>
          </a:prstGeom>
          <a:solidFill>
            <a:srgbClr val="B453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7" name="Rectangle 226"/>
          <p:cNvSpPr/>
          <p:nvPr/>
        </p:nvSpPr>
        <p:spPr>
          <a:xfrm>
            <a:off x="1549908" y="4503420"/>
            <a:ext cx="278892" cy="278892"/>
          </a:xfrm>
          <a:prstGeom prst="rect">
            <a:avLst/>
          </a:prstGeom>
          <a:solidFill>
            <a:srgbClr val="B453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8" name="Rectangle 227"/>
          <p:cNvSpPr/>
          <p:nvPr/>
        </p:nvSpPr>
        <p:spPr>
          <a:xfrm>
            <a:off x="1847088" y="4503420"/>
            <a:ext cx="278892" cy="278892"/>
          </a:xfrm>
          <a:prstGeom prst="rect">
            <a:avLst/>
          </a:prstGeom>
          <a:solidFill>
            <a:srgbClr val="B453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9" name="Rectangle 228"/>
          <p:cNvSpPr/>
          <p:nvPr/>
        </p:nvSpPr>
        <p:spPr>
          <a:xfrm>
            <a:off x="2144268" y="4503420"/>
            <a:ext cx="278892" cy="278892"/>
          </a:xfrm>
          <a:prstGeom prst="rect">
            <a:avLst/>
          </a:prstGeom>
          <a:solidFill>
            <a:srgbClr val="B453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0" name="Rectangle 229"/>
          <p:cNvSpPr/>
          <p:nvPr/>
        </p:nvSpPr>
        <p:spPr>
          <a:xfrm>
            <a:off x="2441448" y="4503420"/>
            <a:ext cx="278892" cy="278892"/>
          </a:xfrm>
          <a:prstGeom prst="rect">
            <a:avLst/>
          </a:prstGeom>
          <a:solidFill>
            <a:srgbClr val="9A6E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1" name="Rectangle 230"/>
          <p:cNvSpPr/>
          <p:nvPr/>
        </p:nvSpPr>
        <p:spPr>
          <a:xfrm>
            <a:off x="2738628" y="4503420"/>
            <a:ext cx="278892" cy="278892"/>
          </a:xfrm>
          <a:prstGeom prst="rect">
            <a:avLst/>
          </a:prstGeom>
          <a:solidFill>
            <a:srgbClr val="9A6E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2" name="Rectangle 231"/>
          <p:cNvSpPr/>
          <p:nvPr/>
        </p:nvSpPr>
        <p:spPr>
          <a:xfrm>
            <a:off x="3035808" y="4503420"/>
            <a:ext cx="278892" cy="278892"/>
          </a:xfrm>
          <a:prstGeom prst="rect">
            <a:avLst/>
          </a:prstGeom>
          <a:solidFill>
            <a:srgbClr val="B453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3" name="Rectangle 232"/>
          <p:cNvSpPr/>
          <p:nvPr/>
        </p:nvSpPr>
        <p:spPr>
          <a:xfrm>
            <a:off x="3332988" y="4503420"/>
            <a:ext cx="278892" cy="278892"/>
          </a:xfrm>
          <a:prstGeom prst="rect">
            <a:avLst/>
          </a:prstGeom>
          <a:solidFill>
            <a:srgbClr val="9A6E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4" name="Rectangle 233"/>
          <p:cNvSpPr/>
          <p:nvPr/>
        </p:nvSpPr>
        <p:spPr>
          <a:xfrm>
            <a:off x="3630168" y="4503420"/>
            <a:ext cx="278892" cy="278892"/>
          </a:xfrm>
          <a:prstGeom prst="rect">
            <a:avLst/>
          </a:prstGeom>
          <a:solidFill>
            <a:srgbClr val="B453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5" name="Rectangle 234"/>
          <p:cNvSpPr/>
          <p:nvPr/>
        </p:nvSpPr>
        <p:spPr>
          <a:xfrm>
            <a:off x="3927348" y="4503420"/>
            <a:ext cx="278892" cy="278892"/>
          </a:xfrm>
          <a:prstGeom prst="rect">
            <a:avLst/>
          </a:prstGeom>
          <a:solidFill>
            <a:srgbClr val="B453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6" name="Rectangle 235"/>
          <p:cNvSpPr/>
          <p:nvPr/>
        </p:nvSpPr>
        <p:spPr>
          <a:xfrm>
            <a:off x="4224528" y="4503420"/>
            <a:ext cx="278892" cy="278892"/>
          </a:xfrm>
          <a:prstGeom prst="rect">
            <a:avLst/>
          </a:prstGeom>
          <a:solidFill>
            <a:srgbClr val="3E5C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7" name="Rectangle 236"/>
          <p:cNvSpPr/>
          <p:nvPr/>
        </p:nvSpPr>
        <p:spPr>
          <a:xfrm>
            <a:off x="4521708" y="4503420"/>
            <a:ext cx="278892" cy="278892"/>
          </a:xfrm>
          <a:prstGeom prst="rect">
            <a:avLst/>
          </a:prstGeom>
          <a:solidFill>
            <a:srgbClr val="9A6E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8" name="Rectangle 237"/>
          <p:cNvSpPr/>
          <p:nvPr/>
        </p:nvSpPr>
        <p:spPr>
          <a:xfrm>
            <a:off x="4818888" y="4503420"/>
            <a:ext cx="278892" cy="278892"/>
          </a:xfrm>
          <a:prstGeom prst="rect">
            <a:avLst/>
          </a:prstGeom>
          <a:solidFill>
            <a:srgbClr val="9A6E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9" name="Rectangle 238"/>
          <p:cNvSpPr/>
          <p:nvPr/>
        </p:nvSpPr>
        <p:spPr>
          <a:xfrm>
            <a:off x="5116068" y="4503420"/>
            <a:ext cx="278892" cy="278892"/>
          </a:xfrm>
          <a:prstGeom prst="rect">
            <a:avLst/>
          </a:prstGeom>
          <a:solidFill>
            <a:srgbClr val="3E5C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0" name="Rectangle 239"/>
          <p:cNvSpPr/>
          <p:nvPr/>
        </p:nvSpPr>
        <p:spPr>
          <a:xfrm>
            <a:off x="5413248" y="4503420"/>
            <a:ext cx="278892" cy="278892"/>
          </a:xfrm>
          <a:prstGeom prst="rect">
            <a:avLst/>
          </a:prstGeom>
          <a:solidFill>
            <a:srgbClr val="3E5C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1" name="Rectangle 240"/>
          <p:cNvSpPr/>
          <p:nvPr/>
        </p:nvSpPr>
        <p:spPr>
          <a:xfrm>
            <a:off x="5710428" y="4503420"/>
            <a:ext cx="278892" cy="278892"/>
          </a:xfrm>
          <a:prstGeom prst="rect">
            <a:avLst/>
          </a:prstGeom>
          <a:solidFill>
            <a:srgbClr val="3E5C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2" name="Rectangle 241"/>
          <p:cNvSpPr/>
          <p:nvPr/>
        </p:nvSpPr>
        <p:spPr>
          <a:xfrm>
            <a:off x="6007608" y="4503420"/>
            <a:ext cx="278892" cy="278892"/>
          </a:xfrm>
          <a:prstGeom prst="rect">
            <a:avLst/>
          </a:prstGeom>
          <a:solidFill>
            <a:srgbClr val="3E5C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3" name="Rectangle 242"/>
          <p:cNvSpPr/>
          <p:nvPr/>
        </p:nvSpPr>
        <p:spPr>
          <a:xfrm>
            <a:off x="6304788" y="4503420"/>
            <a:ext cx="278892" cy="278892"/>
          </a:xfrm>
          <a:prstGeom prst="rect">
            <a:avLst/>
          </a:prstGeom>
          <a:solidFill>
            <a:srgbClr val="3E5C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4" name="Rectangle 243"/>
          <p:cNvSpPr/>
          <p:nvPr/>
        </p:nvSpPr>
        <p:spPr>
          <a:xfrm>
            <a:off x="6601968" y="4503420"/>
            <a:ext cx="278892" cy="278892"/>
          </a:xfrm>
          <a:prstGeom prst="rect">
            <a:avLst/>
          </a:prstGeom>
          <a:solidFill>
            <a:srgbClr val="3E5C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5" name="Rectangle 244"/>
          <p:cNvSpPr/>
          <p:nvPr/>
        </p:nvSpPr>
        <p:spPr>
          <a:xfrm>
            <a:off x="6899148" y="4503420"/>
            <a:ext cx="278892" cy="278892"/>
          </a:xfrm>
          <a:prstGeom prst="rect">
            <a:avLst/>
          </a:prstGeom>
          <a:solidFill>
            <a:srgbClr val="3E5C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6" name="Rectangle 245"/>
          <p:cNvSpPr/>
          <p:nvPr/>
        </p:nvSpPr>
        <p:spPr>
          <a:xfrm>
            <a:off x="7196328" y="4503420"/>
            <a:ext cx="278892" cy="278892"/>
          </a:xfrm>
          <a:prstGeom prst="rect">
            <a:avLst/>
          </a:prstGeom>
          <a:solidFill>
            <a:srgbClr val="3E5C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7" name="Rectangle 246"/>
          <p:cNvSpPr/>
          <p:nvPr/>
        </p:nvSpPr>
        <p:spPr>
          <a:xfrm>
            <a:off x="7493508" y="4503420"/>
            <a:ext cx="278892" cy="278892"/>
          </a:xfrm>
          <a:prstGeom prst="rect">
            <a:avLst/>
          </a:prstGeom>
          <a:solidFill>
            <a:srgbClr val="3E5C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8" name="Rectangle 247"/>
          <p:cNvSpPr/>
          <p:nvPr/>
        </p:nvSpPr>
        <p:spPr>
          <a:xfrm>
            <a:off x="658368" y="4800600"/>
            <a:ext cx="278892" cy="278892"/>
          </a:xfrm>
          <a:prstGeom prst="rect">
            <a:avLst/>
          </a:prstGeom>
          <a:solidFill>
            <a:srgbClr val="B453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9" name="Rectangle 248"/>
          <p:cNvSpPr/>
          <p:nvPr/>
        </p:nvSpPr>
        <p:spPr>
          <a:xfrm>
            <a:off x="955547" y="4800600"/>
            <a:ext cx="278892" cy="278892"/>
          </a:xfrm>
          <a:prstGeom prst="rect">
            <a:avLst/>
          </a:prstGeom>
          <a:solidFill>
            <a:srgbClr val="B453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0" name="Rectangle 249"/>
          <p:cNvSpPr/>
          <p:nvPr/>
        </p:nvSpPr>
        <p:spPr>
          <a:xfrm>
            <a:off x="1252728" y="4800600"/>
            <a:ext cx="278892" cy="278892"/>
          </a:xfrm>
          <a:prstGeom prst="rect">
            <a:avLst/>
          </a:prstGeom>
          <a:solidFill>
            <a:srgbClr val="B453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1" name="Rectangle 250"/>
          <p:cNvSpPr/>
          <p:nvPr/>
        </p:nvSpPr>
        <p:spPr>
          <a:xfrm>
            <a:off x="1549908" y="4800600"/>
            <a:ext cx="278892" cy="278892"/>
          </a:xfrm>
          <a:prstGeom prst="rect">
            <a:avLst/>
          </a:prstGeom>
          <a:solidFill>
            <a:srgbClr val="B453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2" name="Rectangle 251"/>
          <p:cNvSpPr/>
          <p:nvPr/>
        </p:nvSpPr>
        <p:spPr>
          <a:xfrm>
            <a:off x="1847088" y="4800600"/>
            <a:ext cx="278892" cy="278892"/>
          </a:xfrm>
          <a:prstGeom prst="rect">
            <a:avLst/>
          </a:prstGeom>
          <a:solidFill>
            <a:srgbClr val="B453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3" name="Rectangle 252"/>
          <p:cNvSpPr/>
          <p:nvPr/>
        </p:nvSpPr>
        <p:spPr>
          <a:xfrm>
            <a:off x="2144268" y="4800600"/>
            <a:ext cx="278892" cy="278892"/>
          </a:xfrm>
          <a:prstGeom prst="rect">
            <a:avLst/>
          </a:prstGeom>
          <a:solidFill>
            <a:srgbClr val="B453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4" name="Rectangle 253"/>
          <p:cNvSpPr/>
          <p:nvPr/>
        </p:nvSpPr>
        <p:spPr>
          <a:xfrm>
            <a:off x="2441448" y="4800600"/>
            <a:ext cx="278892" cy="278892"/>
          </a:xfrm>
          <a:prstGeom prst="rect">
            <a:avLst/>
          </a:prstGeom>
          <a:solidFill>
            <a:srgbClr val="B453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5" name="Rectangle 254"/>
          <p:cNvSpPr/>
          <p:nvPr/>
        </p:nvSpPr>
        <p:spPr>
          <a:xfrm>
            <a:off x="2738628" y="4800600"/>
            <a:ext cx="278892" cy="278892"/>
          </a:xfrm>
          <a:prstGeom prst="rect">
            <a:avLst/>
          </a:prstGeom>
          <a:solidFill>
            <a:srgbClr val="9A6E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6" name="Rectangle 255"/>
          <p:cNvSpPr/>
          <p:nvPr/>
        </p:nvSpPr>
        <p:spPr>
          <a:xfrm>
            <a:off x="3035808" y="4800600"/>
            <a:ext cx="278892" cy="278892"/>
          </a:xfrm>
          <a:prstGeom prst="rect">
            <a:avLst/>
          </a:prstGeom>
          <a:solidFill>
            <a:srgbClr val="B453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7" name="Rectangle 256"/>
          <p:cNvSpPr/>
          <p:nvPr/>
        </p:nvSpPr>
        <p:spPr>
          <a:xfrm>
            <a:off x="3332988" y="4800600"/>
            <a:ext cx="278892" cy="278892"/>
          </a:xfrm>
          <a:prstGeom prst="rect">
            <a:avLst/>
          </a:prstGeom>
          <a:solidFill>
            <a:srgbClr val="9A6E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8" name="Rectangle 257"/>
          <p:cNvSpPr/>
          <p:nvPr/>
        </p:nvSpPr>
        <p:spPr>
          <a:xfrm>
            <a:off x="3630168" y="4800600"/>
            <a:ext cx="278892" cy="278892"/>
          </a:xfrm>
          <a:prstGeom prst="rect">
            <a:avLst/>
          </a:prstGeom>
          <a:solidFill>
            <a:srgbClr val="9A6E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9" name="Rectangle 258"/>
          <p:cNvSpPr/>
          <p:nvPr/>
        </p:nvSpPr>
        <p:spPr>
          <a:xfrm>
            <a:off x="3927348" y="4800600"/>
            <a:ext cx="278892" cy="278892"/>
          </a:xfrm>
          <a:prstGeom prst="rect">
            <a:avLst/>
          </a:prstGeom>
          <a:solidFill>
            <a:srgbClr val="9A6E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0" name="Rectangle 259"/>
          <p:cNvSpPr/>
          <p:nvPr/>
        </p:nvSpPr>
        <p:spPr>
          <a:xfrm>
            <a:off x="4224528" y="4800600"/>
            <a:ext cx="278892" cy="278892"/>
          </a:xfrm>
          <a:prstGeom prst="rect">
            <a:avLst/>
          </a:prstGeom>
          <a:solidFill>
            <a:srgbClr val="9A6E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1" name="Rectangle 260"/>
          <p:cNvSpPr/>
          <p:nvPr/>
        </p:nvSpPr>
        <p:spPr>
          <a:xfrm>
            <a:off x="4521708" y="4800600"/>
            <a:ext cx="278892" cy="278892"/>
          </a:xfrm>
          <a:prstGeom prst="rect">
            <a:avLst/>
          </a:prstGeom>
          <a:solidFill>
            <a:srgbClr val="9A6E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2" name="Rectangle 261"/>
          <p:cNvSpPr/>
          <p:nvPr/>
        </p:nvSpPr>
        <p:spPr>
          <a:xfrm>
            <a:off x="4818888" y="4800600"/>
            <a:ext cx="278892" cy="278892"/>
          </a:xfrm>
          <a:prstGeom prst="rect">
            <a:avLst/>
          </a:prstGeom>
          <a:solidFill>
            <a:srgbClr val="9A6E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3" name="Rectangle 262"/>
          <p:cNvSpPr/>
          <p:nvPr/>
        </p:nvSpPr>
        <p:spPr>
          <a:xfrm>
            <a:off x="5116068" y="4800600"/>
            <a:ext cx="278892" cy="278892"/>
          </a:xfrm>
          <a:prstGeom prst="rect">
            <a:avLst/>
          </a:prstGeom>
          <a:solidFill>
            <a:srgbClr val="9A6E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4" name="Rectangle 263"/>
          <p:cNvSpPr/>
          <p:nvPr/>
        </p:nvSpPr>
        <p:spPr>
          <a:xfrm>
            <a:off x="5413248" y="4800600"/>
            <a:ext cx="278892" cy="278892"/>
          </a:xfrm>
          <a:prstGeom prst="rect">
            <a:avLst/>
          </a:prstGeom>
          <a:solidFill>
            <a:srgbClr val="9A6E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5" name="Rectangle 264"/>
          <p:cNvSpPr/>
          <p:nvPr/>
        </p:nvSpPr>
        <p:spPr>
          <a:xfrm>
            <a:off x="5710428" y="4800600"/>
            <a:ext cx="278892" cy="278892"/>
          </a:xfrm>
          <a:prstGeom prst="rect">
            <a:avLst/>
          </a:prstGeom>
          <a:solidFill>
            <a:srgbClr val="3E5C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6" name="Rectangle 265"/>
          <p:cNvSpPr/>
          <p:nvPr/>
        </p:nvSpPr>
        <p:spPr>
          <a:xfrm>
            <a:off x="6007608" y="4800600"/>
            <a:ext cx="278892" cy="278892"/>
          </a:xfrm>
          <a:prstGeom prst="rect">
            <a:avLst/>
          </a:prstGeom>
          <a:solidFill>
            <a:srgbClr val="3E5C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7" name="Rectangle 266"/>
          <p:cNvSpPr/>
          <p:nvPr/>
        </p:nvSpPr>
        <p:spPr>
          <a:xfrm>
            <a:off x="6304788" y="4800600"/>
            <a:ext cx="278892" cy="278892"/>
          </a:xfrm>
          <a:prstGeom prst="rect">
            <a:avLst/>
          </a:prstGeom>
          <a:solidFill>
            <a:srgbClr val="3E5C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8" name="Rectangle 267"/>
          <p:cNvSpPr/>
          <p:nvPr/>
        </p:nvSpPr>
        <p:spPr>
          <a:xfrm>
            <a:off x="6601968" y="4800600"/>
            <a:ext cx="278892" cy="278892"/>
          </a:xfrm>
          <a:prstGeom prst="rect">
            <a:avLst/>
          </a:prstGeom>
          <a:solidFill>
            <a:srgbClr val="3E5C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9" name="Rectangle 268"/>
          <p:cNvSpPr/>
          <p:nvPr/>
        </p:nvSpPr>
        <p:spPr>
          <a:xfrm>
            <a:off x="6899148" y="4800600"/>
            <a:ext cx="278892" cy="278892"/>
          </a:xfrm>
          <a:prstGeom prst="rect">
            <a:avLst/>
          </a:prstGeom>
          <a:solidFill>
            <a:srgbClr val="3E5C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0" name="Rectangle 269"/>
          <p:cNvSpPr/>
          <p:nvPr/>
        </p:nvSpPr>
        <p:spPr>
          <a:xfrm>
            <a:off x="7196328" y="4800600"/>
            <a:ext cx="278892" cy="278892"/>
          </a:xfrm>
          <a:prstGeom prst="rect">
            <a:avLst/>
          </a:prstGeom>
          <a:solidFill>
            <a:srgbClr val="3E5C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1" name="Rectangle 270"/>
          <p:cNvSpPr/>
          <p:nvPr/>
        </p:nvSpPr>
        <p:spPr>
          <a:xfrm>
            <a:off x="7493508" y="4800600"/>
            <a:ext cx="278892" cy="278892"/>
          </a:xfrm>
          <a:prstGeom prst="rect">
            <a:avLst/>
          </a:prstGeom>
          <a:solidFill>
            <a:srgbClr val="3E5C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2" name="Rectangle 271"/>
          <p:cNvSpPr/>
          <p:nvPr/>
        </p:nvSpPr>
        <p:spPr>
          <a:xfrm>
            <a:off x="658368" y="5097780"/>
            <a:ext cx="278892" cy="278892"/>
          </a:xfrm>
          <a:prstGeom prst="rect">
            <a:avLst/>
          </a:prstGeom>
          <a:solidFill>
            <a:srgbClr val="B453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3" name="Rectangle 272"/>
          <p:cNvSpPr/>
          <p:nvPr/>
        </p:nvSpPr>
        <p:spPr>
          <a:xfrm>
            <a:off x="955547" y="5097780"/>
            <a:ext cx="278892" cy="278892"/>
          </a:xfrm>
          <a:prstGeom prst="rect">
            <a:avLst/>
          </a:prstGeom>
          <a:solidFill>
            <a:srgbClr val="B453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4" name="Rectangle 273"/>
          <p:cNvSpPr/>
          <p:nvPr/>
        </p:nvSpPr>
        <p:spPr>
          <a:xfrm>
            <a:off x="1252728" y="5097780"/>
            <a:ext cx="278892" cy="278892"/>
          </a:xfrm>
          <a:prstGeom prst="rect">
            <a:avLst/>
          </a:prstGeom>
          <a:solidFill>
            <a:srgbClr val="B453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5" name="Rectangle 274"/>
          <p:cNvSpPr/>
          <p:nvPr/>
        </p:nvSpPr>
        <p:spPr>
          <a:xfrm>
            <a:off x="1549908" y="5097780"/>
            <a:ext cx="278892" cy="278892"/>
          </a:xfrm>
          <a:prstGeom prst="rect">
            <a:avLst/>
          </a:prstGeom>
          <a:solidFill>
            <a:srgbClr val="B453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6" name="Rectangle 275"/>
          <p:cNvSpPr/>
          <p:nvPr/>
        </p:nvSpPr>
        <p:spPr>
          <a:xfrm>
            <a:off x="1847088" y="5097780"/>
            <a:ext cx="278892" cy="278892"/>
          </a:xfrm>
          <a:prstGeom prst="rect">
            <a:avLst/>
          </a:prstGeom>
          <a:solidFill>
            <a:srgbClr val="B453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7" name="Rectangle 276"/>
          <p:cNvSpPr/>
          <p:nvPr/>
        </p:nvSpPr>
        <p:spPr>
          <a:xfrm>
            <a:off x="2144268" y="5097780"/>
            <a:ext cx="278892" cy="278892"/>
          </a:xfrm>
          <a:prstGeom prst="rect">
            <a:avLst/>
          </a:prstGeom>
          <a:solidFill>
            <a:srgbClr val="B453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8" name="Rectangle 277"/>
          <p:cNvSpPr/>
          <p:nvPr/>
        </p:nvSpPr>
        <p:spPr>
          <a:xfrm>
            <a:off x="2441448" y="5097780"/>
            <a:ext cx="278892" cy="278892"/>
          </a:xfrm>
          <a:prstGeom prst="rect">
            <a:avLst/>
          </a:prstGeom>
          <a:solidFill>
            <a:srgbClr val="9A6E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9" name="Rectangle 278"/>
          <p:cNvSpPr/>
          <p:nvPr/>
        </p:nvSpPr>
        <p:spPr>
          <a:xfrm>
            <a:off x="2738628" y="5097780"/>
            <a:ext cx="278892" cy="278892"/>
          </a:xfrm>
          <a:prstGeom prst="rect">
            <a:avLst/>
          </a:prstGeom>
          <a:solidFill>
            <a:srgbClr val="B453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0" name="Rectangle 279"/>
          <p:cNvSpPr/>
          <p:nvPr/>
        </p:nvSpPr>
        <p:spPr>
          <a:xfrm>
            <a:off x="3035808" y="5097780"/>
            <a:ext cx="278892" cy="278892"/>
          </a:xfrm>
          <a:prstGeom prst="rect">
            <a:avLst/>
          </a:prstGeom>
          <a:solidFill>
            <a:srgbClr val="9A6E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1" name="Rectangle 280"/>
          <p:cNvSpPr/>
          <p:nvPr/>
        </p:nvSpPr>
        <p:spPr>
          <a:xfrm>
            <a:off x="3332988" y="5097780"/>
            <a:ext cx="278892" cy="278892"/>
          </a:xfrm>
          <a:prstGeom prst="rect">
            <a:avLst/>
          </a:prstGeom>
          <a:solidFill>
            <a:srgbClr val="9A6E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2" name="Rectangle 281"/>
          <p:cNvSpPr/>
          <p:nvPr/>
        </p:nvSpPr>
        <p:spPr>
          <a:xfrm>
            <a:off x="3630168" y="5097780"/>
            <a:ext cx="278892" cy="278892"/>
          </a:xfrm>
          <a:prstGeom prst="rect">
            <a:avLst/>
          </a:prstGeom>
          <a:solidFill>
            <a:srgbClr val="9A6E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3" name="Rectangle 282"/>
          <p:cNvSpPr/>
          <p:nvPr/>
        </p:nvSpPr>
        <p:spPr>
          <a:xfrm>
            <a:off x="3927348" y="5097780"/>
            <a:ext cx="278892" cy="278892"/>
          </a:xfrm>
          <a:prstGeom prst="rect">
            <a:avLst/>
          </a:prstGeom>
          <a:solidFill>
            <a:srgbClr val="9A6E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4" name="Rectangle 283"/>
          <p:cNvSpPr/>
          <p:nvPr/>
        </p:nvSpPr>
        <p:spPr>
          <a:xfrm>
            <a:off x="4224528" y="5097780"/>
            <a:ext cx="278892" cy="278892"/>
          </a:xfrm>
          <a:prstGeom prst="rect">
            <a:avLst/>
          </a:prstGeom>
          <a:solidFill>
            <a:srgbClr val="9A6E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5" name="Rectangle 284"/>
          <p:cNvSpPr/>
          <p:nvPr/>
        </p:nvSpPr>
        <p:spPr>
          <a:xfrm>
            <a:off x="4521708" y="5097780"/>
            <a:ext cx="278892" cy="278892"/>
          </a:xfrm>
          <a:prstGeom prst="rect">
            <a:avLst/>
          </a:prstGeom>
          <a:solidFill>
            <a:srgbClr val="9A6E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6" name="Rectangle 285"/>
          <p:cNvSpPr/>
          <p:nvPr/>
        </p:nvSpPr>
        <p:spPr>
          <a:xfrm>
            <a:off x="4818888" y="5097780"/>
            <a:ext cx="278892" cy="278892"/>
          </a:xfrm>
          <a:prstGeom prst="rect">
            <a:avLst/>
          </a:prstGeom>
          <a:solidFill>
            <a:srgbClr val="9A6E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7" name="Rectangle 286"/>
          <p:cNvSpPr/>
          <p:nvPr/>
        </p:nvSpPr>
        <p:spPr>
          <a:xfrm>
            <a:off x="5116068" y="5097780"/>
            <a:ext cx="278892" cy="278892"/>
          </a:xfrm>
          <a:prstGeom prst="rect">
            <a:avLst/>
          </a:prstGeom>
          <a:solidFill>
            <a:srgbClr val="3E5C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8" name="Rectangle 287"/>
          <p:cNvSpPr/>
          <p:nvPr/>
        </p:nvSpPr>
        <p:spPr>
          <a:xfrm>
            <a:off x="5413248" y="5097780"/>
            <a:ext cx="278892" cy="278892"/>
          </a:xfrm>
          <a:prstGeom prst="rect">
            <a:avLst/>
          </a:prstGeom>
          <a:solidFill>
            <a:srgbClr val="3E5C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9" name="Rectangle 288"/>
          <p:cNvSpPr/>
          <p:nvPr/>
        </p:nvSpPr>
        <p:spPr>
          <a:xfrm>
            <a:off x="5710428" y="5097780"/>
            <a:ext cx="278892" cy="278892"/>
          </a:xfrm>
          <a:prstGeom prst="rect">
            <a:avLst/>
          </a:prstGeom>
          <a:solidFill>
            <a:srgbClr val="3E5C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0" name="Rectangle 289"/>
          <p:cNvSpPr/>
          <p:nvPr/>
        </p:nvSpPr>
        <p:spPr>
          <a:xfrm>
            <a:off x="6007608" y="5097780"/>
            <a:ext cx="278892" cy="278892"/>
          </a:xfrm>
          <a:prstGeom prst="rect">
            <a:avLst/>
          </a:prstGeom>
          <a:solidFill>
            <a:srgbClr val="3E5C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1" name="Rectangle 290"/>
          <p:cNvSpPr/>
          <p:nvPr/>
        </p:nvSpPr>
        <p:spPr>
          <a:xfrm>
            <a:off x="6304788" y="5097780"/>
            <a:ext cx="278892" cy="278892"/>
          </a:xfrm>
          <a:prstGeom prst="rect">
            <a:avLst/>
          </a:prstGeom>
          <a:solidFill>
            <a:srgbClr val="3E5C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2" name="Rectangle 291"/>
          <p:cNvSpPr/>
          <p:nvPr/>
        </p:nvSpPr>
        <p:spPr>
          <a:xfrm>
            <a:off x="6601968" y="5097780"/>
            <a:ext cx="278892" cy="278892"/>
          </a:xfrm>
          <a:prstGeom prst="rect">
            <a:avLst/>
          </a:prstGeom>
          <a:solidFill>
            <a:srgbClr val="3E5C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3" name="Rectangle 292"/>
          <p:cNvSpPr/>
          <p:nvPr/>
        </p:nvSpPr>
        <p:spPr>
          <a:xfrm>
            <a:off x="6899148" y="5097780"/>
            <a:ext cx="278892" cy="278892"/>
          </a:xfrm>
          <a:prstGeom prst="rect">
            <a:avLst/>
          </a:prstGeom>
          <a:solidFill>
            <a:srgbClr val="3E5C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4" name="Rectangle 293"/>
          <p:cNvSpPr/>
          <p:nvPr/>
        </p:nvSpPr>
        <p:spPr>
          <a:xfrm>
            <a:off x="7196328" y="5097780"/>
            <a:ext cx="278892" cy="278892"/>
          </a:xfrm>
          <a:prstGeom prst="rect">
            <a:avLst/>
          </a:prstGeom>
          <a:solidFill>
            <a:srgbClr val="3E5C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5" name="Rectangle 294"/>
          <p:cNvSpPr/>
          <p:nvPr/>
        </p:nvSpPr>
        <p:spPr>
          <a:xfrm>
            <a:off x="7493508" y="5097780"/>
            <a:ext cx="278892" cy="278892"/>
          </a:xfrm>
          <a:prstGeom prst="rect">
            <a:avLst/>
          </a:prstGeom>
          <a:solidFill>
            <a:srgbClr val="3E5C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6" name="Rectangle 295"/>
          <p:cNvSpPr/>
          <p:nvPr/>
        </p:nvSpPr>
        <p:spPr>
          <a:xfrm>
            <a:off x="822960" y="2468880"/>
            <a:ext cx="68580" cy="685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7" name="Rectangle 296"/>
          <p:cNvSpPr/>
          <p:nvPr/>
        </p:nvSpPr>
        <p:spPr>
          <a:xfrm>
            <a:off x="940067" y="2517006"/>
            <a:ext cx="68580" cy="685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8" name="Rectangle 297"/>
          <p:cNvSpPr/>
          <p:nvPr/>
        </p:nvSpPr>
        <p:spPr>
          <a:xfrm>
            <a:off x="1057174" y="2565132"/>
            <a:ext cx="68580" cy="685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9" name="Rectangle 298"/>
          <p:cNvSpPr/>
          <p:nvPr/>
        </p:nvSpPr>
        <p:spPr>
          <a:xfrm>
            <a:off x="1174282" y="2613258"/>
            <a:ext cx="68580" cy="685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0" name="Rectangle 299"/>
          <p:cNvSpPr/>
          <p:nvPr/>
        </p:nvSpPr>
        <p:spPr>
          <a:xfrm>
            <a:off x="1291389" y="2661385"/>
            <a:ext cx="68580" cy="685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1" name="Rectangle 300"/>
          <p:cNvSpPr/>
          <p:nvPr/>
        </p:nvSpPr>
        <p:spPr>
          <a:xfrm>
            <a:off x="1408496" y="2709511"/>
            <a:ext cx="68580" cy="685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2" name="Rectangle 301"/>
          <p:cNvSpPr/>
          <p:nvPr/>
        </p:nvSpPr>
        <p:spPr>
          <a:xfrm>
            <a:off x="1525604" y="2757637"/>
            <a:ext cx="68580" cy="685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3" name="Rectangle 302"/>
          <p:cNvSpPr/>
          <p:nvPr/>
        </p:nvSpPr>
        <p:spPr>
          <a:xfrm>
            <a:off x="1642711" y="2805764"/>
            <a:ext cx="68580" cy="685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4" name="Rectangle 303"/>
          <p:cNvSpPr/>
          <p:nvPr/>
        </p:nvSpPr>
        <p:spPr>
          <a:xfrm>
            <a:off x="1759818" y="2853890"/>
            <a:ext cx="68580" cy="685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5" name="Rectangle 304"/>
          <p:cNvSpPr/>
          <p:nvPr/>
        </p:nvSpPr>
        <p:spPr>
          <a:xfrm>
            <a:off x="1876926" y="2902016"/>
            <a:ext cx="68580" cy="685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6" name="Rectangle 305"/>
          <p:cNvSpPr/>
          <p:nvPr/>
        </p:nvSpPr>
        <p:spPr>
          <a:xfrm>
            <a:off x="1994033" y="2950143"/>
            <a:ext cx="68580" cy="685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7" name="Rectangle 306"/>
          <p:cNvSpPr/>
          <p:nvPr/>
        </p:nvSpPr>
        <p:spPr>
          <a:xfrm>
            <a:off x="2111141" y="2998269"/>
            <a:ext cx="68580" cy="685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8" name="Rectangle 307"/>
          <p:cNvSpPr/>
          <p:nvPr/>
        </p:nvSpPr>
        <p:spPr>
          <a:xfrm>
            <a:off x="2228248" y="3046395"/>
            <a:ext cx="68580" cy="685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9" name="Rectangle 308"/>
          <p:cNvSpPr/>
          <p:nvPr/>
        </p:nvSpPr>
        <p:spPr>
          <a:xfrm>
            <a:off x="2345355" y="3094522"/>
            <a:ext cx="68580" cy="685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0" name="Rectangle 309"/>
          <p:cNvSpPr/>
          <p:nvPr/>
        </p:nvSpPr>
        <p:spPr>
          <a:xfrm>
            <a:off x="2462463" y="3142648"/>
            <a:ext cx="68580" cy="685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1" name="Rectangle 310"/>
          <p:cNvSpPr/>
          <p:nvPr/>
        </p:nvSpPr>
        <p:spPr>
          <a:xfrm>
            <a:off x="2579570" y="3190774"/>
            <a:ext cx="68580" cy="685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2" name="Rectangle 311"/>
          <p:cNvSpPr/>
          <p:nvPr/>
        </p:nvSpPr>
        <p:spPr>
          <a:xfrm>
            <a:off x="2696677" y="3238901"/>
            <a:ext cx="68580" cy="685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3" name="Rectangle 312"/>
          <p:cNvSpPr/>
          <p:nvPr/>
        </p:nvSpPr>
        <p:spPr>
          <a:xfrm>
            <a:off x="2813785" y="3287027"/>
            <a:ext cx="68580" cy="685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4" name="Rectangle 313"/>
          <p:cNvSpPr/>
          <p:nvPr/>
        </p:nvSpPr>
        <p:spPr>
          <a:xfrm>
            <a:off x="2930892" y="3335153"/>
            <a:ext cx="68580" cy="685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5" name="Rectangle 314"/>
          <p:cNvSpPr/>
          <p:nvPr/>
        </p:nvSpPr>
        <p:spPr>
          <a:xfrm>
            <a:off x="3047999" y="3383280"/>
            <a:ext cx="68580" cy="685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6" name="Rectangle 315"/>
          <p:cNvSpPr/>
          <p:nvPr/>
        </p:nvSpPr>
        <p:spPr>
          <a:xfrm>
            <a:off x="3165107" y="3431406"/>
            <a:ext cx="68580" cy="685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7" name="Rectangle 316"/>
          <p:cNvSpPr/>
          <p:nvPr/>
        </p:nvSpPr>
        <p:spPr>
          <a:xfrm>
            <a:off x="3282214" y="3479532"/>
            <a:ext cx="68580" cy="685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8" name="Rectangle 317"/>
          <p:cNvSpPr/>
          <p:nvPr/>
        </p:nvSpPr>
        <p:spPr>
          <a:xfrm>
            <a:off x="3399322" y="3527658"/>
            <a:ext cx="68580" cy="685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9" name="Rectangle 318"/>
          <p:cNvSpPr/>
          <p:nvPr/>
        </p:nvSpPr>
        <p:spPr>
          <a:xfrm>
            <a:off x="3516429" y="3575785"/>
            <a:ext cx="68580" cy="685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0" name="Rectangle 319"/>
          <p:cNvSpPr/>
          <p:nvPr/>
        </p:nvSpPr>
        <p:spPr>
          <a:xfrm>
            <a:off x="3633536" y="3623911"/>
            <a:ext cx="68580" cy="685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1" name="Rectangle 320"/>
          <p:cNvSpPr/>
          <p:nvPr/>
        </p:nvSpPr>
        <p:spPr>
          <a:xfrm>
            <a:off x="3750644" y="3672037"/>
            <a:ext cx="68580" cy="685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2" name="Rectangle 321"/>
          <p:cNvSpPr/>
          <p:nvPr/>
        </p:nvSpPr>
        <p:spPr>
          <a:xfrm>
            <a:off x="3867751" y="3720164"/>
            <a:ext cx="68580" cy="685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3" name="Rectangle 322"/>
          <p:cNvSpPr/>
          <p:nvPr/>
        </p:nvSpPr>
        <p:spPr>
          <a:xfrm>
            <a:off x="3984858" y="3768290"/>
            <a:ext cx="68580" cy="685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4" name="Rectangle 323"/>
          <p:cNvSpPr/>
          <p:nvPr/>
        </p:nvSpPr>
        <p:spPr>
          <a:xfrm>
            <a:off x="4101966" y="3816416"/>
            <a:ext cx="68580" cy="685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5" name="Rectangle 324"/>
          <p:cNvSpPr/>
          <p:nvPr/>
        </p:nvSpPr>
        <p:spPr>
          <a:xfrm>
            <a:off x="4219073" y="3816416"/>
            <a:ext cx="68580" cy="685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6" name="Rectangle 325"/>
          <p:cNvSpPr/>
          <p:nvPr/>
        </p:nvSpPr>
        <p:spPr>
          <a:xfrm>
            <a:off x="4336181" y="3768290"/>
            <a:ext cx="68580" cy="685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7" name="Rectangle 326"/>
          <p:cNvSpPr/>
          <p:nvPr/>
        </p:nvSpPr>
        <p:spPr>
          <a:xfrm>
            <a:off x="4453288" y="3720164"/>
            <a:ext cx="68580" cy="685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8" name="Rectangle 327"/>
          <p:cNvSpPr/>
          <p:nvPr/>
        </p:nvSpPr>
        <p:spPr>
          <a:xfrm>
            <a:off x="4570395" y="3672037"/>
            <a:ext cx="68580" cy="685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9" name="Rectangle 328"/>
          <p:cNvSpPr/>
          <p:nvPr/>
        </p:nvSpPr>
        <p:spPr>
          <a:xfrm>
            <a:off x="4687503" y="3623911"/>
            <a:ext cx="68580" cy="685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0" name="Rectangle 329"/>
          <p:cNvSpPr/>
          <p:nvPr/>
        </p:nvSpPr>
        <p:spPr>
          <a:xfrm>
            <a:off x="4804610" y="3575785"/>
            <a:ext cx="68580" cy="685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1" name="Rectangle 330"/>
          <p:cNvSpPr/>
          <p:nvPr/>
        </p:nvSpPr>
        <p:spPr>
          <a:xfrm>
            <a:off x="4921717" y="3527658"/>
            <a:ext cx="68580" cy="685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2" name="Rectangle 331"/>
          <p:cNvSpPr/>
          <p:nvPr/>
        </p:nvSpPr>
        <p:spPr>
          <a:xfrm>
            <a:off x="5038825" y="3479532"/>
            <a:ext cx="68580" cy="685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3" name="Rectangle 332"/>
          <p:cNvSpPr/>
          <p:nvPr/>
        </p:nvSpPr>
        <p:spPr>
          <a:xfrm>
            <a:off x="5155932" y="3431406"/>
            <a:ext cx="68580" cy="685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4" name="Rectangle 333"/>
          <p:cNvSpPr/>
          <p:nvPr/>
        </p:nvSpPr>
        <p:spPr>
          <a:xfrm>
            <a:off x="5273040" y="3383280"/>
            <a:ext cx="68580" cy="685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5" name="Rectangle 334"/>
          <p:cNvSpPr/>
          <p:nvPr/>
        </p:nvSpPr>
        <p:spPr>
          <a:xfrm>
            <a:off x="5390147" y="3335153"/>
            <a:ext cx="68580" cy="685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6" name="Rectangle 335"/>
          <p:cNvSpPr/>
          <p:nvPr/>
        </p:nvSpPr>
        <p:spPr>
          <a:xfrm>
            <a:off x="5507254" y="3287027"/>
            <a:ext cx="68580" cy="685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7" name="Rectangle 336"/>
          <p:cNvSpPr/>
          <p:nvPr/>
        </p:nvSpPr>
        <p:spPr>
          <a:xfrm>
            <a:off x="5624362" y="3238901"/>
            <a:ext cx="68580" cy="685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8" name="Rectangle 337"/>
          <p:cNvSpPr/>
          <p:nvPr/>
        </p:nvSpPr>
        <p:spPr>
          <a:xfrm>
            <a:off x="5741469" y="3190774"/>
            <a:ext cx="68580" cy="685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9" name="Rectangle 338"/>
          <p:cNvSpPr/>
          <p:nvPr/>
        </p:nvSpPr>
        <p:spPr>
          <a:xfrm>
            <a:off x="5858576" y="3142648"/>
            <a:ext cx="68580" cy="685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0" name="Rectangle 339"/>
          <p:cNvSpPr/>
          <p:nvPr/>
        </p:nvSpPr>
        <p:spPr>
          <a:xfrm>
            <a:off x="5975684" y="3094522"/>
            <a:ext cx="68580" cy="685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1" name="Rectangle 340"/>
          <p:cNvSpPr/>
          <p:nvPr/>
        </p:nvSpPr>
        <p:spPr>
          <a:xfrm>
            <a:off x="6092791" y="3046395"/>
            <a:ext cx="68580" cy="685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2" name="Rectangle 341"/>
          <p:cNvSpPr/>
          <p:nvPr/>
        </p:nvSpPr>
        <p:spPr>
          <a:xfrm>
            <a:off x="6209898" y="2998269"/>
            <a:ext cx="68580" cy="685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3" name="Rectangle 342"/>
          <p:cNvSpPr/>
          <p:nvPr/>
        </p:nvSpPr>
        <p:spPr>
          <a:xfrm>
            <a:off x="6327006" y="2950143"/>
            <a:ext cx="68580" cy="685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4" name="Rectangle 343"/>
          <p:cNvSpPr/>
          <p:nvPr/>
        </p:nvSpPr>
        <p:spPr>
          <a:xfrm>
            <a:off x="6444113" y="2902016"/>
            <a:ext cx="68580" cy="685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5" name="Rectangle 344"/>
          <p:cNvSpPr/>
          <p:nvPr/>
        </p:nvSpPr>
        <p:spPr>
          <a:xfrm>
            <a:off x="6561221" y="2853890"/>
            <a:ext cx="68580" cy="685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6" name="Rectangle 345"/>
          <p:cNvSpPr/>
          <p:nvPr/>
        </p:nvSpPr>
        <p:spPr>
          <a:xfrm>
            <a:off x="6678328" y="2805764"/>
            <a:ext cx="68580" cy="685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7" name="Rectangle 346"/>
          <p:cNvSpPr/>
          <p:nvPr/>
        </p:nvSpPr>
        <p:spPr>
          <a:xfrm>
            <a:off x="6795435" y="2757637"/>
            <a:ext cx="68580" cy="685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8" name="Rectangle 347"/>
          <p:cNvSpPr/>
          <p:nvPr/>
        </p:nvSpPr>
        <p:spPr>
          <a:xfrm>
            <a:off x="6912543" y="2709511"/>
            <a:ext cx="68580" cy="685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9" name="Rectangle 348"/>
          <p:cNvSpPr/>
          <p:nvPr/>
        </p:nvSpPr>
        <p:spPr>
          <a:xfrm>
            <a:off x="7029650" y="2661385"/>
            <a:ext cx="68580" cy="685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0" name="Rectangle 349"/>
          <p:cNvSpPr/>
          <p:nvPr/>
        </p:nvSpPr>
        <p:spPr>
          <a:xfrm>
            <a:off x="7146757" y="2613258"/>
            <a:ext cx="68580" cy="685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1" name="Rectangle 350"/>
          <p:cNvSpPr/>
          <p:nvPr/>
        </p:nvSpPr>
        <p:spPr>
          <a:xfrm>
            <a:off x="7263865" y="2565132"/>
            <a:ext cx="68580" cy="685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2" name="Rectangle 351"/>
          <p:cNvSpPr/>
          <p:nvPr/>
        </p:nvSpPr>
        <p:spPr>
          <a:xfrm>
            <a:off x="7380972" y="2517006"/>
            <a:ext cx="68580" cy="685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3" name="Rectangle 352"/>
          <p:cNvSpPr/>
          <p:nvPr/>
        </p:nvSpPr>
        <p:spPr>
          <a:xfrm>
            <a:off x="7498079" y="2468880"/>
            <a:ext cx="68580" cy="685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4" name="Oval 353"/>
          <p:cNvSpPr/>
          <p:nvPr/>
        </p:nvSpPr>
        <p:spPr>
          <a:xfrm>
            <a:off x="5029200" y="2331720"/>
            <a:ext cx="201168" cy="201168"/>
          </a:xfrm>
          <a:prstGeom prst="ellipse">
            <a:avLst/>
          </a:prstGeom>
          <a:solidFill>
            <a:srgbClr val="9A6E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5" name="Oval 354"/>
          <p:cNvSpPr/>
          <p:nvPr/>
        </p:nvSpPr>
        <p:spPr>
          <a:xfrm>
            <a:off x="2651760" y="3886200"/>
            <a:ext cx="274320" cy="274320"/>
          </a:xfrm>
          <a:prstGeom prst="ellipse">
            <a:avLst/>
          </a:prstGeom>
          <a:noFill/>
          <a:ln w="317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6" name="TextBox 355"/>
          <p:cNvSpPr txBox="1"/>
          <p:nvPr/>
        </p:nvSpPr>
        <p:spPr>
          <a:xfrm>
            <a:off x="658368" y="5376672"/>
            <a:ext cx="420624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FFFFFF"/>
                </a:solidFill>
                <a:latin typeface="Consolas"/>
              </a:rPr>
              <a:t>map scale ▬ 2 km   ·   ▪ one 200 m demand cell</a:t>
            </a:r>
          </a:p>
        </p:txBody>
      </p:sp>
      <p:sp>
        <p:nvSpPr>
          <p:cNvPr id="357" name="Rectangle 356"/>
          <p:cNvSpPr/>
          <p:nvPr/>
        </p:nvSpPr>
        <p:spPr>
          <a:xfrm>
            <a:off x="8183879" y="1691640"/>
            <a:ext cx="3474720" cy="3931920"/>
          </a:xfrm>
          <a:prstGeom prst="rect">
            <a:avLst/>
          </a:prstGeom>
          <a:solidFill>
            <a:srgbClr val="F5F2EE"/>
          </a:solidFill>
          <a:ln w="12700">
            <a:solidFill>
              <a:srgbClr val="D9D3C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8" name="TextBox 357"/>
          <p:cNvSpPr txBox="1"/>
          <p:nvPr/>
        </p:nvSpPr>
        <p:spPr>
          <a:xfrm>
            <a:off x="8366759" y="1810512"/>
            <a:ext cx="310896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1C1917"/>
                </a:solidFill>
                <a:latin typeface="Archivo"/>
              </a:rPr>
              <a:t>Rural Coverage Planner</a:t>
            </a:r>
          </a:p>
        </p:txBody>
      </p:sp>
      <p:sp>
        <p:nvSpPr>
          <p:cNvPr id="359" name="TextBox 358"/>
          <p:cNvSpPr txBox="1"/>
          <p:nvPr/>
        </p:nvSpPr>
        <p:spPr>
          <a:xfrm>
            <a:off x="8366759" y="2157984"/>
            <a:ext cx="3108960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0" spc="110">
                <a:solidFill>
                  <a:srgbClr val="79716B"/>
                </a:solidFill>
                <a:latin typeface="Consolas"/>
              </a:rPr>
              <a:t>APPROACH</a:t>
            </a:r>
          </a:p>
        </p:txBody>
      </p:sp>
      <p:sp>
        <p:nvSpPr>
          <p:cNvPr id="360" name="Rectangle 359"/>
          <p:cNvSpPr/>
          <p:nvPr/>
        </p:nvSpPr>
        <p:spPr>
          <a:xfrm>
            <a:off x="8366759" y="2331720"/>
            <a:ext cx="3108960" cy="228600"/>
          </a:xfrm>
          <a:prstGeom prst="rect">
            <a:avLst/>
          </a:prstGeom>
          <a:solidFill>
            <a:srgbClr val="FFFFFF"/>
          </a:solidFill>
          <a:ln w="12700">
            <a:solidFill>
              <a:srgbClr val="D9D3C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1" name="TextBox 360"/>
          <p:cNvSpPr txBox="1"/>
          <p:nvPr/>
        </p:nvSpPr>
        <p:spPr>
          <a:xfrm>
            <a:off x="8458199" y="2372868"/>
            <a:ext cx="292608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1C1917"/>
                </a:solidFill>
                <a:latin typeface="Consolas"/>
              </a:rPr>
              <a:t>Baseline — fitted physics ▾</a:t>
            </a:r>
          </a:p>
        </p:txBody>
      </p:sp>
      <p:sp>
        <p:nvSpPr>
          <p:cNvPr id="362" name="TextBox 361"/>
          <p:cNvSpPr txBox="1"/>
          <p:nvPr/>
        </p:nvSpPr>
        <p:spPr>
          <a:xfrm>
            <a:off x="8366759" y="2633472"/>
            <a:ext cx="3108960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0" spc="110">
                <a:solidFill>
                  <a:srgbClr val="79716B"/>
                </a:solidFill>
                <a:latin typeface="Consolas"/>
              </a:rPr>
              <a:t>WHAT COUNTS AS SERVED</a:t>
            </a:r>
          </a:p>
        </p:txBody>
      </p:sp>
      <p:sp>
        <p:nvSpPr>
          <p:cNvPr id="363" name="Rectangle 362"/>
          <p:cNvSpPr/>
          <p:nvPr/>
        </p:nvSpPr>
        <p:spPr>
          <a:xfrm>
            <a:off x="8366759" y="2807208"/>
            <a:ext cx="3108960" cy="228600"/>
          </a:xfrm>
          <a:prstGeom prst="rect">
            <a:avLst/>
          </a:prstGeom>
          <a:solidFill>
            <a:srgbClr val="FFFFFF"/>
          </a:solidFill>
          <a:ln w="12700">
            <a:solidFill>
              <a:srgbClr val="D9D3C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4" name="TextBox 363"/>
          <p:cNvSpPr txBox="1"/>
          <p:nvPr/>
        </p:nvSpPr>
        <p:spPr>
          <a:xfrm>
            <a:off x="8458199" y="2848356"/>
            <a:ext cx="292608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1C1917"/>
                </a:solidFill>
                <a:latin typeface="Consolas"/>
              </a:rPr>
              <a:t>Availability ▾</a:t>
            </a:r>
          </a:p>
        </p:txBody>
      </p:sp>
      <p:sp>
        <p:nvSpPr>
          <p:cNvPr id="365" name="TextBox 364"/>
          <p:cNvSpPr txBox="1"/>
          <p:nvPr/>
        </p:nvSpPr>
        <p:spPr>
          <a:xfrm>
            <a:off x="8366759" y="3108960"/>
            <a:ext cx="3108960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0" spc="110">
                <a:solidFill>
                  <a:srgbClr val="79716B"/>
                </a:solidFill>
                <a:latin typeface="Consolas"/>
              </a:rPr>
              <a:t>TARGET</a:t>
            </a:r>
          </a:p>
        </p:txBody>
      </p:sp>
      <p:sp>
        <p:nvSpPr>
          <p:cNvPr id="366" name="Rectangle 365"/>
          <p:cNvSpPr/>
          <p:nvPr/>
        </p:nvSpPr>
        <p:spPr>
          <a:xfrm>
            <a:off x="8366759" y="3282696"/>
            <a:ext cx="3108960" cy="228600"/>
          </a:xfrm>
          <a:prstGeom prst="rect">
            <a:avLst/>
          </a:prstGeom>
          <a:solidFill>
            <a:srgbClr val="FFFFFF"/>
          </a:solidFill>
          <a:ln w="12700">
            <a:solidFill>
              <a:srgbClr val="D9D3C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7" name="TextBox 366"/>
          <p:cNvSpPr txBox="1"/>
          <p:nvPr/>
        </p:nvSpPr>
        <p:spPr>
          <a:xfrm>
            <a:off x="8458199" y="3323844"/>
            <a:ext cx="292608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1C1917"/>
                </a:solidFill>
                <a:latin typeface="Consolas"/>
              </a:rPr>
              <a:t>≥ 50% of the time</a:t>
            </a:r>
          </a:p>
        </p:txBody>
      </p:sp>
      <p:sp>
        <p:nvSpPr>
          <p:cNvPr id="368" name="TextBox 367"/>
          <p:cNvSpPr txBox="1"/>
          <p:nvPr/>
        </p:nvSpPr>
        <p:spPr>
          <a:xfrm>
            <a:off x="8366759" y="3584448"/>
            <a:ext cx="3108960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0" spc="110">
                <a:solidFill>
                  <a:srgbClr val="79716B"/>
                </a:solidFill>
                <a:latin typeface="Consolas"/>
              </a:rPr>
              <a:t>ROUTE VS AREA</a:t>
            </a:r>
          </a:p>
        </p:txBody>
      </p:sp>
      <p:sp>
        <p:nvSpPr>
          <p:cNvPr id="369" name="Rectangle 368"/>
          <p:cNvSpPr/>
          <p:nvPr/>
        </p:nvSpPr>
        <p:spPr>
          <a:xfrm>
            <a:off x="8366759" y="3758184"/>
            <a:ext cx="3108960" cy="228600"/>
          </a:xfrm>
          <a:prstGeom prst="rect">
            <a:avLst/>
          </a:prstGeom>
          <a:solidFill>
            <a:srgbClr val="FFFFFF"/>
          </a:solidFill>
          <a:ln w="12700">
            <a:solidFill>
              <a:srgbClr val="D9D3C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0" name="TextBox 369"/>
          <p:cNvSpPr txBox="1"/>
          <p:nvPr/>
        </p:nvSpPr>
        <p:spPr>
          <a:xfrm>
            <a:off x="8458199" y="3799332"/>
            <a:ext cx="292608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1C1917"/>
                </a:solidFill>
                <a:latin typeface="Consolas"/>
              </a:rPr>
              <a:t>0.70 / 0.30</a:t>
            </a:r>
          </a:p>
        </p:txBody>
      </p:sp>
      <p:sp>
        <p:nvSpPr>
          <p:cNvPr id="371" name="TextBox 370"/>
          <p:cNvSpPr txBox="1"/>
          <p:nvPr/>
        </p:nvSpPr>
        <p:spPr>
          <a:xfrm>
            <a:off x="8366759" y="4059935"/>
            <a:ext cx="3108960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0" spc="110">
                <a:solidFill>
                  <a:srgbClr val="79716B"/>
                </a:solidFill>
                <a:latin typeface="Consolas"/>
              </a:rPr>
              <a:t>ASSET</a:t>
            </a:r>
          </a:p>
        </p:txBody>
      </p:sp>
      <p:sp>
        <p:nvSpPr>
          <p:cNvPr id="372" name="Rectangle 371"/>
          <p:cNvSpPr/>
          <p:nvPr/>
        </p:nvSpPr>
        <p:spPr>
          <a:xfrm>
            <a:off x="8366759" y="4233671"/>
            <a:ext cx="3108960" cy="228600"/>
          </a:xfrm>
          <a:prstGeom prst="rect">
            <a:avLst/>
          </a:prstGeom>
          <a:solidFill>
            <a:srgbClr val="FFFFFF"/>
          </a:solidFill>
          <a:ln w="12700">
            <a:solidFill>
              <a:srgbClr val="D9D3C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3" name="TextBox 372"/>
          <p:cNvSpPr txBox="1"/>
          <p:nvPr/>
        </p:nvSpPr>
        <p:spPr>
          <a:xfrm>
            <a:off x="8458199" y="4274819"/>
            <a:ext cx="292608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1C1917"/>
                </a:solidFill>
                <a:latin typeface="Consolas"/>
              </a:rPr>
              <a:t>Macro · 37 m · 0 dB</a:t>
            </a:r>
          </a:p>
        </p:txBody>
      </p:sp>
      <p:sp>
        <p:nvSpPr>
          <p:cNvPr id="374" name="Rectangle 373"/>
          <p:cNvSpPr/>
          <p:nvPr/>
        </p:nvSpPr>
        <p:spPr>
          <a:xfrm>
            <a:off x="8366759" y="4572000"/>
            <a:ext cx="3108960" cy="292608"/>
          </a:xfrm>
          <a:prstGeom prst="rect">
            <a:avLst/>
          </a:prstGeom>
          <a:solidFill>
            <a:srgbClr val="3E5C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5" name="TextBox 374"/>
          <p:cNvSpPr txBox="1"/>
          <p:nvPr/>
        </p:nvSpPr>
        <p:spPr>
          <a:xfrm>
            <a:off x="9052559" y="4636008"/>
            <a:ext cx="219456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FFFFFF"/>
                </a:solidFill>
                <a:latin typeface="Consolas"/>
              </a:rPr>
              <a:t>Find the best site</a:t>
            </a:r>
          </a:p>
        </p:txBody>
      </p:sp>
      <p:sp>
        <p:nvSpPr>
          <p:cNvPr id="376" name="Rectangle 375"/>
          <p:cNvSpPr/>
          <p:nvPr/>
        </p:nvSpPr>
        <p:spPr>
          <a:xfrm>
            <a:off x="8366759" y="4983480"/>
            <a:ext cx="1508760" cy="502920"/>
          </a:xfrm>
          <a:prstGeom prst="rect">
            <a:avLst/>
          </a:prstGeom>
          <a:solidFill>
            <a:srgbClr val="FFFFFF"/>
          </a:solidFill>
          <a:ln w="12700">
            <a:solidFill>
              <a:srgbClr val="D9D3C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7" name="TextBox 376"/>
          <p:cNvSpPr txBox="1"/>
          <p:nvPr/>
        </p:nvSpPr>
        <p:spPr>
          <a:xfrm>
            <a:off x="8476487" y="5047488"/>
            <a:ext cx="1280160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0" spc="110">
                <a:solidFill>
                  <a:srgbClr val="79716B"/>
                </a:solidFill>
                <a:latin typeface="Consolas"/>
              </a:rPr>
              <a:t>ROUTE-KM</a:t>
            </a:r>
          </a:p>
        </p:txBody>
      </p:sp>
      <p:sp>
        <p:nvSpPr>
          <p:cNvPr id="378" name="TextBox 377"/>
          <p:cNvSpPr txBox="1"/>
          <p:nvPr/>
        </p:nvSpPr>
        <p:spPr>
          <a:xfrm>
            <a:off x="8476487" y="5230368"/>
            <a:ext cx="128016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3E5C6B"/>
                </a:solidFill>
                <a:latin typeface="Archivo"/>
              </a:rPr>
              <a:t>51.9 → 80.5</a:t>
            </a:r>
          </a:p>
        </p:txBody>
      </p:sp>
      <p:sp>
        <p:nvSpPr>
          <p:cNvPr id="379" name="Rectangle 378"/>
          <p:cNvSpPr/>
          <p:nvPr/>
        </p:nvSpPr>
        <p:spPr>
          <a:xfrm>
            <a:off x="9966959" y="4983480"/>
            <a:ext cx="1508760" cy="502920"/>
          </a:xfrm>
          <a:prstGeom prst="rect">
            <a:avLst/>
          </a:prstGeom>
          <a:solidFill>
            <a:srgbClr val="FFFFFF"/>
          </a:solidFill>
          <a:ln w="12700">
            <a:solidFill>
              <a:srgbClr val="D9D3C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0" name="TextBox 379"/>
          <p:cNvSpPr txBox="1"/>
          <p:nvPr/>
        </p:nvSpPr>
        <p:spPr>
          <a:xfrm>
            <a:off x="10076686" y="5047488"/>
            <a:ext cx="1280160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0" spc="110">
                <a:solidFill>
                  <a:srgbClr val="79716B"/>
                </a:solidFill>
                <a:latin typeface="Consolas"/>
              </a:rPr>
              <a:t>SCORE</a:t>
            </a:r>
          </a:p>
        </p:txBody>
      </p:sp>
      <p:sp>
        <p:nvSpPr>
          <p:cNvPr id="381" name="TextBox 380"/>
          <p:cNvSpPr txBox="1"/>
          <p:nvPr/>
        </p:nvSpPr>
        <p:spPr>
          <a:xfrm>
            <a:off x="10076686" y="5230368"/>
            <a:ext cx="128016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3E5C6B"/>
                </a:solidFill>
                <a:latin typeface="Archivo"/>
              </a:rPr>
              <a:t>0.421 → 0.652</a:t>
            </a:r>
          </a:p>
        </p:txBody>
      </p:sp>
      <p:sp>
        <p:nvSpPr>
          <p:cNvPr id="382" name="TextBox 381"/>
          <p:cNvSpPr txBox="1"/>
          <p:nvPr/>
        </p:nvSpPr>
        <p:spPr>
          <a:xfrm>
            <a:off x="502920" y="5760720"/>
            <a:ext cx="111556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3A4842"/>
                </a:solidFill>
                <a:latin typeface="Consolas"/>
              </a:rPr>
              <a:t>Heatmap of the chosen criterion over shaded relief, with the drive test drawn on top in a contrasting hue — which doubles as the road network. Amber is the existing tower, the ring is the placement. Three sweep buttons re-solve across every criterion, every weighting and every approach; a constrained variant adds the five buildability layers.</a:t>
            </a:r>
          </a:p>
        </p:txBody>
      </p:sp>
      <p:sp>
        <p:nvSpPr>
          <p:cNvPr id="383" name="TextBox 382"/>
          <p:cNvSpPr txBox="1"/>
          <p:nvPr/>
        </p:nvSpPr>
        <p:spPr>
          <a:xfrm>
            <a:off x="502920" y="6473952"/>
            <a:ext cx="1115568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B5ADA4"/>
                </a:solidFill>
                <a:latin typeface="Consolas"/>
              </a:rPr>
              <a:t>Runs in a browser. No server, no install, no network.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