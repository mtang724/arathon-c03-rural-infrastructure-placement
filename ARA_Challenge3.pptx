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 data it has seen</c:v>
                </c:pt>
              </c:strCache>
            </c:strRef>
          </c:tx>
          <c:spPr>
            <a:solidFill>
              <a:srgbClr val="B5A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5.63</c:v>
                </c:pt>
                <c:pt idx="1">
                  <c:v>8.56</c:v>
                </c:pt>
                <c:pt idx="2">
                  <c:v>7.35</c:v>
                </c:pt>
                <c:pt idx="3">
                  <c:v>7.61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somewhere new</c:v>
                </c:pt>
              </c:strCache>
            </c:strRef>
          </c:tx>
          <c:spPr>
            <a:solidFill>
              <a:srgbClr val="3E5C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15.83</c:v>
                </c:pt>
                <c:pt idx="1">
                  <c:v>13.13</c:v>
                </c:pt>
                <c:pt idx="2">
                  <c:v>9.66</c:v>
                </c:pt>
                <c:pt idx="3">
                  <c:v>7.95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50">
                  <a:solidFill>
                    <a:srgbClr val="1C1917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9D3CB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3A4842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7971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B4532A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what counts as served</c:v>
                </c:pt>
                <c:pt idx="1">
                  <c:v>asset class</c:v>
                </c:pt>
                <c:pt idx="2">
                  <c:v>propagation model</c:v>
                </c:pt>
                <c:pt idx="3">
                  <c:v>threshold</c:v>
                </c:pt>
                <c:pt idx="4">
                  <c:v>route vs area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4.24</c:v>
                </c:pt>
                <c:pt idx="1">
                  <c:v>3.35</c:v>
                </c:pt>
                <c:pt idx="2">
                  <c:v>2.06</c:v>
                </c:pt>
                <c:pt idx="3">
                  <c:v>1.28</c:v>
                </c:pt>
                <c:pt idx="4">
                  <c:v>1.21</c:v>
                </c:pt>
              </c:numCache>
            </c:numRef>
          </c:val>
        </c:ser>
        <c:dLbls>
          <c:numFmt formatCode="0.0&quot;km&quot;" sourceLinked="0"/>
          <c:txPr>
            <a:bodyPr/>
            <a:lstStyle/>
            <a:p>
              <a:pPr>
                <a:defRPr sz="950">
                  <a:solidFill>
                    <a:srgbClr val="1C1917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7971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4532A"/>
                </a:solidFill>
                <a:latin typeface="Archivo"/>
              </a:rPr>
              <a:t>Arathon Challenge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>
                <a:solidFill>
                  <a:srgbClr val="1C1917"/>
                </a:solidFill>
                <a:latin typeface="Archivo"/>
              </a:rPr>
              <a:t>Where do you build, when you have
measured almost none of the map?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92608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3A4842"/>
                </a:solidFill>
                <a:latin typeface="Archivo"/>
              </a:rPr>
              <a:t>A van drove one rural service area near Ames and logged 7,144 samples. That covers about 7% of it. The other 93% is where the decision has to be made.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4160520"/>
            <a:ext cx="26060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C1917"/>
                </a:solidFill>
                <a:latin typeface="Archivo"/>
              </a:rPr>
              <a:t>7,144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rows · 42% with no 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9272" y="4160520"/>
            <a:ext cx="26060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7288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OF THE AREA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C1917"/>
                </a:solidFill>
                <a:latin typeface="Archivo"/>
              </a:rPr>
              <a:t>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the rest is predicted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4160520"/>
            <a:ext cx="26060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BEST HELD 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3E5C6B"/>
                </a:solidFill>
                <a:latin typeface="Archivo"/>
              </a:rPr>
              <a:t>7.95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Ray tracing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1976" y="4160520"/>
            <a:ext cx="26060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9992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ROUTE COVERED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92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3E5C6B"/>
                </a:solidFill>
                <a:latin typeface="Archivo"/>
              </a:rPr>
              <a:t>44% → 69%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one macro site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4864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79716B"/>
                </a:solidFill>
                <a:latin typeface="Archivo"/>
              </a:rPr>
              <a:t>Mingyue Tang  ·  David Alcantara  ·  Ishan Bansal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AgWireless '26 · ARA COTS RAN, Ames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Measurements alone cannot site a tower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Left: every sample the van recorded. Right: what a twin fills in.</a:t>
            </a:r>
          </a:p>
        </p:txBody>
      </p:sp>
      <p:pic>
        <p:nvPicPr>
          <p:cNvPr id="7" name="Picture 6" descr="measu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280" y="1737360"/>
            <a:ext cx="3232217" cy="3520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47280" y="5349240"/>
            <a:ext cx="323221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C1917"/>
                </a:solidFill>
                <a:latin typeface="Archivo"/>
              </a:rPr>
              <a:t>What we measured</a:t>
            </a:r>
          </a:p>
        </p:txBody>
      </p:sp>
      <p:pic>
        <p:nvPicPr>
          <p:cNvPr id="9" name="Picture 8" descr="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2417" y="1737360"/>
            <a:ext cx="3759253" cy="3520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2417" y="5349240"/>
            <a:ext cx="375925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C1917"/>
                </a:solidFill>
                <a:latin typeface="Archivo"/>
              </a:rPr>
              <a:t>What the twin fills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42%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of samples had no serving cell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938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of 8,176 cells hold a 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6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candidate sites the van visited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7,144 samples · 117 km of road · a 178 km²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Four ways to predict where nobody drove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They share one interface and nothing else, so each can be wrong in its own way and one testbench can tell.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2606040" cy="3108960"/>
          </a:xfrm>
          <a:prstGeom prst="rect">
            <a:avLst/>
          </a:prstGeom>
          <a:solidFill>
            <a:srgbClr val="F5F2EE"/>
          </a:solidFill>
          <a:ln w="19050">
            <a:solidFill>
              <a:srgbClr val="9A6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7510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9A6E1E"/>
                </a:solidFill>
                <a:latin typeface="Consolas"/>
              </a:rPr>
              <a:t>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C1917"/>
                </a:solidFill>
                <a:latin typeface="Archivo"/>
              </a:rPr>
              <a:t>Fitted physics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43200"/>
            <a:ext cx="2286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260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A6E1E"/>
                </a:solidFill>
                <a:latin typeface="Consolas"/>
              </a:rPr>
              <a:t>distance and bearing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64992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A curve fitted to the measurements themselves. Fast, and it carries a mechanism.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434840"/>
            <a:ext cx="22860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4498848"/>
            <a:ext cx="2103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1917"/>
                </a:solidFill>
                <a:latin typeface="Consolas"/>
              </a:rPr>
              <a:t>fitted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9272" y="1828800"/>
            <a:ext cx="2606040" cy="3108960"/>
          </a:xfrm>
          <a:prstGeom prst="rect">
            <a:avLst/>
          </a:prstGeom>
          <a:solidFill>
            <a:srgbClr val="F5F2EE"/>
          </a:solidFill>
          <a:ln w="19050">
            <a:solidFill>
              <a:srgbClr val="3E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2152" y="197510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3E5C6B"/>
                </a:solidFill>
                <a:latin typeface="Consolas"/>
              </a:rPr>
              <a:t>RAY TRACING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219456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C1917"/>
                </a:solidFill>
                <a:latin typeface="Archivo"/>
              </a:rPr>
              <a:t>A simulated scene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2743200"/>
            <a:ext cx="2286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READS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29260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E5C6B"/>
                </a:solidFill>
                <a:latin typeface="Consolas"/>
              </a:rPr>
              <a:t>terrain and buildings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3364992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Rebuild the landscape and trace the signal through it. Geometry does the work, not the data.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02152" y="4434840"/>
            <a:ext cx="22860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1880" y="4498848"/>
            <a:ext cx="2103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1917"/>
                </a:solidFill>
                <a:latin typeface="Consolas"/>
              </a:rPr>
              <a:t>simulated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35624" y="1828800"/>
            <a:ext cx="2606040" cy="3108960"/>
          </a:xfrm>
          <a:prstGeom prst="rect">
            <a:avLst/>
          </a:prstGeom>
          <a:solidFill>
            <a:srgbClr val="F5F2EE"/>
          </a:solidFill>
          <a:ln w="19050">
            <a:solidFill>
              <a:srgbClr val="6B7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18504" y="197510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6B7F5C"/>
                </a:solidFill>
                <a:latin typeface="Consolas"/>
              </a:rPr>
              <a:t>DEEP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219456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C1917"/>
                </a:solidFill>
                <a:latin typeface="Archivo"/>
              </a:rPr>
              <a:t>Neural operator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2743200"/>
            <a:ext cx="2286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READS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29260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B7F5C"/>
                </a:solidFill>
                <a:latin typeface="Consolas"/>
              </a:rPr>
              <a:t>the terrain profile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364992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Learns the shape of the ground along each link instead of assuming a formula.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18504" y="4434840"/>
            <a:ext cx="22860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8232" y="4498848"/>
            <a:ext cx="2103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1917"/>
                </a:solidFill>
                <a:latin typeface="Consolas"/>
              </a:rPr>
              <a:t>learned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51976" y="1828800"/>
            <a:ext cx="2606040" cy="3108960"/>
          </a:xfrm>
          <a:prstGeom prst="rect">
            <a:avLst/>
          </a:prstGeom>
          <a:solidFill>
            <a:srgbClr val="F5F2EE"/>
          </a:solidFill>
          <a:ln w="1905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34856" y="197510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B4532A"/>
                </a:solidFill>
                <a:latin typeface="Consolas"/>
              </a:rPr>
              <a:t>PINN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6" y="219456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C1917"/>
                </a:solidFill>
                <a:latin typeface="Archivo"/>
              </a:rPr>
              <a:t>Physics-informed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4856" y="2743200"/>
            <a:ext cx="2286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READS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4856" y="29260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4532A"/>
                </a:solidFill>
                <a:latin typeface="Consolas"/>
              </a:rPr>
              <a:t>position, with physics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34856" y="3364992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Learns the field, with the physics added as a penalty to keep it honest.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34856" y="4434840"/>
            <a:ext cx="22860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44584" y="4498848"/>
            <a:ext cx="2103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1917"/>
                </a:solidFill>
                <a:latin typeface="Consolas"/>
              </a:rPr>
              <a:t>learned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230368"/>
            <a:ext cx="11155680" cy="548640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358384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1917"/>
                </a:solidFill>
                <a:latin typeface="Archivo"/>
              </a:rPr>
              <a:t>All four answer the same two questions, so one testbench scores them the same way and the planner can drive any of them.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In sample is not the same as somewhere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RSRP error in dB. Lower is better. Same rows, same splits, same 200 m buffer between train and test.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828800"/>
          <a:ext cx="6858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1206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Consolas"/>
              </a:rPr>
              <a:t>Grey is in sample. Teal is held out by region. The distance between a pair is how much of the score was memory.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828800"/>
            <a:ext cx="4023360" cy="1417320"/>
          </a:xfrm>
          <a:prstGeom prst="rect">
            <a:avLst/>
          </a:prstGeom>
          <a:solidFill>
            <a:srgbClr val="F5F2EE"/>
          </a:solidFill>
          <a:ln w="19050">
            <a:solidFill>
              <a:srgbClr val="3E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36408" y="1956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E5C6B"/>
                </a:solidFill>
                <a:latin typeface="Archivo"/>
              </a:rPr>
              <a:t>Ray tracing barely moves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2286000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7.61 dB in sample, 7.95 held out. It is the only model that does not care whether it has seen the ground before.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3383280"/>
            <a:ext cx="4023360" cy="2331720"/>
          </a:xfrm>
          <a:prstGeom prst="rect">
            <a:avLst/>
          </a:prstGeom>
          <a:solidFill>
            <a:srgbClr val="F5F2EE"/>
          </a:solidFill>
          <a:ln w="1905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8" y="35112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4532A"/>
                </a:solidFill>
                <a:latin typeface="Archivo"/>
              </a:rPr>
              <a:t>The learned models memorise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3840480"/>
            <a:ext cx="3657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A terrain profile is nearly a unique location label — its nearest neighbour sits 12 m away on the ground. Feed the operator profiles from the wrong links and it scores 13.16 dB against 13.13 with the right ones. It never used the terrain.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Held out by region · 200 m buffer between train and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the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Turning a surface into a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Score 627 candidate sites against 4,731 demand cells — then move every assumption and watch where the answer goes.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Predict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a value in every 200 m cell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Define 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eight definitions, one threshold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5624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route-km and area gained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Constrain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power, access, structures, backhaul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788920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Archivo"/>
              </a:rPr>
              <a:t>How far the recommended site moves when you change one assumption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365760" y="3108960"/>
          <a:ext cx="704088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ectangle 23"/>
          <p:cNvSpPr/>
          <p:nvPr/>
        </p:nvSpPr>
        <p:spPr>
          <a:xfrm>
            <a:off x="7635240" y="2788920"/>
            <a:ext cx="4023360" cy="1371600"/>
          </a:xfrm>
          <a:prstGeom prst="rect">
            <a:avLst/>
          </a:prstGeom>
          <a:solidFill>
            <a:srgbClr val="F5F2EE"/>
          </a:solidFill>
          <a:ln w="1905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36408" y="2907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4532A"/>
                </a:solidFill>
                <a:latin typeface="Archivo"/>
              </a:rPr>
              <a:t>The definition beats the physics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3236976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Changing what counts as service moves the site twice as far as changing the model. It was chosen, not measured.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4297680"/>
            <a:ext cx="4023360" cy="1325880"/>
          </a:xfrm>
          <a:prstGeom prst="rect">
            <a:avLst/>
          </a:prstGeom>
          <a:solidFill>
            <a:srgbClr val="F5F2EE"/>
          </a:solidFill>
          <a:ln w="19050">
            <a:solidFill>
              <a:srgbClr val="3E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36408" y="44165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E5C6B"/>
                </a:solidFill>
                <a:latin typeface="Archivo"/>
              </a:rPr>
              <a:t>A neighbourhood, not a 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6408" y="4745736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Requiring grid power within 1 km moves it 11 km. The exact site repeats in 10% of draws; 3 km in 99%.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198 combinations of model, asset, criterion, threshold and weighting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The planner,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 brief's demo artifact: place an asset and immediately see coverage, performance, uncertainty and route benefit change.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1C1917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Archivo"/>
              </a:rPr>
              <a:t>Rural Coverage Planner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8366759" y="2157984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APPROACH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8366759" y="2633472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WHAT COUNTS AS SERVED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Availability ▾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8366759" y="3108960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TARGET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≥ 50% of the time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8366759" y="3584448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ROUTE VS AREA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0.70 / 0.30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8366759" y="4059935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ASSET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Macro · 37 m · 0 dB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476487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ROUTE-KM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8476487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E5C6B"/>
                </a:solidFill>
                <a:latin typeface="Archivo"/>
              </a:rPr>
              <a:t>51.9 → 80.5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10076686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SCORE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10076686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E5C6B"/>
                </a:solidFill>
                <a:latin typeface="Archivo"/>
              </a:rPr>
              <a:t>0.421 → 0.652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Heatmap of the chosen criterion over shaded relief, with the drive test drawn on top in a contrasting hue — which doubles as the road network. Amber is the existing tower, the ring is the placement. Three sweep buttons re-solve across every criterion, every weighting and every approach; a constrained variant adds the five buildability layers.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Runs in a browser. No server, no install, no network.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