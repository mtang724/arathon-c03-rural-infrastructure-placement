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5A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3E5C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3CB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3A4842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B4532A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2A"/>
                </a:solidFill>
                <a:latin typeface="Archivo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917"/>
                </a:solidFill>
                <a:latin typeface="Archivo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>
                <a:solidFill>
                  <a:srgbClr val="B4532A"/>
                </a:solidFill>
                <a:latin typeface="Archivo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3A4842"/>
                </a:solidFill>
                <a:latin typeface="Archivo"/>
              </a:rPr>
              <a:t>A van drove one rural service area near Ames and logged 7,144 samples. They cover 7% of it. The decision has to be made about the other 93%, so we build a model of the ground and let it stand in for the survey.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Consolas"/>
              </a:rPr>
              <a:t>Four towers today. 627 places the next one could go.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5204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5029200"/>
            <a:ext cx="3264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MEASURED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5193792"/>
            <a:ext cx="3264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1917"/>
                </a:solidFill>
                <a:latin typeface="Archivo"/>
              </a:rPr>
              <a:t>7,144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5596128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rows · 42% no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5204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8264" y="5029200"/>
            <a:ext cx="3264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OF THE AREA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5193792"/>
            <a:ext cx="3264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1917"/>
                </a:solidFill>
                <a:latin typeface="Archivo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5596128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5204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5592" y="5029200"/>
            <a:ext cx="3264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ROUTE COVERED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5193792"/>
            <a:ext cx="3264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B4532A"/>
                </a:solidFill>
                <a:latin typeface="Archivo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596128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with one more 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79716B"/>
                </a:solidFill>
                <a:latin typeface="Archivo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Measurements alone cannot site a tower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Same ground, same scale, same colours. Only the coverage differs.</a:t>
            </a:r>
          </a:p>
        </p:txBody>
      </p:sp>
      <p:pic>
        <p:nvPicPr>
          <p:cNvPr id="7" name="Picture 6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we measured</a:t>
            </a:r>
          </a:p>
        </p:txBody>
      </p:sp>
      <p:pic>
        <p:nvPicPr>
          <p:cNvPr id="9" name="Picture 8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the twin predicts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42%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samples had no serving cell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938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8,176 cells hold a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6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candidate sites the van visited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Four ways to fill in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Each one reads something different about the same ground.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9A6E1E"/>
                </a:solidFill>
                <a:latin typeface="Archivo"/>
              </a:rPr>
              <a:t>Baseline</a:t>
            </a:r>
          </a:p>
        </p:txBody>
      </p:sp>
      <p:pic>
        <p:nvPicPr>
          <p:cNvPr id="8" name="Picture 7" descr="h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11680"/>
            <a:ext cx="2670048" cy="2021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5488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Fit a curve to the measurements and read it off anywhere.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0984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E5C6B"/>
                </a:solidFill>
                <a:latin typeface="Archivo"/>
              </a:rPr>
              <a:t>Ray tracing</a:t>
            </a:r>
          </a:p>
        </p:txBody>
      </p:sp>
      <p:pic>
        <p:nvPicPr>
          <p:cNvPr id="11" name="Picture 10" descr="how_ray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984" y="2011680"/>
            <a:ext cx="2670048" cy="2021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00984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Rebuild the terrain and buildings, then trace the signal through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79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7F5C"/>
                </a:solidFill>
                <a:latin typeface="Archivo"/>
              </a:rPr>
              <a:t>Deep learning</a:t>
            </a:r>
          </a:p>
        </p:txBody>
      </p:sp>
      <p:pic>
        <p:nvPicPr>
          <p:cNvPr id="14" name="Picture 13" descr="how_deep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79" y="2011680"/>
            <a:ext cx="2670048" cy="2021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26479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Feed it the ground profile along each link and let it learn the rest.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4532A"/>
                </a:solidFill>
                <a:latin typeface="Archivo"/>
              </a:rPr>
              <a:t>PINN</a:t>
            </a:r>
          </a:p>
        </p:txBody>
      </p:sp>
      <p:pic>
        <p:nvPicPr>
          <p:cNvPr id="17" name="Picture 16" descr="how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1976" y="2011680"/>
            <a:ext cx="2670048" cy="2021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51976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Learn what distance alone cannot explain, with physics as a rule.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5029200"/>
            <a:ext cx="11256264" cy="86868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157216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  <a:latin typeface="Archivo"/>
              </a:rPr>
              <a:t>All four cover about the same amount of ground — and disagree about 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477256"/>
            <a:ext cx="10789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4842"/>
                </a:solidFill>
                <a:latin typeface="Archivo"/>
              </a:rPr>
              <a:t>34% to 41% of cells clear the threshold whichever you ask. The question is not who covers more — it is who is still right somewhere new.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In sample is not the same as somewhere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Consolas"/>
              </a:rPr>
              <a:t>Grey is in sample. Teal is held out by region. The distance between a pair is how much of the score was memory.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828800"/>
            <a:ext cx="4023360" cy="141732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Ray tracing barely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28600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7.61 dB in sample, 7.95 held out. It is the only model that does not care whether it has seen the ground before.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3383280"/>
            <a:ext cx="4023360" cy="233172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8" y="3511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learned models memorise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3840480"/>
            <a:ext cx="3657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A terrain profile is nearly a unique location label — its nearest neighbour sits 12 m away on the ground. Feed the operator profiles from the wrong links and it scores 13.16 dB against 13.13 with the right ones. It never used the terrain.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Turning a surface into a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Score 627 candidate sites against 4,731 demand cells — then move every assumption and watch where the answer goes.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Predict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a value in every 200 m cell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Define 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eight definitions, one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route-km and area gained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Constrain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power, access, structures, backhaul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How far the recommended site moves when you change one assumption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7635240" y="2788920"/>
            <a:ext cx="4023360" cy="137160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36408" y="2907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definition beats the physics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323697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297680"/>
            <a:ext cx="4023360" cy="132588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6408" y="44165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A neighbourhood, not a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474573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Requiring grid power within 1 km moves it 11 km. The exact site repeats in 10% of draws; 3 km in 99%.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The planner,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1C1917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Rural Coverage Planner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366759" y="2157984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APPROACH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8366759" y="2633472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WHAT COUNTS AS SERVED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Availability ▾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366759" y="3108960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TARGET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≥ 50% of the time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366759" y="3584448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 VS AREA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0.70 / 0.30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8366759" y="4059935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ASSET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Macro · 37 m · 0 dB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ROUTE-KM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51.9 → 80.5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SCORE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0.421 → 0.652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