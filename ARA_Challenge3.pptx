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samples</c:v>
                </c:pt>
              </c:strCache>
            </c:strRef>
          </c:tx>
          <c:spPr>
            <a:solidFill>
              <a:srgbClr val="0F6E70"/>
            </a:solidFill>
            <a:ln>
              <a:noFill/>
            </a:ln>
          </c:spPr>
          <c:cat>
            <c:strRef>
              <c:f>Sheet1!$A$2:$A$6</c:f>
              <c:strCache>
                <c:ptCount val="5"/>
                <c:pt idx="0">
                  <c:v>0–2 km</c:v>
                </c:pt>
                <c:pt idx="1">
                  <c:v>2–4</c:v>
                </c:pt>
                <c:pt idx="2">
                  <c:v>4–6</c:v>
                </c:pt>
                <c:pt idx="3">
                  <c:v>6–8</c:v>
                </c:pt>
                <c:pt idx="4">
                  <c:v>8–13</c:v>
                </c:pt>
              </c:strCache>
            </c:strRef>
          </c:cat>
          <c:val>
            <c:numRef>
              <c:f>Sheet1!$B$2:$B$6</c:f>
              <c:numCache>
                <c:formatCode>General</c:formatCode>
                <c:ptCount val="5"/>
                <c:pt idx="0">
                  <c:v>1245</c:v>
                </c:pt>
                <c:pt idx="1">
                  <c:v>1520</c:v>
                </c:pt>
                <c:pt idx="2">
                  <c:v>1410</c:v>
                </c:pt>
                <c:pt idx="3">
                  <c:v>1180</c:v>
                </c:pt>
                <c:pt idx="4">
                  <c:v>1789</c:v>
                </c:pt>
              </c:numCache>
            </c:numRef>
          </c:val>
        </c:ser>
        <c:dLbls>
          <c:numFmt formatCode="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odds ratio</c:v>
                </c:pt>
              </c:strCache>
            </c:strRef>
          </c:tx>
          <c:spPr>
            <a:solidFill>
              <a:srgbClr val="8F6200"/>
            </a:solidFill>
            <a:ln>
              <a:noFill/>
            </a:ln>
          </c:spPr>
          <c:cat>
            <c:strRef>
              <c:f>Sheet1!$A$2:$A$5</c:f>
              <c:strCache>
                <c:ptCount val="4"/>
                <c:pt idx="0">
                  <c:v>2–4 km</c:v>
                </c:pt>
                <c:pt idx="1">
                  <c:v>4–6 km</c:v>
                </c:pt>
                <c:pt idx="2">
                  <c:v>6–8 km</c:v>
                </c:pt>
                <c:pt idx="3">
                  <c:v>8–13 km</c:v>
                </c:pt>
              </c:strCache>
            </c:strRef>
          </c:cat>
          <c:val>
            <c:numRef>
              <c:f>Sheet1!$B$2:$B$5</c:f>
              <c:numCache>
                <c:formatCode>General</c:formatCode>
                <c:ptCount val="4"/>
                <c:pt idx="0">
                  <c:v>2.25</c:v>
                </c:pt>
                <c:pt idx="1">
                  <c:v>2.39</c:v>
                </c:pt>
                <c:pt idx="2">
                  <c:v>0.83</c:v>
                </c:pt>
                <c:pt idx="3">
                  <c:v>0.97</c:v>
                </c:pt>
              </c:numCache>
            </c:numRef>
          </c:val>
        </c:ser>
        <c:dLbls>
          <c:numFmt formatCode="0.0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RMSE</c:v>
                </c:pt>
              </c:strCache>
            </c:strRef>
          </c:tx>
          <c:spPr>
            <a:solidFill>
              <a:srgbClr val="8F6200"/>
            </a:solidFill>
            <a:ln>
              <a:noFill/>
            </a:ln>
          </c:spPr>
          <c:cat>
            <c:strRef>
              <c:f>Sheet1!$A$2:$A$5</c:f>
              <c:strCache>
                <c:ptCount val="4"/>
                <c:pt idx="0">
                  <c:v>in sample</c:v>
                </c:pt>
                <c:pt idx="1">
                  <c:v>random</c:v>
                </c:pt>
                <c:pt idx="2">
                  <c:v>KMeans</c:v>
                </c:pt>
                <c:pt idx="3">
                  <c:v>wedges</c:v>
                </c:pt>
              </c:strCache>
            </c:strRef>
          </c:cat>
          <c:val>
            <c:numRef>
              <c:f>Sheet1!$B$2:$B$5</c:f>
              <c:numCache>
                <c:formatCode>General</c:formatCode>
                <c:ptCount val="4"/>
                <c:pt idx="0">
                  <c:v>7.35</c:v>
                </c:pt>
                <c:pt idx="1">
                  <c:v>7.33</c:v>
                </c:pt>
                <c:pt idx="2">
                  <c:v>9.66</c:v>
                </c:pt>
                <c:pt idx="3">
                  <c:v>9.78</c:v>
                </c:pt>
              </c:numCache>
            </c:numRef>
          </c:val>
        </c:ser>
        <c:dLbls>
          <c:numFmt formatCode="0.0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route-km added</c:v>
                </c:pt>
              </c:strCache>
            </c:strRef>
          </c:tx>
          <c:spPr>
            <a:solidFill>
              <a:srgbClr val="A8B2A6"/>
            </a:solidFill>
            <a:ln>
              <a:noFill/>
            </a:ln>
          </c:spPr>
          <c:cat>
            <c:strRef>
              <c:f>Sheet1!$A$2:$A$4</c:f>
              <c:strCache>
                <c:ptCount val="3"/>
                <c:pt idx="0">
                  <c:v>Donor relay
−20 dB</c:v>
                </c:pt>
                <c:pt idx="1">
                  <c:v>Small cell
−26 dB</c:v>
                </c:pt>
                <c:pt idx="2">
                  <c:v>Macro
0 dB</c:v>
                </c:pt>
              </c:strCache>
            </c:strRef>
          </c:cat>
          <c:val>
            <c:numRef>
              <c:f>Sheet1!$B$2:$B$4</c:f>
              <c:numCache>
                <c:formatCode>General</c:formatCode>
                <c:ptCount val="3"/>
                <c:pt idx="0">
                  <c:v>1.4</c:v>
                </c:pt>
                <c:pt idx="1">
                  <c:v>0.7</c:v>
                </c:pt>
                <c:pt idx="2">
                  <c:v>28.6</c:v>
                </c:pt>
              </c:numCache>
            </c:numRef>
          </c:val>
        </c:ser>
        <c:dLbls>
          <c:numFmt formatCode="0.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1417320"/>
            <a:ext cx="1371600" cy="50292"/>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960120"/>
            <a:ext cx="8229600" cy="320040"/>
          </a:xfrm>
          <a:prstGeom prst="rect">
            <a:avLst/>
          </a:prstGeom>
          <a:noFill/>
        </p:spPr>
        <p:txBody>
          <a:bodyPr wrap="square" anchor="t" lIns="0" rIns="0" tIns="0" bIns="0">
            <a:spAutoFit/>
          </a:bodyPr>
          <a:lstStyle/>
          <a:p>
            <a:pPr algn="l"/>
            <a:r>
              <a:rPr sz="1100" b="1" spc="240">
                <a:solidFill>
                  <a:srgbClr val="0F6E70"/>
                </a:solidFill>
                <a:latin typeface="Consolas"/>
              </a:rPr>
              <a:t>ARATHON CHALLENGE 03</a:t>
            </a:r>
          </a:p>
        </p:txBody>
      </p:sp>
      <p:sp>
        <p:nvSpPr>
          <p:cNvPr id="6" name="TextBox 5"/>
          <p:cNvSpPr txBox="1"/>
          <p:nvPr/>
        </p:nvSpPr>
        <p:spPr>
          <a:xfrm>
            <a:off x="502920" y="1691640"/>
            <a:ext cx="10607040" cy="1371600"/>
          </a:xfrm>
          <a:prstGeom prst="rect">
            <a:avLst/>
          </a:prstGeom>
          <a:noFill/>
        </p:spPr>
        <p:txBody>
          <a:bodyPr wrap="square" anchor="t" lIns="0" rIns="0" tIns="0" bIns="0">
            <a:spAutoFit/>
          </a:bodyPr>
          <a:lstStyle/>
          <a:p>
            <a:pPr algn="l"/>
            <a:r>
              <a:rPr sz="4600" b="1">
                <a:solidFill>
                  <a:srgbClr val="16211C"/>
                </a:solidFill>
                <a:latin typeface="Archivo"/>
              </a:rPr>
              <a:t>Where does one more transmitter
do the most good?</a:t>
            </a:r>
          </a:p>
        </p:txBody>
      </p:sp>
      <p:sp>
        <p:nvSpPr>
          <p:cNvPr id="7" name="TextBox 6"/>
          <p:cNvSpPr txBox="1"/>
          <p:nvPr/>
        </p:nvSpPr>
        <p:spPr>
          <a:xfrm>
            <a:off x="502920" y="3200400"/>
            <a:ext cx="8595360" cy="914400"/>
          </a:xfrm>
          <a:prstGeom prst="rect">
            <a:avLst/>
          </a:prstGeom>
          <a:noFill/>
        </p:spPr>
        <p:txBody>
          <a:bodyPr wrap="square" anchor="t" lIns="0" rIns="0" tIns="0" bIns="0">
            <a:spAutoFit/>
          </a:bodyPr>
          <a:lstStyle/>
          <a:p>
            <a:pPr algn="l"/>
            <a:r>
              <a:rPr sz="1400" b="0">
                <a:solidFill>
                  <a:srgbClr val="3A4842"/>
                </a:solidFill>
                <a:latin typeface="Archivo"/>
              </a:rPr>
              <a:t>A rural drive test covers 7% of the service area. The task is to move from describing weak service to recommending a limited, defensible intervention — which means predicting where nothing was measured, and being explicit about how far that prediction can be trusted.</a:t>
            </a:r>
          </a:p>
        </p:txBody>
      </p:sp>
      <p:sp>
        <p:nvSpPr>
          <p:cNvPr id="8" name="Rectangle 7"/>
          <p:cNvSpPr/>
          <p:nvPr/>
        </p:nvSpPr>
        <p:spPr>
          <a:xfrm>
            <a:off x="502920"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MEASUREMENTS</a:t>
            </a:r>
          </a:p>
        </p:txBody>
      </p:sp>
      <p:sp>
        <p:nvSpPr>
          <p:cNvPr id="10" name="TextBox 9"/>
          <p:cNvSpPr txBox="1"/>
          <p:nvPr/>
        </p:nvSpPr>
        <p:spPr>
          <a:xfrm>
            <a:off x="630936" y="4690872"/>
            <a:ext cx="2350008" cy="384048"/>
          </a:xfrm>
          <a:prstGeom prst="rect">
            <a:avLst/>
          </a:prstGeom>
          <a:noFill/>
        </p:spPr>
        <p:txBody>
          <a:bodyPr wrap="square" anchor="t" lIns="0" rIns="0" tIns="0" bIns="0">
            <a:spAutoFit/>
          </a:bodyPr>
          <a:lstStyle/>
          <a:p>
            <a:pPr algn="l"/>
            <a:r>
              <a:rPr sz="2500" b="1">
                <a:solidFill>
                  <a:srgbClr val="16211C"/>
                </a:solidFill>
                <a:latin typeface="Archivo"/>
              </a:rPr>
              <a:t>7,144</a:t>
            </a:r>
          </a:p>
        </p:txBody>
      </p:sp>
      <p:sp>
        <p:nvSpPr>
          <p:cNvPr id="11" name="TextBox 10"/>
          <p:cNvSpPr txBox="1"/>
          <p:nvPr/>
        </p:nvSpPr>
        <p:spPr>
          <a:xfrm>
            <a:off x="630936"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rows, 4 runs, 2 days</a:t>
            </a:r>
          </a:p>
        </p:txBody>
      </p:sp>
      <p:sp>
        <p:nvSpPr>
          <p:cNvPr id="12" name="Rectangle 11"/>
          <p:cNvSpPr/>
          <p:nvPr/>
        </p:nvSpPr>
        <p:spPr>
          <a:xfrm>
            <a:off x="3319272"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NO SERVING CELL</a:t>
            </a:r>
          </a:p>
        </p:txBody>
      </p:sp>
      <p:sp>
        <p:nvSpPr>
          <p:cNvPr id="14" name="TextBox 13"/>
          <p:cNvSpPr txBox="1"/>
          <p:nvPr/>
        </p:nvSpPr>
        <p:spPr>
          <a:xfrm>
            <a:off x="3447288" y="4690872"/>
            <a:ext cx="2350008" cy="384048"/>
          </a:xfrm>
          <a:prstGeom prst="rect">
            <a:avLst/>
          </a:prstGeom>
          <a:noFill/>
        </p:spPr>
        <p:txBody>
          <a:bodyPr wrap="square" anchor="t" lIns="0" rIns="0" tIns="0" bIns="0">
            <a:spAutoFit/>
          </a:bodyPr>
          <a:lstStyle/>
          <a:p>
            <a:pPr algn="l"/>
            <a:r>
              <a:rPr sz="2500" b="1">
                <a:solidFill>
                  <a:srgbClr val="16211C"/>
                </a:solidFill>
                <a:latin typeface="Archivo"/>
              </a:rPr>
              <a:t>40.4%</a:t>
            </a:r>
          </a:p>
        </p:txBody>
      </p:sp>
      <p:sp>
        <p:nvSpPr>
          <p:cNvPr id="15" name="TextBox 14"/>
          <p:cNvSpPr txBox="1"/>
          <p:nvPr/>
        </p:nvSpPr>
        <p:spPr>
          <a:xfrm>
            <a:off x="3447288"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measured absence, not missing</a:t>
            </a:r>
          </a:p>
        </p:txBody>
      </p:sp>
      <p:sp>
        <p:nvSpPr>
          <p:cNvPr id="16" name="Rectangle 15"/>
          <p:cNvSpPr/>
          <p:nvPr/>
        </p:nvSpPr>
        <p:spPr>
          <a:xfrm>
            <a:off x="6135624"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BEST HELD-OUT</a:t>
            </a:r>
          </a:p>
        </p:txBody>
      </p:sp>
      <p:sp>
        <p:nvSpPr>
          <p:cNvPr id="18" name="TextBox 17"/>
          <p:cNvSpPr txBox="1"/>
          <p:nvPr/>
        </p:nvSpPr>
        <p:spPr>
          <a:xfrm>
            <a:off x="6263640" y="4690872"/>
            <a:ext cx="2350008" cy="384048"/>
          </a:xfrm>
          <a:prstGeom prst="rect">
            <a:avLst/>
          </a:prstGeom>
          <a:noFill/>
        </p:spPr>
        <p:txBody>
          <a:bodyPr wrap="square" anchor="t" lIns="0" rIns="0" tIns="0" bIns="0">
            <a:spAutoFit/>
          </a:bodyPr>
          <a:lstStyle/>
          <a:p>
            <a:pPr algn="l"/>
            <a:r>
              <a:rPr sz="2500" b="1">
                <a:solidFill>
                  <a:srgbClr val="0F6E70"/>
                </a:solidFill>
                <a:latin typeface="Archivo"/>
              </a:rPr>
              <a:t>7.95 dB</a:t>
            </a:r>
          </a:p>
        </p:txBody>
      </p:sp>
      <p:sp>
        <p:nvSpPr>
          <p:cNvPr id="19" name="TextBox 18"/>
          <p:cNvSpPr txBox="1"/>
          <p:nvPr/>
        </p:nvSpPr>
        <p:spPr>
          <a:xfrm>
            <a:off x="6263640"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KMeans blocks · sionna-hybrid-agronomy</a:t>
            </a:r>
          </a:p>
        </p:txBody>
      </p:sp>
      <p:sp>
        <p:nvSpPr>
          <p:cNvPr id="20" name="Rectangle 19"/>
          <p:cNvSpPr/>
          <p:nvPr/>
        </p:nvSpPr>
        <p:spPr>
          <a:xfrm>
            <a:off x="8951976"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ROUTE COVERED TODAY</a:t>
            </a:r>
          </a:p>
        </p:txBody>
      </p:sp>
      <p:sp>
        <p:nvSpPr>
          <p:cNvPr id="22" name="TextBox 21"/>
          <p:cNvSpPr txBox="1"/>
          <p:nvPr/>
        </p:nvSpPr>
        <p:spPr>
          <a:xfrm>
            <a:off x="9079992" y="4690872"/>
            <a:ext cx="2350008" cy="384048"/>
          </a:xfrm>
          <a:prstGeom prst="rect">
            <a:avLst/>
          </a:prstGeom>
          <a:noFill/>
        </p:spPr>
        <p:txBody>
          <a:bodyPr wrap="square" anchor="t" lIns="0" rIns="0" tIns="0" bIns="0">
            <a:spAutoFit/>
          </a:bodyPr>
          <a:lstStyle/>
          <a:p>
            <a:pPr algn="l"/>
            <a:r>
              <a:rPr sz="2500" b="1">
                <a:solidFill>
                  <a:srgbClr val="0F6E70"/>
                </a:solidFill>
                <a:latin typeface="Archivo"/>
              </a:rPr>
              <a:t>44%</a:t>
            </a:r>
          </a:p>
        </p:txBody>
      </p:sp>
      <p:sp>
        <p:nvSpPr>
          <p:cNvPr id="23" name="TextBox 22"/>
          <p:cNvSpPr txBox="1"/>
          <p:nvPr/>
        </p:nvSpPr>
        <p:spPr>
          <a:xfrm>
            <a:off x="9079992"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of 116.7 km driven</a:t>
            </a:r>
          </a:p>
        </p:txBody>
      </p:sp>
      <p:sp>
        <p:nvSpPr>
          <p:cNvPr id="24" name="TextBox 23"/>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AgWireless '26 / Rural Connectivity Research   ·   measurements: ARA COTS, Ames IA   ·   terrain: USGS 3DEP 1/3 arc-second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02</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RESEARCH REQUIREMENT</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has to be answered, and to what standard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 brief asks for a recommendation. A recommendation is only worth anything if the uncertainty around it is stated.</a:t>
            </a:r>
          </a:p>
        </p:txBody>
      </p:sp>
      <p:sp>
        <p:nvSpPr>
          <p:cNvPr id="8" name="Rectangle 7"/>
          <p:cNvSpPr/>
          <p:nvPr/>
        </p:nvSpPr>
        <p:spPr>
          <a:xfrm>
            <a:off x="502920" y="1783080"/>
            <a:ext cx="11155680" cy="105156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783080"/>
            <a:ext cx="54864" cy="105156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929384"/>
            <a:ext cx="457200" cy="274320"/>
          </a:xfrm>
          <a:prstGeom prst="rect">
            <a:avLst/>
          </a:prstGeom>
          <a:noFill/>
        </p:spPr>
        <p:txBody>
          <a:bodyPr wrap="square" anchor="t" lIns="0" rIns="0" tIns="0" bIns="0">
            <a:spAutoFit/>
          </a:bodyPr>
          <a:lstStyle/>
          <a:p>
            <a:pPr algn="l"/>
            <a:r>
              <a:rPr sz="1200" b="1">
                <a:solidFill>
                  <a:srgbClr val="0F6E70"/>
                </a:solidFill>
                <a:latin typeface="Consolas"/>
              </a:rPr>
              <a:t>R1</a:t>
            </a:r>
          </a:p>
        </p:txBody>
      </p:sp>
      <p:sp>
        <p:nvSpPr>
          <p:cNvPr id="11" name="TextBox 10"/>
          <p:cNvSpPr txBox="1"/>
          <p:nvPr/>
        </p:nvSpPr>
        <p:spPr>
          <a:xfrm>
            <a:off x="1463040" y="1911096"/>
            <a:ext cx="9875520" cy="292608"/>
          </a:xfrm>
          <a:prstGeom prst="rect">
            <a:avLst/>
          </a:prstGeom>
          <a:noFill/>
        </p:spPr>
        <p:txBody>
          <a:bodyPr wrap="square" anchor="t" lIns="0" rIns="0" tIns="0" bIns="0">
            <a:spAutoFit/>
          </a:bodyPr>
          <a:lstStyle/>
          <a:p>
            <a:pPr algn="l"/>
            <a:r>
              <a:rPr sz="1550" b="1">
                <a:solidFill>
                  <a:srgbClr val="16211C"/>
                </a:solidFill>
                <a:latin typeface="Archivo"/>
              </a:rPr>
              <a:t>Predict performance where nothing was measured</a:t>
            </a:r>
          </a:p>
        </p:txBody>
      </p:sp>
      <p:sp>
        <p:nvSpPr>
          <p:cNvPr id="12" name="TextBox 11"/>
          <p:cNvSpPr txBox="1"/>
          <p:nvPr/>
        </p:nvSpPr>
        <p:spPr>
          <a:xfrm>
            <a:off x="1463040" y="2276856"/>
            <a:ext cx="9875520" cy="457200"/>
          </a:xfrm>
          <a:prstGeom prst="rect">
            <a:avLst/>
          </a:prstGeom>
          <a:noFill/>
        </p:spPr>
        <p:txBody>
          <a:bodyPr wrap="square" anchor="t" lIns="0" rIns="0" tIns="0" bIns="0">
            <a:spAutoFit/>
          </a:bodyPr>
          <a:lstStyle/>
          <a:p>
            <a:pPr algn="l"/>
            <a:r>
              <a:rPr sz="1150" b="0">
                <a:solidFill>
                  <a:srgbClr val="3A4842"/>
                </a:solidFill>
                <a:latin typeface="Archivo"/>
              </a:rPr>
              <a:t>A drive test is a line through an area. Coverage has to be inferred off that line, which is a modelling claim and needs a model, not an interpolation.</a:t>
            </a:r>
          </a:p>
        </p:txBody>
      </p:sp>
      <p:sp>
        <p:nvSpPr>
          <p:cNvPr id="13" name="Rectangle 12"/>
          <p:cNvSpPr/>
          <p:nvPr/>
        </p:nvSpPr>
        <p:spPr>
          <a:xfrm>
            <a:off x="502920" y="2990088"/>
            <a:ext cx="11155680" cy="105156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990088"/>
            <a:ext cx="54864" cy="105156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136392"/>
            <a:ext cx="457200" cy="274320"/>
          </a:xfrm>
          <a:prstGeom prst="rect">
            <a:avLst/>
          </a:prstGeom>
          <a:noFill/>
        </p:spPr>
        <p:txBody>
          <a:bodyPr wrap="square" anchor="t" lIns="0" rIns="0" tIns="0" bIns="0">
            <a:spAutoFit/>
          </a:bodyPr>
          <a:lstStyle/>
          <a:p>
            <a:pPr algn="l"/>
            <a:r>
              <a:rPr sz="1200" b="1">
                <a:solidFill>
                  <a:srgbClr val="0F6E70"/>
                </a:solidFill>
                <a:latin typeface="Consolas"/>
              </a:rPr>
              <a:t>R2</a:t>
            </a:r>
          </a:p>
        </p:txBody>
      </p:sp>
      <p:sp>
        <p:nvSpPr>
          <p:cNvPr id="16" name="TextBox 15"/>
          <p:cNvSpPr txBox="1"/>
          <p:nvPr/>
        </p:nvSpPr>
        <p:spPr>
          <a:xfrm>
            <a:off x="1463040" y="3118104"/>
            <a:ext cx="9875520" cy="292608"/>
          </a:xfrm>
          <a:prstGeom prst="rect">
            <a:avLst/>
          </a:prstGeom>
          <a:noFill/>
        </p:spPr>
        <p:txBody>
          <a:bodyPr wrap="square" anchor="t" lIns="0" rIns="0" tIns="0" bIns="0">
            <a:spAutoFit/>
          </a:bodyPr>
          <a:lstStyle/>
          <a:p>
            <a:pPr algn="l"/>
            <a:r>
              <a:rPr sz="1550" b="1">
                <a:solidFill>
                  <a:srgbClr val="16211C"/>
                </a:solidFill>
                <a:latin typeface="Archivo"/>
              </a:rPr>
              <a:t>Choose where one added asset does the most good</a:t>
            </a:r>
          </a:p>
        </p:txBody>
      </p:sp>
      <p:sp>
        <p:nvSpPr>
          <p:cNvPr id="17" name="TextBox 16"/>
          <p:cNvSpPr txBox="1"/>
          <p:nvPr/>
        </p:nvSpPr>
        <p:spPr>
          <a:xfrm>
            <a:off x="1463040" y="3483864"/>
            <a:ext cx="9875520" cy="457200"/>
          </a:xfrm>
          <a:prstGeom prst="rect">
            <a:avLst/>
          </a:prstGeom>
          <a:noFill/>
        </p:spPr>
        <p:txBody>
          <a:bodyPr wrap="square" anchor="t" lIns="0" rIns="0" tIns="0" bIns="0">
            <a:spAutoFit/>
          </a:bodyPr>
          <a:lstStyle/>
          <a:p>
            <a:pPr algn="l"/>
            <a:r>
              <a:rPr sz="1150" b="0">
                <a:solidFill>
                  <a:srgbClr val="3A4842"/>
                </a:solidFill>
                <a:latin typeface="Archivo"/>
              </a:rPr>
              <a:t>Relay, repeater, small cell, or a further measurement campaign — compared on the same demand, by the same objective.</a:t>
            </a:r>
          </a:p>
        </p:txBody>
      </p:sp>
      <p:sp>
        <p:nvSpPr>
          <p:cNvPr id="18" name="Rectangle 17"/>
          <p:cNvSpPr/>
          <p:nvPr/>
        </p:nvSpPr>
        <p:spPr>
          <a:xfrm>
            <a:off x="502920" y="4197096"/>
            <a:ext cx="11155680" cy="105156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197096"/>
            <a:ext cx="54864" cy="105156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343400"/>
            <a:ext cx="457200" cy="274320"/>
          </a:xfrm>
          <a:prstGeom prst="rect">
            <a:avLst/>
          </a:prstGeom>
          <a:noFill/>
        </p:spPr>
        <p:txBody>
          <a:bodyPr wrap="square" anchor="t" lIns="0" rIns="0" tIns="0" bIns="0">
            <a:spAutoFit/>
          </a:bodyPr>
          <a:lstStyle/>
          <a:p>
            <a:pPr algn="l"/>
            <a:r>
              <a:rPr sz="1200" b="1">
                <a:solidFill>
                  <a:srgbClr val="0F6E70"/>
                </a:solidFill>
                <a:latin typeface="Consolas"/>
              </a:rPr>
              <a:t>R3</a:t>
            </a:r>
          </a:p>
        </p:txBody>
      </p:sp>
      <p:sp>
        <p:nvSpPr>
          <p:cNvPr id="21" name="TextBox 20"/>
          <p:cNvSpPr txBox="1"/>
          <p:nvPr/>
        </p:nvSpPr>
        <p:spPr>
          <a:xfrm>
            <a:off x="1463040" y="4325112"/>
            <a:ext cx="9875520" cy="292608"/>
          </a:xfrm>
          <a:prstGeom prst="rect">
            <a:avLst/>
          </a:prstGeom>
          <a:noFill/>
        </p:spPr>
        <p:txBody>
          <a:bodyPr wrap="square" anchor="t" lIns="0" rIns="0" tIns="0" bIns="0">
            <a:spAutoFit/>
          </a:bodyPr>
          <a:lstStyle/>
          <a:p>
            <a:pPr algn="l"/>
            <a:r>
              <a:rPr sz="1550" b="1">
                <a:solidFill>
                  <a:srgbClr val="16211C"/>
                </a:solidFill>
                <a:latin typeface="Archivo"/>
              </a:rPr>
              <a:t>State the deployment assumptions and the uncertainty</a:t>
            </a:r>
          </a:p>
        </p:txBody>
      </p:sp>
      <p:sp>
        <p:nvSpPr>
          <p:cNvPr id="22" name="TextBox 21"/>
          <p:cNvSpPr txBox="1"/>
          <p:nvPr/>
        </p:nvSpPr>
        <p:spPr>
          <a:xfrm>
            <a:off x="1463040" y="4690872"/>
            <a:ext cx="9875520" cy="457200"/>
          </a:xfrm>
          <a:prstGeom prst="rect">
            <a:avLst/>
          </a:prstGeom>
          <a:noFill/>
        </p:spPr>
        <p:txBody>
          <a:bodyPr wrap="square" anchor="t" lIns="0" rIns="0" tIns="0" bIns="0">
            <a:spAutoFit/>
          </a:bodyPr>
          <a:lstStyle/>
          <a:p>
            <a:pPr algn="l"/>
            <a:r>
              <a:rPr sz="1150" b="0">
                <a:solidFill>
                  <a:srgbClr val="3A4842"/>
                </a:solidFill>
                <a:latin typeface="Archivo"/>
              </a:rPr>
              <a:t>Every constant declared, every held-out score reported, and the failures named rather than smoothed over.</a:t>
            </a:r>
          </a:p>
        </p:txBody>
      </p:sp>
      <p:sp>
        <p:nvSpPr>
          <p:cNvPr id="23" name="TextBox 22"/>
          <p:cNvSpPr txBox="1"/>
          <p:nvPr/>
        </p:nvSpPr>
        <p:spPr>
          <a:xfrm>
            <a:off x="502920" y="5532120"/>
            <a:ext cx="11155680" cy="822960"/>
          </a:xfrm>
          <a:prstGeom prst="rect">
            <a:avLst/>
          </a:prstGeom>
          <a:noFill/>
        </p:spPr>
        <p:txBody>
          <a:bodyPr wrap="square" anchor="t" lIns="0" rIns="0" tIns="0" bIns="0">
            <a:spAutoFit/>
          </a:bodyPr>
          <a:lstStyle/>
          <a:p>
            <a:pPr algn="l"/>
            <a:r>
              <a:rPr sz="1250" b="0">
                <a:solidFill>
                  <a:srgbClr val="16211C"/>
                </a:solidFill>
                <a:latin typeface="Archivo"/>
              </a:rPr>
              <a:t>The third is the one that decides whether the first two are believable. Every number in this deck is reported with the split it was measured on, and the places the model fails are given their own slide.</a:t>
            </a:r>
          </a:p>
        </p:txBody>
      </p:sp>
      <p:sp>
        <p:nvSpPr>
          <p:cNvPr id="24" name="TextBox 23"/>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COTS_Challenge_3.pdf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03</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DATASET · 1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was actually measured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One vehicle, one modem, one band, four runs over two days, around one serving site.</a:t>
            </a:r>
          </a:p>
        </p:txBody>
      </p:sp>
      <p:sp>
        <p:nvSpPr>
          <p:cNvPr id="8" name="Rectangle 7"/>
          <p:cNvSpPr/>
          <p:nvPr/>
        </p:nvSpPr>
        <p:spPr>
          <a:xfrm>
            <a:off x="502920"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ROWS</a:t>
            </a:r>
          </a:p>
        </p:txBody>
      </p:sp>
      <p:sp>
        <p:nvSpPr>
          <p:cNvPr id="10" name="TextBox 9"/>
          <p:cNvSpPr txBox="1"/>
          <p:nvPr/>
        </p:nvSpPr>
        <p:spPr>
          <a:xfrm>
            <a:off x="630936"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7,144</a:t>
            </a:r>
          </a:p>
        </p:txBody>
      </p:sp>
      <p:sp>
        <p:nvSpPr>
          <p:cNvPr id="11" name="TextBox 10"/>
          <p:cNvSpPr txBox="1"/>
          <p:nvPr/>
        </p:nvSpPr>
        <p:spPr>
          <a:xfrm>
            <a:off x="630936"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one every 2.63 s</a:t>
            </a:r>
          </a:p>
        </p:txBody>
      </p:sp>
      <p:sp>
        <p:nvSpPr>
          <p:cNvPr id="12" name="Rectangle 11"/>
          <p:cNvSpPr/>
          <p:nvPr/>
        </p:nvSpPr>
        <p:spPr>
          <a:xfrm>
            <a:off x="3319272"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DISTINCT ROAD</a:t>
            </a:r>
          </a:p>
        </p:txBody>
      </p:sp>
      <p:sp>
        <p:nvSpPr>
          <p:cNvPr id="14" name="TextBox 13"/>
          <p:cNvSpPr txBox="1"/>
          <p:nvPr/>
        </p:nvSpPr>
        <p:spPr>
          <a:xfrm>
            <a:off x="3447288"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116.7 km</a:t>
            </a:r>
          </a:p>
        </p:txBody>
      </p:sp>
      <p:sp>
        <p:nvSpPr>
          <p:cNvPr id="15" name="TextBox 14"/>
          <p:cNvSpPr txBox="1"/>
          <p:nvPr/>
        </p:nvSpPr>
        <p:spPr>
          <a:xfrm>
            <a:off x="3447288"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277 km driven, de-duplicated</a:t>
            </a:r>
          </a:p>
        </p:txBody>
      </p:sp>
      <p:sp>
        <p:nvSpPr>
          <p:cNvPr id="16" name="Rectangle 15"/>
          <p:cNvSpPr/>
          <p:nvPr/>
        </p:nvSpPr>
        <p:spPr>
          <a:xfrm>
            <a:off x="6135624"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SURVEY BOX</a:t>
            </a:r>
          </a:p>
        </p:txBody>
      </p:sp>
      <p:sp>
        <p:nvSpPr>
          <p:cNvPr id="18" name="TextBox 17"/>
          <p:cNvSpPr txBox="1"/>
          <p:nvPr/>
        </p:nvSpPr>
        <p:spPr>
          <a:xfrm>
            <a:off x="6263640"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189 km²</a:t>
            </a:r>
          </a:p>
        </p:txBody>
      </p:sp>
      <p:sp>
        <p:nvSpPr>
          <p:cNvPr id="19" name="TextBox 18"/>
          <p:cNvSpPr txBox="1"/>
          <p:nvPr/>
        </p:nvSpPr>
        <p:spPr>
          <a:xfrm>
            <a:off x="6263640"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11 × 16 km</a:t>
            </a:r>
          </a:p>
        </p:txBody>
      </p:sp>
      <p:sp>
        <p:nvSpPr>
          <p:cNvPr id="20" name="Rectangle 19"/>
          <p:cNvSpPr/>
          <p:nvPr/>
        </p:nvSpPr>
        <p:spPr>
          <a:xfrm>
            <a:off x="8951976"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SERVING SITES</a:t>
            </a:r>
          </a:p>
        </p:txBody>
      </p:sp>
      <p:sp>
        <p:nvSpPr>
          <p:cNvPr id="22" name="TextBox 21"/>
          <p:cNvSpPr txBox="1"/>
          <p:nvPr/>
        </p:nvSpPr>
        <p:spPr>
          <a:xfrm>
            <a:off x="9079992"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1 of 12</a:t>
            </a:r>
          </a:p>
        </p:txBody>
      </p:sp>
      <p:sp>
        <p:nvSpPr>
          <p:cNvPr id="23" name="TextBox 22"/>
          <p:cNvSpPr txBox="1"/>
          <p:nvPr/>
        </p:nvSpPr>
        <p:spPr>
          <a:xfrm>
            <a:off x="9079992"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Agronomy Farm serves 3,838 rows</a:t>
            </a:r>
          </a:p>
        </p:txBody>
      </p:sp>
      <p:sp>
        <p:nvSpPr>
          <p:cNvPr id="24" name="TextBox 23"/>
          <p:cNvSpPr txBox="1"/>
          <p:nvPr/>
        </p:nvSpPr>
        <p:spPr>
          <a:xfrm>
            <a:off x="502920" y="2999232"/>
            <a:ext cx="5486400" cy="274320"/>
          </a:xfrm>
          <a:prstGeom prst="rect">
            <a:avLst/>
          </a:prstGeom>
          <a:noFill/>
        </p:spPr>
        <p:txBody>
          <a:bodyPr wrap="square" anchor="t" lIns="0" rIns="0" tIns="0" bIns="0">
            <a:spAutoFit/>
          </a:bodyPr>
          <a:lstStyle/>
          <a:p>
            <a:pPr algn="l"/>
            <a:r>
              <a:rPr sz="1100" b="1" spc="120">
                <a:solidFill>
                  <a:srgbClr val="65726B"/>
                </a:solidFill>
                <a:latin typeface="Consolas"/>
              </a:rPr>
              <a:t>SAMPLES BY DISTANCE FROM THE TOWER</a:t>
            </a:r>
          </a:p>
        </p:txBody>
      </p:sp>
      <p:graphicFrame>
        <p:nvGraphicFramePr>
          <p:cNvPr id="25" name="Chart 24"/>
          <p:cNvGraphicFramePr>
            <a:graphicFrameLocks noGrp="1"/>
          </p:cNvGraphicFramePr>
          <p:nvPr/>
        </p:nvGraphicFramePr>
        <p:xfrm>
          <a:off x="411480" y="3291840"/>
          <a:ext cx="5669280" cy="2377440"/>
        </p:xfrm>
        <a:graphic>
          <a:graphicData uri="http://schemas.openxmlformats.org/drawingml/2006/chart">
            <c:chart xmlns:c="http://schemas.openxmlformats.org/drawingml/2006/chart" r:id="rId2"/>
          </a:graphicData>
        </a:graphic>
      </p:graphicFrame>
      <p:sp>
        <p:nvSpPr>
          <p:cNvPr id="26" name="TextBox 25"/>
          <p:cNvSpPr txBox="1"/>
          <p:nvPr/>
        </p:nvSpPr>
        <p:spPr>
          <a:xfrm>
            <a:off x="6492240" y="2999232"/>
            <a:ext cx="5212080" cy="274320"/>
          </a:xfrm>
          <a:prstGeom prst="rect">
            <a:avLst/>
          </a:prstGeom>
          <a:noFill/>
        </p:spPr>
        <p:txBody>
          <a:bodyPr wrap="square" anchor="t" lIns="0" rIns="0" tIns="0" bIns="0">
            <a:spAutoFit/>
          </a:bodyPr>
          <a:lstStyle/>
          <a:p>
            <a:pPr algn="l"/>
            <a:r>
              <a:rPr sz="1100" b="1" spc="120">
                <a:solidFill>
                  <a:srgbClr val="65726B"/>
                </a:solidFill>
                <a:latin typeface="Consolas"/>
              </a:rPr>
              <a:t>WHY ONE SITE AND NOT TWELVE</a:t>
            </a:r>
          </a:p>
        </p:txBody>
      </p:sp>
      <p:sp>
        <p:nvSpPr>
          <p:cNvPr id="27" name="TextBox 26"/>
          <p:cNvSpPr txBox="1"/>
          <p:nvPr/>
        </p:nvSpPr>
        <p:spPr>
          <a:xfrm>
            <a:off x="6492240" y="3310128"/>
            <a:ext cx="5212080" cy="2377440"/>
          </a:xfrm>
          <a:prstGeom prst="rect">
            <a:avLst/>
          </a:prstGeom>
          <a:noFill/>
        </p:spPr>
        <p:txBody>
          <a:bodyPr wrap="square" lIns="0" rIns="0" tIns="0" bIns="0">
            <a:spAutoFit/>
          </a:bodyPr>
          <a:lstStyle/>
          <a:p>
            <a:pPr>
              <a:spcAft>
                <a:spcPts val="600"/>
              </a:spcAft>
            </a:pPr>
            <a:r>
              <a:rPr sz="1100" b="1">
                <a:solidFill>
                  <a:srgbClr val="16211C"/>
                </a:solidFill>
                <a:latin typeface="Archivo"/>
              </a:rPr>
              <a:t>— Agronomy Farm serves 3,838 rows — every model here is fitted on those.</a:t>
            </a:r>
          </a:p>
          <a:p>
            <a:pPr>
              <a:spcAft>
                <a:spcPts val="600"/>
              </a:spcAft>
            </a:pPr>
            <a:r>
              <a:rPr sz="1100" b="0">
                <a:solidFill>
                  <a:srgbClr val="3A4842"/>
                </a:solidFill>
                <a:latin typeface="Archivo"/>
              </a:rPr>
              <a:t>— Curtiss and Wilson appear on 100–180 sporadic rows each and fit with R² ≈ 0, so they are reported as incidental rather than modelled.</a:t>
            </a:r>
          </a:p>
          <a:p>
            <a:pPr>
              <a:spcAft>
                <a:spcPts val="600"/>
              </a:spcAft>
            </a:pPr>
            <a:r>
              <a:rPr sz="1100" b="0">
                <a:solidFill>
                  <a:srgbClr val="3A4842"/>
                </a:solidFill>
                <a:latin typeface="Archivo"/>
              </a:rPr>
              <a:t>— Research Park serves 0 of 7,144 rows — a free negative control for any propagation model.</a:t>
            </a:r>
          </a:p>
          <a:p>
            <a:pPr>
              <a:spcAft>
                <a:spcPts val="600"/>
              </a:spcAft>
            </a:pPr>
            <a:r>
              <a:rPr sz="1100" b="1">
                <a:solidFill>
                  <a:srgbClr val="16211C"/>
                </a:solidFill>
                <a:latin typeface="Archivo"/>
              </a:rPr>
              <a:t>— One transmitter is the binding constraint on what can be learned.</a:t>
            </a:r>
          </a:p>
        </p:txBody>
      </p:sp>
      <p:sp>
        <p:nvSpPr>
          <p:cNvPr id="28" name="TextBox 27"/>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Rural_COTS_RAN_Description.pdf   ·   the dataset is not in this repository — see the licence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04</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DATASET · 2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is in the file, and what it costs to misread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Four of these cost real time to discover. They are recorded so nobody pays for them twice.</a:t>
            </a:r>
          </a:p>
        </p:txBody>
      </p:sp>
      <p:graphicFrame>
        <p:nvGraphicFramePr>
          <p:cNvPr id="8" name="Table 7"/>
          <p:cNvGraphicFramePr>
            <a:graphicFrameLocks noGrp="1"/>
          </p:cNvGraphicFramePr>
          <p:nvPr/>
        </p:nvGraphicFramePr>
        <p:xfrm>
          <a:off x="502920" y="1783080"/>
          <a:ext cx="11155680" cy="2651760"/>
        </p:xfrm>
        <a:graphic>
          <a:graphicData uri="http://schemas.openxmlformats.org/drawingml/2006/table">
            <a:tbl>
              <a:tblPr firstRow="1" bandRow="1">
                <a:tableStyleId>{5C22544A-7EE6-4342-B048-85BDC9FD1C3A}</a:tableStyleId>
              </a:tblPr>
              <a:tblGrid>
                <a:gridCol w="1371600"/>
                <a:gridCol w="2377440"/>
                <a:gridCol w="7406640"/>
              </a:tblGrid>
              <a:tr h="378822">
                <a:tc>
                  <a:txBody>
                    <a:bodyPr/>
                    <a:lstStyle/>
                    <a:p>
                      <a:r>
                        <a:rPr sz="950" b="1">
                          <a:solidFill>
                            <a:srgbClr val="65726B"/>
                          </a:solidFill>
                          <a:latin typeface="Consolas"/>
                        </a:rPr>
                        <a:t>column</a:t>
                      </a:r>
                    </a:p>
                  </a:txBody>
                  <a:tcPr marL="54864" marR="54864" marT="27432" marB="27432">
                    <a:solidFill>
                      <a:srgbClr val="F1F4EF"/>
                    </a:solidFill>
                  </a:tcPr>
                </a:tc>
                <a:tc>
                  <a:txBody>
                    <a:bodyPr/>
                    <a:lstStyle/>
                    <a:p>
                      <a:pPr algn="r"/>
                      <a:r>
                        <a:rPr sz="950" b="1">
                          <a:solidFill>
                            <a:srgbClr val="65726B"/>
                          </a:solidFill>
                          <a:latin typeface="Consolas"/>
                        </a:rPr>
                        <a:t>what it carries</a:t>
                      </a:r>
                    </a:p>
                  </a:txBody>
                  <a:tcPr marL="54864" marR="54864" marT="27432" marB="27432">
                    <a:solidFill>
                      <a:srgbClr val="F1F4EF"/>
                    </a:solidFill>
                  </a:tcPr>
                </a:tc>
                <a:tc>
                  <a:txBody>
                    <a:bodyPr/>
                    <a:lstStyle/>
                    <a:p>
                      <a:pPr algn="r"/>
                      <a:r>
                        <a:rPr sz="950" b="1">
                          <a:solidFill>
                            <a:srgbClr val="65726B"/>
                          </a:solidFill>
                          <a:latin typeface="Consolas"/>
                        </a:rPr>
                        <a:t>the trap</a:t>
                      </a:r>
                    </a:p>
                  </a:txBody>
                  <a:tcPr marL="54864" marR="54864" marT="27432" marB="27432">
                    <a:solidFill>
                      <a:srgbClr val="F1F4EF"/>
                    </a:solidFill>
                  </a:tcPr>
                </a:tc>
              </a:tr>
              <a:tr h="378822">
                <a:tc>
                  <a:txBody>
                    <a:bodyPr/>
                    <a:lstStyle/>
                    <a:p>
                      <a:r>
                        <a:rPr sz="950" b="0">
                          <a:solidFill>
                            <a:srgbClr val="16211C"/>
                          </a:solidFill>
                          <a:latin typeface="Consolas"/>
                        </a:rPr>
                        <a:t>cellid</a:t>
                      </a:r>
                    </a:p>
                  </a:txBody>
                  <a:tcPr marL="54864" marR="54864" marT="27432" marB="27432">
                    <a:solidFill>
                      <a:srgbClr val="FFFFFF"/>
                    </a:solidFill>
                  </a:tcPr>
                </a:tc>
                <a:tc>
                  <a:txBody>
                    <a:bodyPr/>
                    <a:lstStyle/>
                    <a:p>
                      <a:pPr algn="r"/>
                      <a:r>
                        <a:rPr sz="950" b="0">
                          <a:solidFill>
                            <a:srgbClr val="16211C"/>
                          </a:solidFill>
                          <a:latin typeface="Consolas"/>
                        </a:rPr>
                        <a:t>serving cell, or absent</a:t>
                      </a:r>
                    </a:p>
                  </a:txBody>
                  <a:tcPr marL="54864" marR="54864" marT="27432" marB="27432">
                    <a:solidFill>
                      <a:srgbClr val="FFFFFF"/>
                    </a:solidFill>
                  </a:tcPr>
                </a:tc>
                <a:tc>
                  <a:txBody>
                    <a:bodyPr/>
                    <a:lstStyle/>
                    <a:p>
                      <a:pPr algn="r"/>
                      <a:r>
                        <a:rPr sz="950" b="0">
                          <a:solidFill>
                            <a:srgbClr val="16211C"/>
                          </a:solidFill>
                          <a:latin typeface="Consolas"/>
                        </a:rPr>
                        <a:t>40.4% absent — a MEASURED absence of service, not missing data</a:t>
                      </a:r>
                    </a:p>
                  </a:txBody>
                  <a:tcPr marL="54864" marR="54864" marT="27432" marB="27432">
                    <a:solidFill>
                      <a:srgbClr val="FFFFFF"/>
                    </a:solidFill>
                  </a:tcPr>
                </a:tc>
              </a:tr>
              <a:tr h="378822">
                <a:tc>
                  <a:txBody>
                    <a:bodyPr/>
                    <a:lstStyle/>
                    <a:p>
                      <a:r>
                        <a:rPr sz="950" b="0">
                          <a:solidFill>
                            <a:srgbClr val="16211C"/>
                          </a:solidFill>
                          <a:latin typeface="Consolas"/>
                        </a:rPr>
                        <a:t>rsrp</a:t>
                      </a:r>
                    </a:p>
                  </a:txBody>
                  <a:tcPr marL="54864" marR="54864" marT="27432" marB="27432">
                    <a:solidFill>
                      <a:srgbClr val="FFFFFF"/>
                    </a:solidFill>
                  </a:tcPr>
                </a:tc>
                <a:tc>
                  <a:txBody>
                    <a:bodyPr/>
                    <a:lstStyle/>
                    <a:p>
                      <a:pPr algn="r"/>
                      <a:r>
                        <a:rPr sz="950" b="0">
                          <a:solidFill>
                            <a:srgbClr val="16211C"/>
                          </a:solidFill>
                          <a:latin typeface="Consolas"/>
                        </a:rPr>
                        <a:t>received power, dBm</a:t>
                      </a:r>
                    </a:p>
                  </a:txBody>
                  <a:tcPr marL="54864" marR="54864" marT="27432" marB="27432">
                    <a:solidFill>
                      <a:srgbClr val="FFFFFF"/>
                    </a:solidFill>
                  </a:tcPr>
                </a:tc>
                <a:tc>
                  <a:txBody>
                    <a:bodyPr/>
                    <a:lstStyle/>
                    <a:p>
                      <a:pPr algn="r"/>
                      <a:r>
                        <a:rPr sz="950" b="0">
                          <a:solidFill>
                            <a:srgbClr val="16211C"/>
                          </a:solidFill>
                          <a:latin typeface="Consolas"/>
                        </a:rPr>
                        <a:t>present only when a cell is serving, so it is missing exactly where service failed</a:t>
                      </a:r>
                    </a:p>
                  </a:txBody>
                  <a:tcPr marL="54864" marR="54864" marT="27432" marB="27432">
                    <a:solidFill>
                      <a:srgbClr val="FFFFFF"/>
                    </a:solidFill>
                  </a:tcPr>
                </a:tc>
              </a:tr>
              <a:tr h="378822">
                <a:tc>
                  <a:txBody>
                    <a:bodyPr/>
                    <a:lstStyle/>
                    <a:p>
                      <a:r>
                        <a:rPr sz="950" b="0">
                          <a:solidFill>
                            <a:srgbClr val="16211C"/>
                          </a:solidFill>
                          <a:latin typeface="Consolas"/>
                        </a:rPr>
                        <a:t>uplink</a:t>
                      </a:r>
                    </a:p>
                  </a:txBody>
                  <a:tcPr marL="54864" marR="54864" marT="27432" marB="27432">
                    <a:solidFill>
                      <a:srgbClr val="FFFFFF"/>
                    </a:solidFill>
                  </a:tcPr>
                </a:tc>
                <a:tc>
                  <a:txBody>
                    <a:bodyPr/>
                    <a:lstStyle/>
                    <a:p>
                      <a:pPr algn="r"/>
                      <a:r>
                        <a:rPr sz="950" b="0">
                          <a:solidFill>
                            <a:srgbClr val="16211C"/>
                          </a:solidFill>
                          <a:latin typeface="Consolas"/>
                        </a:rPr>
                        <a:t>Mbps, 2,979 rows</a:t>
                      </a:r>
                    </a:p>
                  </a:txBody>
                  <a:tcPr marL="54864" marR="54864" marT="27432" marB="27432">
                    <a:solidFill>
                      <a:srgbClr val="FFFFFF"/>
                    </a:solidFill>
                  </a:tcPr>
                </a:tc>
                <a:tc>
                  <a:txBody>
                    <a:bodyPr/>
                    <a:lstStyle/>
                    <a:p>
                      <a:pPr algn="r"/>
                      <a:r>
                        <a:rPr sz="950" b="0">
                          <a:solidFill>
                            <a:srgbClr val="16211C"/>
                          </a:solidFill>
                          <a:latin typeface="Consolas"/>
                        </a:rPr>
                        <a:t>the binding constraint — spans 8–63 and tracks RSRP hard</a:t>
                      </a:r>
                    </a:p>
                  </a:txBody>
                  <a:tcPr marL="54864" marR="54864" marT="27432" marB="27432">
                    <a:solidFill>
                      <a:srgbClr val="FFFFFF"/>
                    </a:solidFill>
                  </a:tcPr>
                </a:tc>
              </a:tr>
              <a:tr h="378822">
                <a:tc>
                  <a:txBody>
                    <a:bodyPr/>
                    <a:lstStyle/>
                    <a:p>
                      <a:r>
                        <a:rPr sz="950" b="0">
                          <a:solidFill>
                            <a:srgbClr val="16211C"/>
                          </a:solidFill>
                          <a:latin typeface="Consolas"/>
                        </a:rPr>
                        <a:t>downlink</a:t>
                      </a:r>
                    </a:p>
                  </a:txBody>
                  <a:tcPr marL="54864" marR="54864" marT="27432" marB="27432">
                    <a:solidFill>
                      <a:srgbClr val="FFFFFF"/>
                    </a:solidFill>
                  </a:tcPr>
                </a:tc>
                <a:tc>
                  <a:txBody>
                    <a:bodyPr/>
                    <a:lstStyle/>
                    <a:p>
                      <a:pPr algn="r"/>
                      <a:r>
                        <a:rPr sz="950" b="0">
                          <a:solidFill>
                            <a:srgbClr val="16211C"/>
                          </a:solidFill>
                          <a:latin typeface="Consolas"/>
                        </a:rPr>
                        <a:t>Mbps</a:t>
                      </a:r>
                    </a:p>
                  </a:txBody>
                  <a:tcPr marL="54864" marR="54864" marT="27432" marB="27432">
                    <a:solidFill>
                      <a:srgbClr val="FFFFFF"/>
                    </a:solidFill>
                  </a:tcPr>
                </a:tc>
                <a:tc>
                  <a:txBody>
                    <a:bodyPr/>
                    <a:lstStyle/>
                    <a:p>
                      <a:pPr algn="r"/>
                      <a:r>
                        <a:rPr sz="950" b="0">
                          <a:solidFill>
                            <a:srgbClr val="16211C"/>
                          </a:solidFill>
                          <a:latin typeface="Consolas"/>
                        </a:rPr>
                        <a:t>saturates ~230 for any SINR &gt; 0, so a downlink objective calls everything fine</a:t>
                      </a:r>
                    </a:p>
                  </a:txBody>
                  <a:tcPr marL="54864" marR="54864" marT="27432" marB="27432">
                    <a:solidFill>
                      <a:srgbClr val="FFFFFF"/>
                    </a:solidFill>
                  </a:tcPr>
                </a:tc>
              </a:tr>
              <a:tr h="378822">
                <a:tc>
                  <a:txBody>
                    <a:bodyPr/>
                    <a:lstStyle/>
                    <a:p>
                      <a:r>
                        <a:rPr sz="950" b="0">
                          <a:solidFill>
                            <a:srgbClr val="16211C"/>
                          </a:solidFill>
                          <a:latin typeface="Consolas"/>
                        </a:rPr>
                        <a:t>sinr, rsrq</a:t>
                      </a:r>
                    </a:p>
                  </a:txBody>
                  <a:tcPr marL="54864" marR="54864" marT="27432" marB="27432">
                    <a:solidFill>
                      <a:srgbClr val="FFFFFF"/>
                    </a:solidFill>
                  </a:tcPr>
                </a:tc>
                <a:tc>
                  <a:txBody>
                    <a:bodyPr/>
                    <a:lstStyle/>
                    <a:p>
                      <a:pPr algn="r"/>
                      <a:r>
                        <a:rPr sz="950" b="0">
                          <a:solidFill>
                            <a:srgbClr val="16211C"/>
                          </a:solidFill>
                          <a:latin typeface="Consolas"/>
                        </a:rPr>
                        <a:t>dB</a:t>
                      </a:r>
                    </a:p>
                  </a:txBody>
                  <a:tcPr marL="54864" marR="54864" marT="27432" marB="27432">
                    <a:solidFill>
                      <a:srgbClr val="FFFFFF"/>
                    </a:solidFill>
                  </a:tcPr>
                </a:tc>
                <a:tc>
                  <a:txBody>
                    <a:bodyPr/>
                    <a:lstStyle/>
                    <a:p>
                      <a:pPr algn="r"/>
                      <a:r>
                        <a:rPr sz="950" b="0">
                          <a:solidFill>
                            <a:srgbClr val="16211C"/>
                          </a:solidFill>
                          <a:latin typeface="Consolas"/>
                        </a:rPr>
                        <a:t>load as object dtype — 11 rows contain a literal '-'</a:t>
                      </a:r>
                    </a:p>
                  </a:txBody>
                  <a:tcPr marL="54864" marR="54864" marT="27432" marB="27432">
                    <a:solidFill>
                      <a:srgbClr val="FFFFFF"/>
                    </a:solidFill>
                  </a:tcPr>
                </a:tc>
              </a:tr>
              <a:tr h="378828">
                <a:tc>
                  <a:txBody>
                    <a:bodyPr/>
                    <a:lstStyle/>
                    <a:p>
                      <a:r>
                        <a:rPr sz="950" b="0">
                          <a:solidFill>
                            <a:srgbClr val="16211C"/>
                          </a:solidFill>
                          <a:latin typeface="Consolas"/>
                        </a:rPr>
                        <a:t>lat, lon, ts</a:t>
                      </a:r>
                    </a:p>
                  </a:txBody>
                  <a:tcPr marL="54864" marR="54864" marT="27432" marB="27432">
                    <a:solidFill>
                      <a:srgbClr val="FFFFFF"/>
                    </a:solidFill>
                  </a:tcPr>
                </a:tc>
                <a:tc>
                  <a:txBody>
                    <a:bodyPr/>
                    <a:lstStyle/>
                    <a:p>
                      <a:pPr algn="r"/>
                      <a:r>
                        <a:rPr sz="950" b="0">
                          <a:solidFill>
                            <a:srgbClr val="16211C"/>
                          </a:solidFill>
                          <a:latin typeface="Consolas"/>
                        </a:rPr>
                        <a:t>position and time</a:t>
                      </a:r>
                    </a:p>
                  </a:txBody>
                  <a:tcPr marL="54864" marR="54864" marT="27432" marB="27432">
                    <a:solidFill>
                      <a:srgbClr val="FFFFFF"/>
                    </a:solidFill>
                  </a:tcPr>
                </a:tc>
                <a:tc>
                  <a:txBody>
                    <a:bodyPr/>
                    <a:lstStyle/>
                    <a:p>
                      <a:pPr algn="r"/>
                      <a:r>
                        <a:rPr sz="950" b="0">
                          <a:solidFill>
                            <a:srgbClr val="16211C"/>
                          </a:solidFill>
                          <a:latin typeface="Consolas"/>
                        </a:rPr>
                        <a:t>consecutive samples ~22 m apart, so a random split leaks badly</a:t>
                      </a:r>
                    </a:p>
                  </a:txBody>
                  <a:tcPr marL="54864" marR="54864" marT="27432" marB="27432">
                    <a:solidFill>
                      <a:srgbClr val="FFFFFF"/>
                    </a:solidFill>
                  </a:tcPr>
                </a:tc>
              </a:tr>
            </a:tbl>
          </a:graphicData>
        </a:graphic>
      </p:graphicFrame>
      <p:sp>
        <p:nvSpPr>
          <p:cNvPr id="9" name="Rectangle 8"/>
          <p:cNvSpPr/>
          <p:nvPr/>
        </p:nvSpPr>
        <p:spPr>
          <a:xfrm>
            <a:off x="502920" y="4709160"/>
            <a:ext cx="11155680" cy="1280160"/>
          </a:xfrm>
          <a:prstGeom prst="rect">
            <a:avLst/>
          </a:prstGeom>
          <a:solidFill>
            <a:srgbClr val="F1F4EF"/>
          </a:solidFill>
          <a:ln w="19050">
            <a:solidFill>
              <a:srgbClr val="8C1D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4709160"/>
            <a:ext cx="54864" cy="128016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846320"/>
            <a:ext cx="10607040" cy="274320"/>
          </a:xfrm>
          <a:prstGeom prst="rect">
            <a:avLst/>
          </a:prstGeom>
          <a:noFill/>
        </p:spPr>
        <p:txBody>
          <a:bodyPr wrap="square" anchor="t" lIns="0" rIns="0" tIns="0" bIns="0">
            <a:spAutoFit/>
          </a:bodyPr>
          <a:lstStyle/>
          <a:p>
            <a:pPr algn="l"/>
            <a:r>
              <a:rPr sz="1300" b="1">
                <a:solidFill>
                  <a:srgbClr val="8C1D40"/>
                </a:solidFill>
                <a:latin typeface="Archivo"/>
              </a:rPr>
              <a:t>The single most expensive mistake available here</a:t>
            </a:r>
          </a:p>
        </p:txBody>
      </p:sp>
      <p:sp>
        <p:nvSpPr>
          <p:cNvPr id="12" name="TextBox 11"/>
          <p:cNvSpPr txBox="1"/>
          <p:nvPr/>
        </p:nvSpPr>
        <p:spPr>
          <a:xfrm>
            <a:off x="777240" y="5193792"/>
            <a:ext cx="10607040" cy="685800"/>
          </a:xfrm>
          <a:prstGeom prst="rect">
            <a:avLst/>
          </a:prstGeom>
          <a:noFill/>
        </p:spPr>
        <p:txBody>
          <a:bodyPr wrap="square" anchor="t" lIns="0" rIns="0" tIns="0" bIns="0">
            <a:spAutoFit/>
          </a:bodyPr>
          <a:lstStyle/>
          <a:p>
            <a:pPr algn="l"/>
            <a:r>
              <a:rPr sz="1200" b="0">
                <a:solidFill>
                  <a:srgbClr val="3A4842"/>
                </a:solidFill>
                <a:latin typeface="Archivo"/>
              </a:rPr>
              <a:t>A reflexive dropna() deletes 2,885 rows with no serving cell. Those rows are not missing measurements — they are the coverage holes, and they are exactly the demand the challenge asks you to serve. Drop them and the pipeline reports that coverage is excellent.</a:t>
            </a:r>
          </a:p>
        </p:txBody>
      </p:sp>
      <p:sp>
        <p:nvSpPr>
          <p:cNvPr id="13" name="TextBox 12"/>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reports/eda.json   ·   measurement-bearing reports are gitignored until ARA publishes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05</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DATASET · 3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the measurements already say, before any model</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These are properties of the data. They constrain every simulator that follows, and none of them depends on a modelling choice.</a:t>
            </a:r>
          </a:p>
        </p:txBody>
      </p:sp>
      <p:sp>
        <p:nvSpPr>
          <p:cNvPr id="8" name="TextBox 7"/>
          <p:cNvSpPr txBox="1"/>
          <p:nvPr/>
        </p:nvSpPr>
        <p:spPr>
          <a:xfrm>
            <a:off x="502920" y="1737360"/>
            <a:ext cx="5577840" cy="274320"/>
          </a:xfrm>
          <a:prstGeom prst="rect">
            <a:avLst/>
          </a:prstGeom>
          <a:noFill/>
        </p:spPr>
        <p:txBody>
          <a:bodyPr wrap="square" anchor="t" lIns="0" rIns="0" tIns="0" bIns="0">
            <a:spAutoFit/>
          </a:bodyPr>
          <a:lstStyle/>
          <a:p>
            <a:pPr algn="l"/>
            <a:r>
              <a:rPr sz="1050" b="1" spc="110">
                <a:solidFill>
                  <a:srgbClr val="65726B"/>
                </a:solidFill>
                <a:latin typeface="Consolas"/>
              </a:rPr>
              <a:t>ODDS OF OUTAGE, FRESNEL-OBSTRUCTED VS CLEAR, AT EQUAL DISTANCE</a:t>
            </a:r>
          </a:p>
        </p:txBody>
      </p:sp>
      <p:graphicFrame>
        <p:nvGraphicFramePr>
          <p:cNvPr id="9" name="Chart 8"/>
          <p:cNvGraphicFramePr>
            <a:graphicFrameLocks noGrp="1"/>
          </p:cNvGraphicFramePr>
          <p:nvPr/>
        </p:nvGraphicFramePr>
        <p:xfrm>
          <a:off x="411480" y="2057400"/>
          <a:ext cx="5760720" cy="2286000"/>
        </p:xfrm>
        <a:graphic>
          <a:graphicData uri="http://schemas.openxmlformats.org/drawingml/2006/chart">
            <c:chart xmlns:c="http://schemas.openxmlformats.org/drawingml/2006/chart" r:id="rId2"/>
          </a:graphicData>
        </a:graphic>
      </p:graphicFrame>
      <p:sp>
        <p:nvSpPr>
          <p:cNvPr id="10" name="TextBox 9"/>
          <p:cNvSpPr txBox="1"/>
          <p:nvPr/>
        </p:nvSpPr>
        <p:spPr>
          <a:xfrm>
            <a:off x="502920" y="4434840"/>
            <a:ext cx="5669280" cy="457200"/>
          </a:xfrm>
          <a:prstGeom prst="rect">
            <a:avLst/>
          </a:prstGeom>
          <a:noFill/>
        </p:spPr>
        <p:txBody>
          <a:bodyPr wrap="square" anchor="t" lIns="0" rIns="0" tIns="0" bIns="0">
            <a:spAutoFit/>
          </a:bodyPr>
          <a:lstStyle/>
          <a:p>
            <a:pPr algn="l"/>
            <a:r>
              <a:rPr sz="950" b="0">
                <a:solidFill>
                  <a:srgbClr val="65726B"/>
                </a:solidFill>
                <a:latin typeface="Consolas"/>
              </a:rPr>
              <a:t>p = 7.7e-08 and 5.5e-12 in the first two bands; not significant beyond 6 km, where the link budget has already run out.</a:t>
            </a:r>
          </a:p>
        </p:txBody>
      </p:sp>
      <p:sp>
        <p:nvSpPr>
          <p:cNvPr id="11" name="TextBox 10"/>
          <p:cNvSpPr txBox="1"/>
          <p:nvPr/>
        </p:nvSpPr>
        <p:spPr>
          <a:xfrm>
            <a:off x="6537960" y="2011680"/>
            <a:ext cx="5120640" cy="3108960"/>
          </a:xfrm>
          <a:prstGeom prst="rect">
            <a:avLst/>
          </a:prstGeom>
          <a:noFill/>
        </p:spPr>
        <p:txBody>
          <a:bodyPr wrap="square" lIns="0" rIns="0" tIns="0" bIns="0">
            <a:spAutoFit/>
          </a:bodyPr>
          <a:lstStyle/>
          <a:p>
            <a:pPr>
              <a:spcAft>
                <a:spcPts val="600"/>
              </a:spcAft>
            </a:pPr>
            <a:r>
              <a:rPr sz="1100" b="1">
                <a:solidFill>
                  <a:srgbClr val="16211C"/>
                </a:solidFill>
                <a:latin typeface="Archivo"/>
              </a:rPr>
              <a:t>— Terrain shadowing dominates 2–6 km and is irrelevant beyond it.</a:t>
            </a:r>
          </a:p>
          <a:p>
            <a:pPr>
              <a:spcAft>
                <a:spcPts val="600"/>
              </a:spcAft>
            </a:pPr>
            <a:r>
              <a:rPr sz="1100" b="0">
                <a:solidFill>
                  <a:srgbClr val="3A4842"/>
                </a:solidFill>
                <a:latin typeface="Archivo"/>
              </a:rPr>
              <a:t>— Bare line-of-sight is the wrong test: only 13% of links are geometrically blocked, but 46% intrude on the first Fresnel zone. The holes are grazing paths.</a:t>
            </a:r>
          </a:p>
          <a:p>
            <a:pPr>
              <a:spcAft>
                <a:spcPts val="600"/>
              </a:spcAft>
            </a:pPr>
            <a:r>
              <a:rPr sz="1100" b="1">
                <a:solidFill>
                  <a:srgbClr val="16211C"/>
                </a:solidFill>
                <a:latin typeface="Archivo"/>
              </a:rPr>
              <a:t>— Fresnel clearance is 96.5% correlated with log-distance.</a:t>
            </a:r>
          </a:p>
          <a:p>
            <a:pPr>
              <a:spcAft>
                <a:spcPts val="600"/>
              </a:spcAft>
            </a:pPr>
            <a:r>
              <a:rPr sz="1100" b="0">
                <a:solidFill>
                  <a:srgbClr val="3A4842"/>
                </a:solidFill>
                <a:latin typeface="Archivo"/>
              </a:rPr>
              <a:t>— Fit it as a free term and it absorbs the distance effect, collapsing the path-loss exponent to 0.53. Terrain features must be orthogonalised against log-distance before fitting.</a:t>
            </a:r>
          </a:p>
          <a:p>
            <a:pPr>
              <a:spcAft>
                <a:spcPts val="600"/>
              </a:spcAft>
            </a:pPr>
            <a:r>
              <a:rPr sz="1100" b="1">
                <a:solidFill>
                  <a:srgbClr val="16211C"/>
                </a:solidFill>
                <a:latin typeface="Archivo"/>
              </a:rPr>
              <a:t>— Relief across the box is 98 m; the first Fresnel radius is 10–14 m.</a:t>
            </a:r>
          </a:p>
          <a:p>
            <a:pPr>
              <a:spcAft>
                <a:spcPts val="600"/>
              </a:spcAft>
            </a:pPr>
            <a:r>
              <a:rPr sz="1100" b="0">
                <a:solidFill>
                  <a:srgbClr val="3A4842"/>
                </a:solidFill>
                <a:latin typeface="Archivo"/>
              </a:rPr>
              <a:t>— That is what makes 1/3 arc-second (~10 m) the right DEM resolution and 1 m an oversample of something the radio integrates over.</a:t>
            </a:r>
          </a:p>
        </p:txBody>
      </p:sp>
      <p:sp>
        <p:nvSpPr>
          <p:cNvPr id="12" name="TextBox 11"/>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measured in reports/eda.json and reports/analysis.json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06</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METHOD</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Four simulators, one platform</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Different physics, different failure modes — but scored on the same demand, the same splits and the same objective, or they are not being compared.</a:t>
            </a:r>
          </a:p>
        </p:txBody>
      </p:sp>
      <p:sp>
        <p:nvSpPr>
          <p:cNvPr id="8" name="Rectangle 7"/>
          <p:cNvSpPr/>
          <p:nvPr/>
        </p:nvSpPr>
        <p:spPr>
          <a:xfrm>
            <a:off x="4160520" y="1874519"/>
            <a:ext cx="3840480" cy="1371600"/>
          </a:xfrm>
          <a:prstGeom prst="rect">
            <a:avLst/>
          </a:prstGeom>
          <a:solidFill>
            <a:srgbClr val="F1F4EF"/>
          </a:solidFill>
          <a:ln w="22225">
            <a:solidFill>
              <a:srgbClr val="0F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43400" y="2011680"/>
            <a:ext cx="3474720" cy="274320"/>
          </a:xfrm>
          <a:prstGeom prst="rect">
            <a:avLst/>
          </a:prstGeom>
          <a:noFill/>
        </p:spPr>
        <p:txBody>
          <a:bodyPr wrap="square" anchor="t" lIns="0" rIns="0" tIns="0" bIns="0">
            <a:spAutoFit/>
          </a:bodyPr>
          <a:lstStyle/>
          <a:p>
            <a:pPr algn="l"/>
            <a:r>
              <a:rPr sz="1000" b="1" spc="140">
                <a:solidFill>
                  <a:srgbClr val="0F6E70"/>
                </a:solidFill>
                <a:latin typeface="Consolas"/>
              </a:rPr>
              <a:t>THE CONTRACT</a:t>
            </a:r>
          </a:p>
        </p:txBody>
      </p:sp>
      <p:sp>
        <p:nvSpPr>
          <p:cNvPr id="10" name="TextBox 9"/>
          <p:cNvSpPr txBox="1"/>
          <p:nvPr/>
        </p:nvSpPr>
        <p:spPr>
          <a:xfrm>
            <a:off x="4343400" y="2304288"/>
            <a:ext cx="3474720" cy="502920"/>
          </a:xfrm>
          <a:prstGeom prst="rect">
            <a:avLst/>
          </a:prstGeom>
          <a:noFill/>
        </p:spPr>
        <p:txBody>
          <a:bodyPr wrap="square" anchor="t" lIns="0" rIns="0" tIns="0" bIns="0">
            <a:spAutoFit/>
          </a:bodyPr>
          <a:lstStyle/>
          <a:p>
            <a:pPr algn="l"/>
            <a:r>
              <a:rPr sz="1100" b="1">
                <a:solidFill>
                  <a:srgbClr val="16211C"/>
                </a:solidFill>
                <a:latin typeface="Consolas"/>
              </a:rPr>
              <a:t>macro_rsrp(lat, lon)
node_rsrp(tx, agl, ΔEIRP, lat, lon)</a:t>
            </a:r>
          </a:p>
        </p:txBody>
      </p:sp>
      <p:sp>
        <p:nvSpPr>
          <p:cNvPr id="11" name="TextBox 10"/>
          <p:cNvSpPr txBox="1"/>
          <p:nvPr/>
        </p:nvSpPr>
        <p:spPr>
          <a:xfrm>
            <a:off x="4343400" y="2880360"/>
            <a:ext cx="3474720" cy="274320"/>
          </a:xfrm>
          <a:prstGeom prst="rect">
            <a:avLst/>
          </a:prstGeom>
          <a:noFill/>
        </p:spPr>
        <p:txBody>
          <a:bodyPr wrap="square" anchor="t" lIns="0" rIns="0" tIns="0" bIns="0">
            <a:spAutoFit/>
          </a:bodyPr>
          <a:lstStyle/>
          <a:p>
            <a:pPr algn="l"/>
            <a:r>
              <a:rPr sz="950" b="0">
                <a:solidFill>
                  <a:srgbClr val="65726B"/>
                </a:solidFill>
                <a:latin typeface="Consolas"/>
              </a:rPr>
              <a:t>two methods. that is the whole interface.</a:t>
            </a:r>
          </a:p>
        </p:txBody>
      </p:sp>
      <p:sp>
        <p:nvSpPr>
          <p:cNvPr id="12" name="Rectangle 11"/>
          <p:cNvSpPr/>
          <p:nvPr/>
        </p:nvSpPr>
        <p:spPr>
          <a:xfrm>
            <a:off x="502920" y="1234440"/>
            <a:ext cx="2606040" cy="502920"/>
          </a:xfrm>
          <a:prstGeom prst="rect">
            <a:avLst/>
          </a:prstGeom>
          <a:solidFill>
            <a:srgbClr val="FBFCFA"/>
          </a:solidFill>
          <a:ln w="15875">
            <a:solidFill>
              <a:srgbClr val="0F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 y="1316736"/>
            <a:ext cx="2377440" cy="201168"/>
          </a:xfrm>
          <a:prstGeom prst="rect">
            <a:avLst/>
          </a:prstGeom>
          <a:noFill/>
        </p:spPr>
        <p:txBody>
          <a:bodyPr wrap="square" anchor="t" lIns="0" rIns="0" tIns="0" bIns="0">
            <a:spAutoFit/>
          </a:bodyPr>
          <a:lstStyle/>
          <a:p>
            <a:pPr algn="l"/>
            <a:r>
              <a:rPr sz="1150" b="1">
                <a:solidFill>
                  <a:srgbClr val="0F6E70"/>
                </a:solidFill>
                <a:latin typeface="Archivo"/>
              </a:rPr>
              <a:t>Ray tracing</a:t>
            </a:r>
          </a:p>
        </p:txBody>
      </p:sp>
      <p:sp>
        <p:nvSpPr>
          <p:cNvPr id="14" name="TextBox 13"/>
          <p:cNvSpPr txBox="1"/>
          <p:nvPr/>
        </p:nvSpPr>
        <p:spPr>
          <a:xfrm>
            <a:off x="612648"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Sionna RT over a reconstructed scene</a:t>
            </a:r>
          </a:p>
        </p:txBody>
      </p:sp>
      <p:sp>
        <p:nvSpPr>
          <p:cNvPr id="15" name="Rectangle 14"/>
          <p:cNvSpPr/>
          <p:nvPr/>
        </p:nvSpPr>
        <p:spPr>
          <a:xfrm>
            <a:off x="3319272" y="1234440"/>
            <a:ext cx="2606040" cy="502920"/>
          </a:xfrm>
          <a:prstGeom prst="rect">
            <a:avLst/>
          </a:prstGeom>
          <a:solidFill>
            <a:srgbClr val="FBFCFA"/>
          </a:solidFill>
          <a:ln w="15875">
            <a:solidFill>
              <a:srgbClr val="8F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9000" y="1316736"/>
            <a:ext cx="2377440" cy="201168"/>
          </a:xfrm>
          <a:prstGeom prst="rect">
            <a:avLst/>
          </a:prstGeom>
          <a:noFill/>
        </p:spPr>
        <p:txBody>
          <a:bodyPr wrap="square" anchor="t" lIns="0" rIns="0" tIns="0" bIns="0">
            <a:spAutoFit/>
          </a:bodyPr>
          <a:lstStyle/>
          <a:p>
            <a:pPr algn="l"/>
            <a:r>
              <a:rPr sz="1150" b="1">
                <a:solidFill>
                  <a:srgbClr val="8F6200"/>
                </a:solidFill>
                <a:latin typeface="Archivo"/>
              </a:rPr>
              <a:t>Fitted physics</a:t>
            </a:r>
          </a:p>
        </p:txBody>
      </p:sp>
      <p:sp>
        <p:nvSpPr>
          <p:cNvPr id="17" name="TextBox 16"/>
          <p:cNvSpPr txBox="1"/>
          <p:nvPr/>
        </p:nvSpPr>
        <p:spPr>
          <a:xfrm>
            <a:off x="3429000"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two-slope law + ITU-R P.526</a:t>
            </a:r>
          </a:p>
        </p:txBody>
      </p:sp>
      <p:sp>
        <p:nvSpPr>
          <p:cNvPr id="18" name="Rectangle 17"/>
          <p:cNvSpPr/>
          <p:nvPr/>
        </p:nvSpPr>
        <p:spPr>
          <a:xfrm>
            <a:off x="6135624" y="1234440"/>
            <a:ext cx="2606040" cy="502920"/>
          </a:xfrm>
          <a:prstGeom prst="rect">
            <a:avLst/>
          </a:prstGeom>
          <a:solidFill>
            <a:srgbClr val="FBFCFA"/>
          </a:solidFill>
          <a:ln w="15875">
            <a:solidFill>
              <a:srgbClr val="5B3A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5352" y="1316736"/>
            <a:ext cx="2377440" cy="201168"/>
          </a:xfrm>
          <a:prstGeom prst="rect">
            <a:avLst/>
          </a:prstGeom>
          <a:noFill/>
        </p:spPr>
        <p:txBody>
          <a:bodyPr wrap="square" anchor="t" lIns="0" rIns="0" tIns="0" bIns="0">
            <a:spAutoFit/>
          </a:bodyPr>
          <a:lstStyle/>
          <a:p>
            <a:pPr algn="l"/>
            <a:r>
              <a:rPr sz="1150" b="1">
                <a:solidFill>
                  <a:srgbClr val="5B3A9B"/>
                </a:solidFill>
                <a:latin typeface="Archivo"/>
              </a:rPr>
              <a:t>Neural operator</a:t>
            </a:r>
          </a:p>
        </p:txBody>
      </p:sp>
      <p:sp>
        <p:nvSpPr>
          <p:cNvPr id="20" name="TextBox 19"/>
          <p:cNvSpPr txBox="1"/>
          <p:nvPr/>
        </p:nvSpPr>
        <p:spPr>
          <a:xfrm>
            <a:off x="6245352"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1-D FNO over path profiles</a:t>
            </a:r>
          </a:p>
        </p:txBody>
      </p:sp>
      <p:sp>
        <p:nvSpPr>
          <p:cNvPr id="21" name="Rectangle 20"/>
          <p:cNvSpPr/>
          <p:nvPr/>
        </p:nvSpPr>
        <p:spPr>
          <a:xfrm>
            <a:off x="8951976" y="1234440"/>
            <a:ext cx="2606040" cy="502920"/>
          </a:xfrm>
          <a:prstGeom prst="rect">
            <a:avLst/>
          </a:prstGeom>
          <a:solidFill>
            <a:srgbClr val="FBFCFA"/>
          </a:solidFill>
          <a:ln w="15875">
            <a:solidFill>
              <a:srgbClr val="A8B2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1704" y="1316736"/>
            <a:ext cx="2377440" cy="201168"/>
          </a:xfrm>
          <a:prstGeom prst="rect">
            <a:avLst/>
          </a:prstGeom>
          <a:noFill/>
        </p:spPr>
        <p:txBody>
          <a:bodyPr wrap="square" anchor="t" lIns="0" rIns="0" tIns="0" bIns="0">
            <a:spAutoFit/>
          </a:bodyPr>
          <a:lstStyle/>
          <a:p>
            <a:pPr algn="l"/>
            <a:r>
              <a:rPr sz="1150" b="1">
                <a:solidFill>
                  <a:srgbClr val="A8B2A6"/>
                </a:solidFill>
                <a:latin typeface="Archivo"/>
              </a:rPr>
              <a:t>PINN</a:t>
            </a:r>
          </a:p>
        </p:txBody>
      </p:sp>
      <p:sp>
        <p:nvSpPr>
          <p:cNvPr id="23" name="TextBox 22"/>
          <p:cNvSpPr txBox="1"/>
          <p:nvPr/>
        </p:nvSpPr>
        <p:spPr>
          <a:xfrm>
            <a:off x="9061704"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reserved</a:t>
            </a:r>
          </a:p>
        </p:txBody>
      </p:sp>
      <p:sp>
        <p:nvSpPr>
          <p:cNvPr id="24" name="Rectangle 23"/>
          <p:cNvSpPr/>
          <p:nvPr/>
        </p:nvSpPr>
        <p:spPr>
          <a:xfrm>
            <a:off x="502920" y="3657600"/>
            <a:ext cx="3566160" cy="96012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57600"/>
            <a:ext cx="54864" cy="96012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803904"/>
            <a:ext cx="3200400" cy="256032"/>
          </a:xfrm>
          <a:prstGeom prst="rect">
            <a:avLst/>
          </a:prstGeom>
          <a:noFill/>
        </p:spPr>
        <p:txBody>
          <a:bodyPr wrap="square" anchor="t" lIns="0" rIns="0" tIns="0" bIns="0">
            <a:spAutoFit/>
          </a:bodyPr>
          <a:lstStyle/>
          <a:p>
            <a:pPr algn="l"/>
            <a:r>
              <a:rPr sz="1300" b="1">
                <a:solidFill>
                  <a:srgbClr val="16211C"/>
                </a:solidFill>
                <a:latin typeface="Archivo"/>
              </a:rPr>
              <a:t>shared demand grid</a:t>
            </a:r>
          </a:p>
        </p:txBody>
      </p:sp>
      <p:sp>
        <p:nvSpPr>
          <p:cNvPr id="27" name="TextBox 26"/>
          <p:cNvSpPr txBox="1"/>
          <p:nvPr/>
        </p:nvSpPr>
        <p:spPr>
          <a:xfrm>
            <a:off x="685800" y="4133087"/>
            <a:ext cx="3200400" cy="365760"/>
          </a:xfrm>
          <a:prstGeom prst="rect">
            <a:avLst/>
          </a:prstGeom>
          <a:noFill/>
        </p:spPr>
        <p:txBody>
          <a:bodyPr wrap="square" anchor="t" lIns="0" rIns="0" tIns="0" bIns="0">
            <a:spAutoFit/>
          </a:bodyPr>
          <a:lstStyle/>
          <a:p>
            <a:pPr algn="l"/>
            <a:r>
              <a:rPr sz="950" b="0">
                <a:solidFill>
                  <a:srgbClr val="65726B"/>
                </a:solidFill>
                <a:latin typeface="Consolas"/>
              </a:rPr>
              <a:t>4,731 cells · 200 m · route-km de-duplicated</a:t>
            </a:r>
          </a:p>
        </p:txBody>
      </p:sp>
      <p:sp>
        <p:nvSpPr>
          <p:cNvPr id="28" name="Rectangle 27"/>
          <p:cNvSpPr/>
          <p:nvPr/>
        </p:nvSpPr>
        <p:spPr>
          <a:xfrm>
            <a:off x="4297680" y="3657600"/>
            <a:ext cx="3566160" cy="96012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97680" y="3657600"/>
            <a:ext cx="54864" cy="960120"/>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80560" y="3803904"/>
            <a:ext cx="3200400" cy="256032"/>
          </a:xfrm>
          <a:prstGeom prst="rect">
            <a:avLst/>
          </a:prstGeom>
          <a:noFill/>
        </p:spPr>
        <p:txBody>
          <a:bodyPr wrap="square" anchor="t" lIns="0" rIns="0" tIns="0" bIns="0">
            <a:spAutoFit/>
          </a:bodyPr>
          <a:lstStyle/>
          <a:p>
            <a:pPr algn="l"/>
            <a:r>
              <a:rPr sz="1300" b="1">
                <a:solidFill>
                  <a:srgbClr val="16211C"/>
                </a:solidFill>
                <a:latin typeface="Archivo"/>
              </a:rPr>
              <a:t>shared testbench</a:t>
            </a:r>
          </a:p>
        </p:txBody>
      </p:sp>
      <p:sp>
        <p:nvSpPr>
          <p:cNvPr id="31" name="TextBox 30"/>
          <p:cNvSpPr txBox="1"/>
          <p:nvPr/>
        </p:nvSpPr>
        <p:spPr>
          <a:xfrm>
            <a:off x="4480560" y="4133087"/>
            <a:ext cx="3200400" cy="365760"/>
          </a:xfrm>
          <a:prstGeom prst="rect">
            <a:avLst/>
          </a:prstGeom>
          <a:noFill/>
        </p:spPr>
        <p:txBody>
          <a:bodyPr wrap="square" anchor="t" lIns="0" rIns="0" tIns="0" bIns="0">
            <a:spAutoFit/>
          </a:bodyPr>
          <a:lstStyle/>
          <a:p>
            <a:pPr algn="l"/>
            <a:r>
              <a:rPr sz="950" b="0">
                <a:solidFill>
                  <a:srgbClr val="65726B"/>
                </a:solidFill>
                <a:latin typeface="Consolas"/>
              </a:rPr>
              <a:t>3 splits · 200 m buffer · one seed</a:t>
            </a:r>
          </a:p>
        </p:txBody>
      </p:sp>
      <p:sp>
        <p:nvSpPr>
          <p:cNvPr id="32" name="Rectangle 31"/>
          <p:cNvSpPr/>
          <p:nvPr/>
        </p:nvSpPr>
        <p:spPr>
          <a:xfrm>
            <a:off x="8092440" y="3657600"/>
            <a:ext cx="3566160" cy="96012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92440" y="3657600"/>
            <a:ext cx="54864" cy="960120"/>
          </a:xfrm>
          <a:prstGeom prst="rect">
            <a:avLst/>
          </a:prstGeom>
          <a:solidFill>
            <a:srgbClr val="5B3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75320" y="3803904"/>
            <a:ext cx="3200400" cy="256032"/>
          </a:xfrm>
          <a:prstGeom prst="rect">
            <a:avLst/>
          </a:prstGeom>
          <a:noFill/>
        </p:spPr>
        <p:txBody>
          <a:bodyPr wrap="square" anchor="t" lIns="0" rIns="0" tIns="0" bIns="0">
            <a:spAutoFit/>
          </a:bodyPr>
          <a:lstStyle/>
          <a:p>
            <a:pPr algn="l"/>
            <a:r>
              <a:rPr sz="1300" b="1">
                <a:solidFill>
                  <a:srgbClr val="16211C"/>
                </a:solidFill>
                <a:latin typeface="Archivo"/>
              </a:rPr>
              <a:t>shared planner</a:t>
            </a:r>
          </a:p>
        </p:txBody>
      </p:sp>
      <p:sp>
        <p:nvSpPr>
          <p:cNvPr id="35" name="TextBox 34"/>
          <p:cNvSpPr txBox="1"/>
          <p:nvPr/>
        </p:nvSpPr>
        <p:spPr>
          <a:xfrm>
            <a:off x="8275320" y="4133087"/>
            <a:ext cx="3200400" cy="365760"/>
          </a:xfrm>
          <a:prstGeom prst="rect">
            <a:avLst/>
          </a:prstGeom>
          <a:noFill/>
        </p:spPr>
        <p:txBody>
          <a:bodyPr wrap="square" anchor="t" lIns="0" rIns="0" tIns="0" bIns="0">
            <a:spAutoFit/>
          </a:bodyPr>
          <a:lstStyle/>
          <a:p>
            <a:pPr algn="l"/>
            <a:r>
              <a:rPr sz="950" b="0">
                <a:solidFill>
                  <a:srgbClr val="65726B"/>
                </a:solidFill>
                <a:latin typeface="Consolas"/>
              </a:rPr>
              <a:t>any simulator · any criterion · any weighting</a:t>
            </a:r>
          </a:p>
        </p:txBody>
      </p:sp>
      <p:sp>
        <p:nvSpPr>
          <p:cNvPr id="36" name="TextBox 35"/>
          <p:cNvSpPr txBox="1"/>
          <p:nvPr/>
        </p:nvSpPr>
        <p:spPr>
          <a:xfrm>
            <a:off x="502920" y="4937760"/>
            <a:ext cx="11155680" cy="1005840"/>
          </a:xfrm>
          <a:prstGeom prst="rect">
            <a:avLst/>
          </a:prstGeom>
          <a:noFill/>
        </p:spPr>
        <p:txBody>
          <a:bodyPr wrap="square" anchor="t" lIns="0" rIns="0" tIns="0" bIns="0">
            <a:spAutoFit/>
          </a:bodyPr>
          <a:lstStyle/>
          <a:p>
            <a:pPr algn="l"/>
            <a:r>
              <a:rPr sz="1250" b="0">
                <a:solidFill>
                  <a:srgbClr val="3A4842"/>
                </a:solidFill>
                <a:latin typeface="Archivo"/>
              </a:rPr>
              <a:t>common/ never imports an approach; approaches expose their models through it. Adding a simulator therefore touches no existing one — and the shared testbench reproduces the published reference numbers to 0.02 dB, so a change to the bench is detected rather than absorbed.</a:t>
            </a:r>
          </a:p>
        </p:txBody>
      </p:sp>
      <p:sp>
        <p:nvSpPr>
          <p:cNvPr id="37" name="TextBox 36"/>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common/README.md · common/BACKTEST.md · common/PLANNER.md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8F6200"/>
                </a:solidFill>
                <a:latin typeface="Consolas"/>
              </a:rPr>
              <a:t>07</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1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Fitted physics — a two-slope law with terrain in the loop</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physical law with fitted constants, not a memorised surface. That is what lets it answer a counterfactual.</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8F6200"/>
                </a:solidFill>
                <a:latin typeface="Consolas"/>
              </a:rPr>
              <a:t>BUILT</a:t>
            </a:r>
          </a:p>
        </p:txBody>
      </p:sp>
      <p:sp>
        <p:nvSpPr>
          <p:cNvPr id="9" name="TextBox 8"/>
          <p:cNvSpPr txBox="1"/>
          <p:nvPr/>
        </p:nvSpPr>
        <p:spPr>
          <a:xfrm>
            <a:off x="502920" y="1691640"/>
            <a:ext cx="5669280" cy="548640"/>
          </a:xfrm>
          <a:prstGeom prst="rect">
            <a:avLst/>
          </a:prstGeom>
          <a:noFill/>
        </p:spPr>
        <p:txBody>
          <a:bodyPr wrap="square" anchor="t" lIns="0" rIns="0" tIns="0" bIns="0">
            <a:spAutoFit/>
          </a:bodyPr>
          <a:lstStyle/>
          <a:p>
            <a:pPr algn="l"/>
            <a:r>
              <a:rPr sz="1300" b="1">
                <a:solidFill>
                  <a:srgbClr val="16211C"/>
                </a:solidFill>
                <a:latin typeface="Consolas"/>
              </a:rPr>
              <a:t>RSRP = b₀ + b₁·log₁₀(d) + a₁cos φ + a₂sin φ + b_J·J(v) + b_F·F</a:t>
            </a:r>
          </a:p>
        </p:txBody>
      </p:sp>
      <p:graphicFrame>
        <p:nvGraphicFramePr>
          <p:cNvPr id="10" name="Table 9"/>
          <p:cNvGraphicFramePr>
            <a:graphicFrameLocks noGrp="1"/>
          </p:cNvGraphicFramePr>
          <p:nvPr/>
        </p:nvGraphicFramePr>
        <p:xfrm>
          <a:off x="502920" y="2286000"/>
          <a:ext cx="5669280" cy="1737360"/>
        </p:xfrm>
        <a:graphic>
          <a:graphicData uri="http://schemas.openxmlformats.org/drawingml/2006/table">
            <a:tbl>
              <a:tblPr firstRow="1" bandRow="1">
                <a:tableStyleId>{5C22544A-7EE6-4342-B048-85BDC9FD1C3A}</a:tableStyleId>
              </a:tblPr>
              <a:tblGrid>
                <a:gridCol w="1554480"/>
                <a:gridCol w="1371600"/>
                <a:gridCol w="2743200"/>
              </a:tblGrid>
              <a:tr h="347472">
                <a:tc>
                  <a:txBody>
                    <a:bodyPr/>
                    <a:lstStyle/>
                    <a:p>
                      <a:r>
                        <a:rPr sz="950" b="1">
                          <a:solidFill>
                            <a:srgbClr val="65726B"/>
                          </a:solidFill>
                          <a:latin typeface="Consolas"/>
                        </a:rPr>
                        <a:t>term</a:t>
                      </a:r>
                    </a:p>
                  </a:txBody>
                  <a:tcPr marL="54864" marR="54864" marT="27432" marB="27432">
                    <a:solidFill>
                      <a:srgbClr val="F1F4EF"/>
                    </a:solidFill>
                  </a:tcPr>
                </a:tc>
                <a:tc>
                  <a:txBody>
                    <a:bodyPr/>
                    <a:lstStyle/>
                    <a:p>
                      <a:pPr algn="r"/>
                      <a:r>
                        <a:rPr sz="950" b="1">
                          <a:solidFill>
                            <a:srgbClr val="65726B"/>
                          </a:solidFill>
                          <a:latin typeface="Consolas"/>
                        </a:rPr>
                        <a:t>fitted</a:t>
                      </a:r>
                    </a:p>
                  </a:txBody>
                  <a:tcPr marL="54864" marR="54864" marT="27432" marB="27432">
                    <a:solidFill>
                      <a:srgbClr val="F1F4EF"/>
                    </a:solidFill>
                  </a:tcPr>
                </a:tc>
                <a:tc>
                  <a:txBody>
                    <a:bodyPr/>
                    <a:lstStyle/>
                    <a:p>
                      <a:pPr algn="r"/>
                      <a:r>
                        <a:rPr sz="950" b="1">
                          <a:solidFill>
                            <a:srgbClr val="65726B"/>
                          </a:solidFill>
                          <a:latin typeface="Consolas"/>
                        </a:rPr>
                        <a:t>meaning</a:t>
                      </a:r>
                    </a:p>
                  </a:txBody>
                  <a:tcPr marL="54864" marR="54864" marT="27432" marB="27432">
                    <a:solidFill>
                      <a:srgbClr val="F1F4EF"/>
                    </a:solidFill>
                  </a:tcPr>
                </a:tc>
              </a:tr>
              <a:tr h="347472">
                <a:tc>
                  <a:txBody>
                    <a:bodyPr/>
                    <a:lstStyle/>
                    <a:p>
                      <a:r>
                        <a:rPr sz="950" b="0">
                          <a:solidFill>
                            <a:srgbClr val="16211C"/>
                          </a:solidFill>
                          <a:latin typeface="Consolas"/>
                        </a:rPr>
                        <a:t>n near / far</a:t>
                      </a:r>
                    </a:p>
                  </a:txBody>
                  <a:tcPr marL="54864" marR="54864" marT="27432" marB="27432">
                    <a:solidFill>
                      <a:srgbClr val="FFFFFF"/>
                    </a:solidFill>
                  </a:tcPr>
                </a:tc>
                <a:tc>
                  <a:txBody>
                    <a:bodyPr/>
                    <a:lstStyle/>
                    <a:p>
                      <a:pPr algn="r"/>
                      <a:r>
                        <a:rPr sz="950" b="0">
                          <a:solidFill>
                            <a:srgbClr val="16211C"/>
                          </a:solidFill>
                          <a:latin typeface="Consolas"/>
                        </a:rPr>
                        <a:t>1.80 / 3.35</a:t>
                      </a:r>
                    </a:p>
                  </a:txBody>
                  <a:tcPr marL="54864" marR="54864" marT="27432" marB="27432">
                    <a:solidFill>
                      <a:srgbClr val="FFFFFF"/>
                    </a:solidFill>
                  </a:tcPr>
                </a:tc>
                <a:tc>
                  <a:txBody>
                    <a:bodyPr/>
                    <a:lstStyle/>
                    <a:p>
                      <a:pPr algn="r"/>
                      <a:r>
                        <a:rPr sz="950" b="0">
                          <a:solidFill>
                            <a:srgbClr val="16211C"/>
                          </a:solidFill>
                          <a:latin typeface="Consolas"/>
                        </a:rPr>
                        <a:t>two-ray, breaking at 3 km</a:t>
                      </a:r>
                    </a:p>
                  </a:txBody>
                  <a:tcPr marL="54864" marR="54864" marT="27432" marB="27432">
                    <a:solidFill>
                      <a:srgbClr val="FFFFFF"/>
                    </a:solidFill>
                  </a:tcPr>
                </a:tc>
              </a:tr>
              <a:tr h="347472">
                <a:tc>
                  <a:txBody>
                    <a:bodyPr/>
                    <a:lstStyle/>
                    <a:p>
                      <a:r>
                        <a:rPr sz="950" b="0">
                          <a:solidFill>
                            <a:srgbClr val="16211C"/>
                          </a:solidFill>
                          <a:latin typeface="Consolas"/>
                        </a:rPr>
                        <a:t>b_J</a:t>
                      </a:r>
                    </a:p>
                  </a:txBody>
                  <a:tcPr marL="54864" marR="54864" marT="27432" marB="27432">
                    <a:solidFill>
                      <a:srgbClr val="FFFFFF"/>
                    </a:solidFill>
                  </a:tcPr>
                </a:tc>
                <a:tc>
                  <a:txBody>
                    <a:bodyPr/>
                    <a:lstStyle/>
                    <a:p>
                      <a:pPr algn="r"/>
                      <a:r>
                        <a:rPr sz="950" b="0">
                          <a:solidFill>
                            <a:srgbClr val="16211C"/>
                          </a:solidFill>
                          <a:latin typeface="Consolas"/>
                        </a:rPr>
                        <a:t>−0.73 dB/dB</a:t>
                      </a:r>
                    </a:p>
                  </a:txBody>
                  <a:tcPr marL="54864" marR="54864" marT="27432" marB="27432">
                    <a:solidFill>
                      <a:srgbClr val="FFFFFF"/>
                    </a:solidFill>
                  </a:tcPr>
                </a:tc>
                <a:tc>
                  <a:txBody>
                    <a:bodyPr/>
                    <a:lstStyle/>
                    <a:p>
                      <a:pPr algn="r"/>
                      <a:r>
                        <a:rPr sz="950" b="0">
                          <a:solidFill>
                            <a:srgbClr val="16211C"/>
                          </a:solidFill>
                          <a:latin typeface="Consolas"/>
                        </a:rPr>
                        <a:t>ITU-R P.526 knife edge</a:t>
                      </a:r>
                    </a:p>
                  </a:txBody>
                  <a:tcPr marL="54864" marR="54864" marT="27432" marB="27432">
                    <a:solidFill>
                      <a:srgbClr val="FFFFFF"/>
                    </a:solidFill>
                  </a:tcPr>
                </a:tc>
              </a:tr>
              <a:tr h="347472">
                <a:tc>
                  <a:txBody>
                    <a:bodyPr/>
                    <a:lstStyle/>
                    <a:p>
                      <a:r>
                        <a:rPr sz="950" b="0">
                          <a:solidFill>
                            <a:srgbClr val="16211C"/>
                          </a:solidFill>
                          <a:latin typeface="Consolas"/>
                        </a:rPr>
                        <a:t>b_F</a:t>
                      </a:r>
                    </a:p>
                  </a:txBody>
                  <a:tcPr marL="54864" marR="54864" marT="27432" marB="27432">
                    <a:solidFill>
                      <a:srgbClr val="FFFFFF"/>
                    </a:solidFill>
                  </a:tcPr>
                </a:tc>
                <a:tc>
                  <a:txBody>
                    <a:bodyPr/>
                    <a:lstStyle/>
                    <a:p>
                      <a:pPr algn="r"/>
                      <a:r>
                        <a:rPr sz="950" b="0">
                          <a:solidFill>
                            <a:srgbClr val="16211C"/>
                          </a:solidFill>
                          <a:latin typeface="Consolas"/>
                        </a:rPr>
                        <a:t>+7.33</a:t>
                      </a:r>
                    </a:p>
                  </a:txBody>
                  <a:tcPr marL="54864" marR="54864" marT="27432" marB="27432">
                    <a:solidFill>
                      <a:srgbClr val="FFFFFF"/>
                    </a:solidFill>
                  </a:tcPr>
                </a:tc>
                <a:tc>
                  <a:txBody>
                    <a:bodyPr/>
                    <a:lstStyle/>
                    <a:p>
                      <a:pPr algn="r"/>
                      <a:r>
                        <a:rPr sz="950" b="0">
                          <a:solidFill>
                            <a:srgbClr val="16211C"/>
                          </a:solidFill>
                          <a:latin typeface="Consolas"/>
                        </a:rPr>
                        <a:t>first Fresnel clearance</a:t>
                      </a:r>
                    </a:p>
                  </a:txBody>
                  <a:tcPr marL="54864" marR="54864" marT="27432" marB="27432">
                    <a:solidFill>
                      <a:srgbClr val="FFFFFF"/>
                    </a:solidFill>
                  </a:tcPr>
                </a:tc>
              </a:tr>
              <a:tr h="347472">
                <a:tc>
                  <a:txBody>
                    <a:bodyPr/>
                    <a:lstStyle/>
                    <a:p>
                      <a:r>
                        <a:rPr sz="950" b="0">
                          <a:solidFill>
                            <a:srgbClr val="16211C"/>
                          </a:solidFill>
                          <a:latin typeface="Consolas"/>
                        </a:rPr>
                        <a:t>σ</a:t>
                      </a:r>
                    </a:p>
                  </a:txBody>
                  <a:tcPr marL="54864" marR="54864" marT="27432" marB="27432">
                    <a:solidFill>
                      <a:srgbClr val="FFFFFF"/>
                    </a:solidFill>
                  </a:tcPr>
                </a:tc>
                <a:tc>
                  <a:txBody>
                    <a:bodyPr/>
                    <a:lstStyle/>
                    <a:p>
                      <a:pPr algn="r"/>
                      <a:r>
                        <a:rPr sz="950" b="0">
                          <a:solidFill>
                            <a:srgbClr val="16211C"/>
                          </a:solidFill>
                          <a:latin typeface="Consolas"/>
                        </a:rPr>
                        <a:t>7.35 dB</a:t>
                      </a:r>
                    </a:p>
                  </a:txBody>
                  <a:tcPr marL="54864" marR="54864" marT="27432" marB="27432">
                    <a:solidFill>
                      <a:srgbClr val="FFFFFF"/>
                    </a:solidFill>
                  </a:tcPr>
                </a:tc>
                <a:tc>
                  <a:txBody>
                    <a:bodyPr/>
                    <a:lstStyle/>
                    <a:p>
                      <a:pPr algn="r"/>
                      <a:r>
                        <a:rPr sz="950" b="0">
                          <a:solidFill>
                            <a:srgbClr val="16211C"/>
                          </a:solidFill>
                          <a:latin typeface="Consolas"/>
                        </a:rPr>
                        <a:t>shadow fading</a:t>
                      </a:r>
                    </a:p>
                  </a:txBody>
                  <a:tcPr marL="54864" marR="54864" marT="27432" marB="27432">
                    <a:solidFill>
                      <a:srgbClr val="FFFFFF"/>
                    </a:solidFill>
                  </a:tcPr>
                </a:tc>
              </a:tr>
            </a:tbl>
          </a:graphicData>
        </a:graphic>
      </p:graphicFrame>
      <p:sp>
        <p:nvSpPr>
          <p:cNvPr id="11" name="TextBox 10"/>
          <p:cNvSpPr txBox="1"/>
          <p:nvPr/>
        </p:nvSpPr>
        <p:spPr>
          <a:xfrm>
            <a:off x="6583680" y="1691640"/>
            <a:ext cx="5120640" cy="274320"/>
          </a:xfrm>
          <a:prstGeom prst="rect">
            <a:avLst/>
          </a:prstGeom>
          <a:noFill/>
        </p:spPr>
        <p:txBody>
          <a:bodyPr wrap="square" anchor="t" lIns="0" rIns="0" tIns="0" bIns="0">
            <a:spAutoFit/>
          </a:bodyPr>
          <a:lstStyle/>
          <a:p>
            <a:pPr algn="l"/>
            <a:r>
              <a:rPr sz="1050" b="1" spc="110">
                <a:solidFill>
                  <a:srgbClr val="65726B"/>
                </a:solidFill>
                <a:latin typeface="Consolas"/>
              </a:rPr>
              <a:t>RMSE BY SPLIT, DB</a:t>
            </a:r>
          </a:p>
        </p:txBody>
      </p:sp>
      <p:graphicFrame>
        <p:nvGraphicFramePr>
          <p:cNvPr id="12" name="Chart 11"/>
          <p:cNvGraphicFramePr>
            <a:graphicFrameLocks noGrp="1"/>
          </p:cNvGraphicFramePr>
          <p:nvPr/>
        </p:nvGraphicFramePr>
        <p:xfrm>
          <a:off x="6492240" y="2011680"/>
          <a:ext cx="5212080" cy="2103120"/>
        </p:xfrm>
        <a:graphic>
          <a:graphicData uri="http://schemas.openxmlformats.org/drawingml/2006/chart">
            <c:chart xmlns:c="http://schemas.openxmlformats.org/drawingml/2006/chart" r:id="rId2"/>
          </a:graphicData>
        </a:graphic>
      </p:graphicFrame>
      <p:sp>
        <p:nvSpPr>
          <p:cNvPr id="13" name="TextBox 12"/>
          <p:cNvSpPr txBox="1"/>
          <p:nvPr/>
        </p:nvSpPr>
        <p:spPr>
          <a:xfrm>
            <a:off x="502920" y="4297680"/>
            <a:ext cx="5669280" cy="2011680"/>
          </a:xfrm>
          <a:prstGeom prst="rect">
            <a:avLst/>
          </a:prstGeom>
          <a:noFill/>
        </p:spPr>
        <p:txBody>
          <a:bodyPr wrap="square" lIns="0" rIns="0" tIns="0" bIns="0">
            <a:spAutoFit/>
          </a:bodyPr>
          <a:lstStyle/>
          <a:p>
            <a:pPr>
              <a:spcAft>
                <a:spcPts val="600"/>
              </a:spcAft>
            </a:pPr>
            <a:r>
              <a:rPr sz="1050" b="1">
                <a:solidFill>
                  <a:srgbClr val="16211C"/>
                </a:solidFill>
                <a:latin typeface="Archivo"/>
              </a:rPr>
              <a:t>— Four choices were forced by the backtest, not chosen for elegance.</a:t>
            </a:r>
          </a:p>
          <a:p>
            <a:pPr>
              <a:spcAft>
                <a:spcPts val="600"/>
              </a:spcAft>
            </a:pPr>
            <a:r>
              <a:rPr sz="1050" b="0">
                <a:solidFill>
                  <a:srgbClr val="3A4842"/>
                </a:solidFill>
                <a:latin typeface="Archivo"/>
              </a:rPr>
              <a:t>— One azimuth harmonic, not two — two fit the sector beam beautifully and fall apart on a held-out bearing.</a:t>
            </a:r>
          </a:p>
          <a:p>
            <a:pPr>
              <a:spcAft>
                <a:spcPts val="600"/>
              </a:spcAft>
            </a:pPr>
            <a:r>
              <a:rPr sz="1050" b="0">
                <a:solidFill>
                  <a:srgbClr val="3A4842"/>
                </a:solidFill>
                <a:latin typeface="Archivo"/>
              </a:rPr>
              <a:t>— Both terrain terms orthogonalised against log-distance.</a:t>
            </a:r>
          </a:p>
          <a:p>
            <a:pPr>
              <a:spcAft>
                <a:spcPts val="600"/>
              </a:spcAft>
            </a:pPr>
            <a:r>
              <a:rPr sz="1050" b="0">
                <a:solidFill>
                  <a:srgbClr val="3A4842"/>
                </a:solidFill>
                <a:latin typeface="Archivo"/>
              </a:rPr>
              <a:t>— Near exponent bounded at 1.8: costs 0.08 dB, buys constants that can be defended in a room.</a:t>
            </a:r>
          </a:p>
        </p:txBody>
      </p:sp>
      <p:sp>
        <p:nvSpPr>
          <p:cNvPr id="14" name="TextBox 13"/>
          <p:cNvSpPr txBox="1"/>
          <p:nvPr/>
        </p:nvSpPr>
        <p:spPr>
          <a:xfrm>
            <a:off x="6492240" y="4297680"/>
            <a:ext cx="5212080" cy="2011680"/>
          </a:xfrm>
          <a:prstGeom prst="rect">
            <a:avLst/>
          </a:prstGeom>
          <a:noFill/>
        </p:spPr>
        <p:txBody>
          <a:bodyPr wrap="square" lIns="0" rIns="0" tIns="0" bIns="0">
            <a:spAutoFit/>
          </a:bodyPr>
          <a:lstStyle/>
          <a:p>
            <a:pPr>
              <a:spcAft>
                <a:spcPts val="600"/>
              </a:spcAft>
            </a:pPr>
            <a:r>
              <a:rPr sz="1050" b="1">
                <a:solidFill>
                  <a:srgbClr val="16211C"/>
                </a:solidFill>
                <a:latin typeface="Archivo"/>
              </a:rPr>
              <a:t>— Where it fails, measured rather than asserted.</a:t>
            </a:r>
          </a:p>
          <a:p>
            <a:pPr>
              <a:spcAft>
                <a:spcPts val="600"/>
              </a:spcAft>
            </a:pPr>
            <a:r>
              <a:rPr sz="1050" b="0">
                <a:solidFill>
                  <a:srgbClr val="3A4842"/>
                </a:solidFill>
                <a:latin typeface="Archivo"/>
              </a:rPr>
              <a:t>— Availability: 60.5% cell agreement against a 63.9% base rate. It does not beat 'always say served'.</a:t>
            </a:r>
          </a:p>
          <a:p>
            <a:pPr>
              <a:spcAft>
                <a:spcPts val="600"/>
              </a:spcAft>
            </a:pPr>
            <a:r>
              <a:rPr sz="1050" b="0">
                <a:solidFill>
                  <a:srgbClr val="3A4842"/>
                </a:solidFill>
                <a:latin typeface="Archivo"/>
              </a:rPr>
              <a:t>— Location explains 71.4% of outage variance, so a spatial model should do well — we are simply not capturing it.</a:t>
            </a:r>
          </a:p>
          <a:p>
            <a:pPr>
              <a:spcAft>
                <a:spcPts val="600"/>
              </a:spcAft>
            </a:pPr>
            <a:r>
              <a:rPr sz="1050" b="0">
                <a:solidFill>
                  <a:srgbClr val="3A4842"/>
                </a:solidFill>
                <a:latin typeface="Archivo"/>
              </a:rPr>
              <a:t>— 21% of cells measured twice flip between mostly-served and mostly-dead.</a:t>
            </a:r>
          </a:p>
        </p:txBody>
      </p:sp>
      <p:sp>
        <p:nvSpPr>
          <p:cNvPr id="15" name="TextBox 14"/>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terrain-approach/MODEL.md   ·   fitted on 3,838 rows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08</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2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Ray tracing — Sionna RT over a reconstructed scene</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Physics with no fitted constants: nothing to overfit, and nothing to refit per fold either.</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0F6E70"/>
                </a:solidFill>
                <a:latin typeface="Consolas"/>
              </a:rPr>
              <a:t>PROPAGATION BUILT</a:t>
            </a:r>
          </a:p>
        </p:txBody>
      </p:sp>
      <p:sp>
        <p:nvSpPr>
          <p:cNvPr id="9" name="TextBox 8"/>
          <p:cNvSpPr txBox="1"/>
          <p:nvPr/>
        </p:nvSpPr>
        <p:spPr>
          <a:xfrm>
            <a:off x="502920" y="1737360"/>
            <a:ext cx="5669280" cy="2377440"/>
          </a:xfrm>
          <a:prstGeom prst="rect">
            <a:avLst/>
          </a:prstGeom>
          <a:noFill/>
        </p:spPr>
        <p:txBody>
          <a:bodyPr wrap="square" lIns="0" rIns="0" tIns="0" bIns="0">
            <a:spAutoFit/>
          </a:bodyPr>
          <a:lstStyle/>
          <a:p>
            <a:pPr>
              <a:spcAft>
                <a:spcPts val="600"/>
              </a:spcAft>
            </a:pPr>
            <a:r>
              <a:rPr sz="1100" b="1">
                <a:solidFill>
                  <a:srgbClr val="16211C"/>
                </a:solidFill>
                <a:latin typeface="Archivo"/>
              </a:rPr>
              <a:t>— A digital twin, not a curve fit.</a:t>
            </a:r>
          </a:p>
          <a:p>
            <a:pPr>
              <a:spcAft>
                <a:spcPts val="600"/>
              </a:spcAft>
            </a:pPr>
            <a:r>
              <a:rPr sz="1100" b="0">
                <a:solidFill>
                  <a:srgbClr val="3A4842"/>
                </a:solidFill>
                <a:latin typeface="Archivo"/>
              </a:rPr>
              <a:t>— Scene from OpenStreetMap and USGS 3DEP, with Microsoft ML building footprints replacing OSM ones.</a:t>
            </a:r>
          </a:p>
          <a:p>
            <a:pPr>
              <a:spcAft>
                <a:spcPts val="600"/>
              </a:spcAft>
            </a:pPr>
            <a:r>
              <a:rPr sz="1100" b="0">
                <a:solidFill>
                  <a:srgbClr val="3A4842"/>
                </a:solidFill>
                <a:latin typeface="Archivo"/>
              </a:rPr>
              <a:t>— Validated against NAIP imagery — five orientation checks pass.</a:t>
            </a:r>
          </a:p>
          <a:p>
            <a:pPr>
              <a:spcAft>
                <a:spcPts val="600"/>
              </a:spcAft>
            </a:pPr>
            <a:r>
              <a:rPr sz="1100" b="0">
                <a:solidFill>
                  <a:srgbClr val="3A4842"/>
                </a:solidFill>
                <a:latin typeface="Archivo"/>
              </a:rPr>
              <a:t>— Because nothing is fitted, the testbench records it as unfitted and no leakage is possible. That is a stronger position than a fitted model can claim, not a weaker one.</a:t>
            </a:r>
          </a:p>
        </p:txBody>
      </p:sp>
      <p:sp>
        <p:nvSpPr>
          <p:cNvPr id="10" name="Rectangle 9"/>
          <p:cNvSpPr/>
          <p:nvPr/>
        </p:nvSpPr>
        <p:spPr>
          <a:xfrm>
            <a:off x="6492240" y="1737360"/>
            <a:ext cx="251460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0256" y="1828800"/>
            <a:ext cx="2258568" cy="146304"/>
          </a:xfrm>
          <a:prstGeom prst="rect">
            <a:avLst/>
          </a:prstGeom>
          <a:noFill/>
        </p:spPr>
        <p:txBody>
          <a:bodyPr wrap="square" anchor="t" lIns="0" rIns="0" tIns="0" bIns="0">
            <a:spAutoFit/>
          </a:bodyPr>
          <a:lstStyle/>
          <a:p>
            <a:pPr algn="l"/>
            <a:r>
              <a:rPr sz="800" b="0" spc="120">
                <a:solidFill>
                  <a:srgbClr val="65726B"/>
                </a:solidFill>
                <a:latin typeface="Consolas"/>
              </a:rPr>
              <a:t>HELD-OUT RMSE</a:t>
            </a:r>
          </a:p>
        </p:txBody>
      </p:sp>
      <p:sp>
        <p:nvSpPr>
          <p:cNvPr id="12" name="TextBox 11"/>
          <p:cNvSpPr txBox="1"/>
          <p:nvPr/>
        </p:nvSpPr>
        <p:spPr>
          <a:xfrm>
            <a:off x="6620256" y="1993392"/>
            <a:ext cx="2258568" cy="384048"/>
          </a:xfrm>
          <a:prstGeom prst="rect">
            <a:avLst/>
          </a:prstGeom>
          <a:noFill/>
        </p:spPr>
        <p:txBody>
          <a:bodyPr wrap="square" anchor="t" lIns="0" rIns="0" tIns="0" bIns="0">
            <a:spAutoFit/>
          </a:bodyPr>
          <a:lstStyle/>
          <a:p>
            <a:pPr algn="l"/>
            <a:r>
              <a:rPr sz="2500" b="1">
                <a:solidFill>
                  <a:srgbClr val="0F6E70"/>
                </a:solidFill>
                <a:latin typeface="Archivo"/>
              </a:rPr>
              <a:t>8.29 dB</a:t>
            </a:r>
          </a:p>
        </p:txBody>
      </p:sp>
      <p:sp>
        <p:nvSpPr>
          <p:cNvPr id="13" name="TextBox 12"/>
          <p:cNvSpPr txBox="1"/>
          <p:nvPr/>
        </p:nvSpPr>
        <p:spPr>
          <a:xfrm>
            <a:off x="6620256" y="2395728"/>
            <a:ext cx="2258568" cy="219456"/>
          </a:xfrm>
          <a:prstGeom prst="rect">
            <a:avLst/>
          </a:prstGeom>
          <a:noFill/>
        </p:spPr>
        <p:txBody>
          <a:bodyPr wrap="square" anchor="t" lIns="0" rIns="0" tIns="0" bIns="0">
            <a:spAutoFit/>
          </a:bodyPr>
          <a:lstStyle/>
          <a:p>
            <a:pPr algn="l"/>
            <a:r>
              <a:rPr sz="850" b="0">
                <a:solidFill>
                  <a:srgbClr val="65726B"/>
                </a:solidFill>
                <a:latin typeface="Consolas"/>
              </a:rPr>
              <a:t>MS footprints, was 8.58</a:t>
            </a:r>
          </a:p>
        </p:txBody>
      </p:sp>
      <p:sp>
        <p:nvSpPr>
          <p:cNvPr id="14" name="Rectangle 13"/>
          <p:cNvSpPr/>
          <p:nvPr/>
        </p:nvSpPr>
        <p:spPr>
          <a:xfrm>
            <a:off x="9189720" y="1737360"/>
            <a:ext cx="251460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17736" y="1828800"/>
            <a:ext cx="2258568" cy="146304"/>
          </a:xfrm>
          <a:prstGeom prst="rect">
            <a:avLst/>
          </a:prstGeom>
          <a:noFill/>
        </p:spPr>
        <p:txBody>
          <a:bodyPr wrap="square" anchor="t" lIns="0" rIns="0" tIns="0" bIns="0">
            <a:spAutoFit/>
          </a:bodyPr>
          <a:lstStyle/>
          <a:p>
            <a:pPr algn="l"/>
            <a:r>
              <a:rPr sz="800" b="0" spc="120">
                <a:solidFill>
                  <a:srgbClr val="65726B"/>
                </a:solidFill>
                <a:latin typeface="Consolas"/>
              </a:rPr>
              <a:t>MEASUREMENT FLOOR</a:t>
            </a:r>
          </a:p>
        </p:txBody>
      </p:sp>
      <p:sp>
        <p:nvSpPr>
          <p:cNvPr id="16" name="TextBox 15"/>
          <p:cNvSpPr txBox="1"/>
          <p:nvPr/>
        </p:nvSpPr>
        <p:spPr>
          <a:xfrm>
            <a:off x="9317736" y="1993392"/>
            <a:ext cx="2258568" cy="384048"/>
          </a:xfrm>
          <a:prstGeom prst="rect">
            <a:avLst/>
          </a:prstGeom>
          <a:noFill/>
        </p:spPr>
        <p:txBody>
          <a:bodyPr wrap="square" anchor="t" lIns="0" rIns="0" tIns="0" bIns="0">
            <a:spAutoFit/>
          </a:bodyPr>
          <a:lstStyle/>
          <a:p>
            <a:pPr algn="l"/>
            <a:r>
              <a:rPr sz="2500" b="1">
                <a:solidFill>
                  <a:srgbClr val="65726B"/>
                </a:solidFill>
                <a:latin typeface="Archivo"/>
              </a:rPr>
              <a:t>~2 dB</a:t>
            </a:r>
          </a:p>
        </p:txBody>
      </p:sp>
      <p:sp>
        <p:nvSpPr>
          <p:cNvPr id="17" name="TextBox 16"/>
          <p:cNvSpPr txBox="1"/>
          <p:nvPr/>
        </p:nvSpPr>
        <p:spPr>
          <a:xfrm>
            <a:off x="9317736" y="2395728"/>
            <a:ext cx="2258568" cy="219456"/>
          </a:xfrm>
          <a:prstGeom prst="rect">
            <a:avLst/>
          </a:prstGeom>
          <a:noFill/>
        </p:spPr>
        <p:txBody>
          <a:bodyPr wrap="square" anchor="t" lIns="0" rIns="0" tIns="0" bIns="0">
            <a:spAutoFit/>
          </a:bodyPr>
          <a:lstStyle/>
          <a:p>
            <a:pPr algn="l"/>
            <a:r>
              <a:rPr sz="850" b="0">
                <a:solidFill>
                  <a:srgbClr val="65726B"/>
                </a:solidFill>
                <a:latin typeface="Consolas"/>
              </a:rPr>
              <a:t>not 8 — see DATA_REQUEST.md</a:t>
            </a:r>
          </a:p>
        </p:txBody>
      </p:sp>
      <p:sp>
        <p:nvSpPr>
          <p:cNvPr id="18" name="Rectangle 17"/>
          <p:cNvSpPr/>
          <p:nvPr/>
        </p:nvSpPr>
        <p:spPr>
          <a:xfrm>
            <a:off x="6492240" y="2926080"/>
            <a:ext cx="5166360" cy="1737360"/>
          </a:xfrm>
          <a:prstGeom prst="rect">
            <a:avLst/>
          </a:prstGeom>
          <a:solidFill>
            <a:srgbClr val="FBFCFA"/>
          </a:solidFill>
          <a:ln w="12700">
            <a:solidFill>
              <a:srgbClr val="A8B2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926080"/>
            <a:ext cx="54864" cy="173736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20840" y="3063240"/>
            <a:ext cx="4754880" cy="256032"/>
          </a:xfrm>
          <a:prstGeom prst="rect">
            <a:avLst/>
          </a:prstGeom>
          <a:noFill/>
        </p:spPr>
        <p:txBody>
          <a:bodyPr wrap="square" anchor="t" lIns="0" rIns="0" tIns="0" bIns="0">
            <a:spAutoFit/>
          </a:bodyPr>
          <a:lstStyle/>
          <a:p>
            <a:pPr algn="l"/>
            <a:r>
              <a:rPr sz="1250" b="1">
                <a:solidFill>
                  <a:srgbClr val="65726B"/>
                </a:solidFill>
                <a:latin typeface="Archivo"/>
              </a:rPr>
              <a:t>Reserved — siting and planner bundle</a:t>
            </a:r>
          </a:p>
        </p:txBody>
      </p:sp>
      <p:sp>
        <p:nvSpPr>
          <p:cNvPr id="21" name="TextBox 20"/>
          <p:cNvSpPr txBox="1"/>
          <p:nvPr/>
        </p:nvSpPr>
        <p:spPr>
          <a:xfrm>
            <a:off x="6720840" y="3401568"/>
            <a:ext cx="4754880" cy="1188720"/>
          </a:xfrm>
          <a:prstGeom prst="rect">
            <a:avLst/>
          </a:prstGeom>
          <a:noFill/>
        </p:spPr>
        <p:txBody>
          <a:bodyPr wrap="square" lIns="0" rIns="0" tIns="0" bIns="0">
            <a:spAutoFit/>
          </a:bodyPr>
          <a:lstStyle/>
          <a:p>
            <a:pPr>
              <a:spcAft>
                <a:spcPts val="600"/>
              </a:spcAft>
            </a:pPr>
            <a:r>
              <a:rPr sz="1000" b="0">
                <a:solidFill>
                  <a:srgbClr val="3A4842"/>
                </a:solidFill>
                <a:latin typeface="Archivo"/>
              </a:rPr>
              <a:t>— Wrap the scene in the shared contract (src/adapter.py).</a:t>
            </a:r>
          </a:p>
          <a:p>
            <a:pPr>
              <a:spcAft>
                <a:spcPts val="600"/>
              </a:spcAft>
            </a:pPr>
            <a:r>
              <a:rPr sz="1000" b="0">
                <a:solidFill>
                  <a:srgbClr val="3A4842"/>
                </a:solidFill>
                <a:latin typeface="Archivo"/>
              </a:rPr>
              <a:t>— Emit a tabulated bundle — no closed form for a browser.</a:t>
            </a:r>
          </a:p>
          <a:p>
            <a:pPr>
              <a:spcAft>
                <a:spcPts val="600"/>
              </a:spcAft>
            </a:pPr>
            <a:r>
              <a:rPr sz="1000" b="0">
                <a:solidFill>
                  <a:srgbClr val="3A4842"/>
                </a:solidFill>
                <a:latin typeface="Archivo"/>
              </a:rPr>
              <a:t>— It then appears in the planner beside the others.</a:t>
            </a:r>
          </a:p>
        </p:txBody>
      </p:sp>
      <p:sp>
        <p:nvSpPr>
          <p:cNvPr id="22" name="TextBox 21"/>
          <p:cNvSpPr txBox="1"/>
          <p:nvPr/>
        </p:nvSpPr>
        <p:spPr>
          <a:xfrm>
            <a:off x="502920" y="4480560"/>
            <a:ext cx="5669280" cy="1463040"/>
          </a:xfrm>
          <a:prstGeom prst="rect">
            <a:avLst/>
          </a:prstGeom>
          <a:noFill/>
        </p:spPr>
        <p:txBody>
          <a:bodyPr wrap="square" anchor="t" lIns="0" rIns="0" tIns="0" bIns="0">
            <a:spAutoFit/>
          </a:bodyPr>
          <a:lstStyle/>
          <a:p>
            <a:pPr algn="l"/>
            <a:r>
              <a:rPr sz="1200" b="0">
                <a:solidFill>
                  <a:srgbClr val="3A4842"/>
                </a:solidFill>
                <a:latin typeface="Archivo"/>
              </a:rPr>
              <a:t>The two approaches disagree by construction: one ray-traces a scene it reconstructed, the other fits a law to the measurements. Where they agree on siting, that agreement means something. Where they do not, the difference is the honest uncertainty.</a:t>
            </a:r>
          </a:p>
        </p:txBody>
      </p:sp>
      <p:sp>
        <p:nvSpPr>
          <p:cNvPr id="23" name="TextBox 22"/>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sionna-approach/REPORT.md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A8B2A6"/>
                </a:solidFill>
                <a:latin typeface="Consolas"/>
              </a:rPr>
              <a:t>09</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3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Neural operator — a learned map from terrain profile to signal</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1-D Fourier neural operator. It does not trace rays and it does not assume a path-loss law; it learns the terrain term directly from 3,838 measured links.</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A8B2A6"/>
                </a:solidFill>
                <a:latin typeface="Consolas"/>
              </a:rPr>
              <a:t>RUNNING</a:t>
            </a:r>
          </a:p>
        </p:txBody>
      </p:sp>
      <p:sp>
        <p:nvSpPr>
          <p:cNvPr id="9" name="TextBox 8"/>
          <p:cNvSpPr txBox="1"/>
          <p:nvPr/>
        </p:nvSpPr>
        <p:spPr>
          <a:xfrm>
            <a:off x="502920" y="1783080"/>
            <a:ext cx="5486400" cy="2194560"/>
          </a:xfrm>
          <a:prstGeom prst="rect">
            <a:avLst/>
          </a:prstGeom>
          <a:noFill/>
        </p:spPr>
        <p:txBody>
          <a:bodyPr wrap="square" lIns="0" rIns="0" tIns="0" bIns="0">
            <a:spAutoFit/>
          </a:bodyPr>
          <a:lstStyle/>
          <a:p>
            <a:pPr>
              <a:spcAft>
                <a:spcPts val="600"/>
              </a:spcAft>
            </a:pPr>
            <a:r>
              <a:rPr sz="1100" b="1">
                <a:solidFill>
                  <a:srgbClr val="16211C"/>
                </a:solidFill>
                <a:latin typeface="Archivo"/>
              </a:rPr>
              <a:t>— The input is a function, not a number.</a:t>
            </a:r>
          </a:p>
          <a:p>
            <a:pPr>
              <a:spcAft>
                <a:spcPts val="600"/>
              </a:spcAft>
            </a:pPr>
            <a:r>
              <a:rPr sz="1100" b="0">
                <a:solidFill>
                  <a:srgbClr val="3A4842"/>
                </a:solidFill>
                <a:latin typeface="Archivo"/>
              </a:rPr>
              <a:t>— For every link, ground elevation is sampled at 128 points along the path from the tower to the receiver. That profile is the input; the received power is the output.</a:t>
            </a:r>
          </a:p>
          <a:p>
            <a:pPr>
              <a:spcAft>
                <a:spcPts val="600"/>
              </a:spcAft>
            </a:pPr>
            <a:r>
              <a:rPr sz="1100" b="1">
                <a:solidFill>
                  <a:srgbClr val="16211C"/>
                </a:solidFill>
                <a:latin typeface="Archivo"/>
              </a:rPr>
              <a:t>— It replaces the textbook diffraction term, not the whole model.</a:t>
            </a:r>
          </a:p>
          <a:p>
            <a:pPr>
              <a:spcAft>
                <a:spcPts val="600"/>
              </a:spcAft>
            </a:pPr>
            <a:r>
              <a:rPr sz="1100" b="0">
                <a:solidFill>
                  <a:srgbClr val="3A4842"/>
                </a:solidFill>
                <a:latin typeface="Archivo"/>
              </a:rPr>
              <a:t>— Distance and bearing stay parametric. The operator is asked only what the terrain along the path does to the signal — the same question ITU-R P.526 answers with a single knife edge.</a:t>
            </a:r>
          </a:p>
        </p:txBody>
      </p:sp>
      <p:sp>
        <p:nvSpPr>
          <p:cNvPr id="10" name="Rectangle 9"/>
          <p:cNvSpPr/>
          <p:nvPr/>
        </p:nvSpPr>
        <p:spPr>
          <a:xfrm>
            <a:off x="6309360" y="1783080"/>
            <a:ext cx="5394960" cy="2377440"/>
          </a:xfrm>
          <a:prstGeom prst="rect">
            <a:avLst/>
          </a:prstGeom>
          <a:solidFill>
            <a:srgbClr val="FBFCFA"/>
          </a:solidFill>
          <a:ln w="12700">
            <a:solidFill>
              <a:srgbClr val="A8B2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965960"/>
            <a:ext cx="4937760" cy="274320"/>
          </a:xfrm>
          <a:prstGeom prst="rect">
            <a:avLst/>
          </a:prstGeom>
          <a:noFill/>
        </p:spPr>
        <p:txBody>
          <a:bodyPr wrap="square" anchor="t" lIns="0" rIns="0" tIns="0" bIns="0">
            <a:spAutoFit/>
          </a:bodyPr>
          <a:lstStyle/>
          <a:p>
            <a:pPr algn="l"/>
            <a:r>
              <a:rPr sz="1250" b="1">
                <a:solidFill>
                  <a:srgbClr val="65726B"/>
                </a:solidFill>
                <a:latin typeface="Archivo"/>
              </a:rPr>
              <a:t>Reserved — backtest result</a:t>
            </a:r>
          </a:p>
        </p:txBody>
      </p:sp>
      <p:sp>
        <p:nvSpPr>
          <p:cNvPr id="12" name="TextBox 11"/>
          <p:cNvSpPr txBox="1"/>
          <p:nvPr/>
        </p:nvSpPr>
        <p:spPr>
          <a:xfrm>
            <a:off x="6537960" y="2331720"/>
            <a:ext cx="4937760" cy="1645920"/>
          </a:xfrm>
          <a:prstGeom prst="rect">
            <a:avLst/>
          </a:prstGeom>
          <a:noFill/>
        </p:spPr>
        <p:txBody>
          <a:bodyPr wrap="square" lIns="0" rIns="0" tIns="0" bIns="0">
            <a:spAutoFit/>
          </a:bodyPr>
          <a:lstStyle/>
          <a:p>
            <a:pPr>
              <a:spcAft>
                <a:spcPts val="600"/>
              </a:spcAft>
            </a:pPr>
            <a:r>
              <a:rPr sz="1000" b="0">
                <a:solidFill>
                  <a:srgbClr val="3A4842"/>
                </a:solidFill>
                <a:latin typeface="Archivo"/>
              </a:rPr>
              <a:t>— Runs on the shared testbench, so it lands straight into the scoreboard on slide 11.</a:t>
            </a:r>
          </a:p>
          <a:p>
            <a:pPr>
              <a:spcAft>
                <a:spcPts val="600"/>
              </a:spcAft>
            </a:pPr>
            <a:r>
              <a:rPr sz="1000" b="0">
                <a:solidFill>
                  <a:srgbClr val="3A4842"/>
                </a:solidFill>
                <a:latin typeface="Archivo"/>
              </a:rPr>
              <a:t>— Same three splits, same 200 m buffer, same seed.</a:t>
            </a:r>
          </a:p>
        </p:txBody>
      </p:sp>
      <p:sp>
        <p:nvSpPr>
          <p:cNvPr id="13" name="Rectangle 12"/>
          <p:cNvSpPr/>
          <p:nvPr/>
        </p:nvSpPr>
        <p:spPr>
          <a:xfrm>
            <a:off x="502920" y="4343400"/>
            <a:ext cx="11155680" cy="1600200"/>
          </a:xfrm>
          <a:prstGeom prst="rect">
            <a:avLst/>
          </a:prstGeom>
          <a:solidFill>
            <a:srgbClr val="F1F4EF"/>
          </a:solidFill>
          <a:ln w="19050">
            <a:solidFill>
              <a:srgbClr val="5B3A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4343400"/>
            <a:ext cx="54864" cy="1600200"/>
          </a:xfrm>
          <a:prstGeom prst="rect">
            <a:avLst/>
          </a:prstGeom>
          <a:solidFill>
            <a:srgbClr val="5B3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498848"/>
            <a:ext cx="10607040" cy="274320"/>
          </a:xfrm>
          <a:prstGeom prst="rect">
            <a:avLst/>
          </a:prstGeom>
          <a:noFill/>
        </p:spPr>
        <p:txBody>
          <a:bodyPr wrap="square" anchor="t" lIns="0" rIns="0" tIns="0" bIns="0">
            <a:spAutoFit/>
          </a:bodyPr>
          <a:lstStyle/>
          <a:p>
            <a:pPr algn="l"/>
            <a:r>
              <a:rPr sz="1300" b="1">
                <a:solidFill>
                  <a:srgbClr val="5B3A9B"/>
                </a:solidFill>
                <a:latin typeface="Archivo"/>
              </a:rPr>
              <a:t>Why the split matters more here than anywhere else</a:t>
            </a:r>
          </a:p>
        </p:txBody>
      </p:sp>
      <p:sp>
        <p:nvSpPr>
          <p:cNvPr id="16" name="TextBox 15"/>
          <p:cNvSpPr txBox="1"/>
          <p:nvPr/>
        </p:nvSpPr>
        <p:spPr>
          <a:xfrm>
            <a:off x="777240" y="4864608"/>
            <a:ext cx="10607040" cy="914400"/>
          </a:xfrm>
          <a:prstGeom prst="rect">
            <a:avLst/>
          </a:prstGeom>
          <a:noFill/>
        </p:spPr>
        <p:txBody>
          <a:bodyPr wrap="square" anchor="t" lIns="0" rIns="0" tIns="0" bIns="0">
            <a:spAutoFit/>
          </a:bodyPr>
          <a:lstStyle/>
          <a:p>
            <a:pPr algn="l"/>
            <a:r>
              <a:rPr sz="1200" b="0">
                <a:solidFill>
                  <a:srgbClr val="3A4842"/>
                </a:solidFill>
                <a:latin typeface="Archivo"/>
              </a:rPr>
              <a:t>A terrain profile is very nearly a unique identifier of where the receiver was: the nearest other link in profile space sits a median of 12.2 m away on the ground, and 97.2% are within 50 m. So on a random split this model can reach the answer by recognising the location rather than the physics. Only the geographic splits say anything about whether it has learned propagation.</a:t>
            </a:r>
          </a:p>
        </p:txBody>
      </p:sp>
      <p:sp>
        <p:nvSpPr>
          <p:cNvPr id="17" name="TextBox 16"/>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terrain-approach/NEURAL_OPERATOR.md   ·   1-D FNO, 128-point profiles, torch CPU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A8B2A6"/>
                </a:solidFill>
                <a:latin typeface="Consolas"/>
              </a:rPr>
              <a:t>10</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4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Physics-informed network — reserved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 slot exists so the deck does not have to be restructured when it lands.</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A8B2A6"/>
                </a:solidFill>
                <a:latin typeface="Consolas"/>
              </a:rPr>
              <a:t>RESERVED</a:t>
            </a:r>
          </a:p>
        </p:txBody>
      </p:sp>
      <p:sp>
        <p:nvSpPr>
          <p:cNvPr id="9" name="Rectangle 8"/>
          <p:cNvSpPr/>
          <p:nvPr/>
        </p:nvSpPr>
        <p:spPr>
          <a:xfrm>
            <a:off x="502920" y="1783080"/>
            <a:ext cx="3566160" cy="2468880"/>
          </a:xfrm>
          <a:prstGeom prst="rect">
            <a:avLst/>
          </a:prstGeom>
          <a:solidFill>
            <a:srgbClr val="FBFCFA"/>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783080"/>
            <a:ext cx="54864" cy="246888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911096"/>
            <a:ext cx="3200400" cy="256032"/>
          </a:xfrm>
          <a:prstGeom prst="rect">
            <a:avLst/>
          </a:prstGeom>
          <a:noFill/>
        </p:spPr>
        <p:txBody>
          <a:bodyPr wrap="square" anchor="t" lIns="0" rIns="0" tIns="0" bIns="0">
            <a:spAutoFit/>
          </a:bodyPr>
          <a:lstStyle/>
          <a:p>
            <a:pPr algn="l"/>
            <a:r>
              <a:rPr sz="1350" b="1">
                <a:solidFill>
                  <a:srgbClr val="65726B"/>
                </a:solidFill>
                <a:latin typeface="Archivo"/>
              </a:rPr>
              <a:t>What it would add</a:t>
            </a:r>
          </a:p>
        </p:txBody>
      </p:sp>
      <p:sp>
        <p:nvSpPr>
          <p:cNvPr id="12" name="TextBox 11"/>
          <p:cNvSpPr txBox="1"/>
          <p:nvPr/>
        </p:nvSpPr>
        <p:spPr>
          <a:xfrm>
            <a:off x="704088" y="2167128"/>
            <a:ext cx="3200400" cy="182880"/>
          </a:xfrm>
          <a:prstGeom prst="rect">
            <a:avLst/>
          </a:prstGeom>
          <a:noFill/>
        </p:spPr>
        <p:txBody>
          <a:bodyPr wrap="square" anchor="t" lIns="0" rIns="0" tIns="0" bIns="0">
            <a:spAutoFit/>
          </a:bodyPr>
          <a:lstStyle/>
          <a:p>
            <a:pPr algn="l"/>
            <a:r>
              <a:rPr sz="850" b="1" spc="110">
                <a:solidFill>
                  <a:srgbClr val="A8B2A6"/>
                </a:solidFill>
                <a:latin typeface="Consolas"/>
              </a:rPr>
              <a:t>PREMISE</a:t>
            </a:r>
          </a:p>
        </p:txBody>
      </p:sp>
      <p:sp>
        <p:nvSpPr>
          <p:cNvPr id="13" name="TextBox 12"/>
          <p:cNvSpPr txBox="1"/>
          <p:nvPr/>
        </p:nvSpPr>
        <p:spPr>
          <a:xfrm>
            <a:off x="704088" y="2423160"/>
            <a:ext cx="3163824" cy="1700784"/>
          </a:xfrm>
          <a:prstGeom prst="rect">
            <a:avLst/>
          </a:prstGeom>
          <a:noFill/>
        </p:spPr>
        <p:txBody>
          <a:bodyPr wrap="square" lIns="0" rIns="0" tIns="0" bIns="0">
            <a:spAutoFit/>
          </a:bodyPr>
          <a:lstStyle/>
          <a:p>
            <a:pPr>
              <a:spcAft>
                <a:spcPts val="300"/>
              </a:spcAft>
            </a:pPr>
            <a:r>
              <a:rPr sz="1000" b="0">
                <a:solidFill>
                  <a:srgbClr val="65726B"/>
                </a:solidFill>
                <a:latin typeface="Archivo"/>
              </a:rPr>
              <a:t>— A residual that obeys a wave or transport equation rather than a fitted polynomial.</a:t>
            </a:r>
          </a:p>
          <a:p>
            <a:pPr>
              <a:spcAft>
                <a:spcPts val="300"/>
              </a:spcAft>
            </a:pPr>
            <a:r>
              <a:rPr sz="1000" b="0">
                <a:solidFill>
                  <a:srgbClr val="65726B"/>
                </a:solidFill>
                <a:latin typeface="Archivo"/>
              </a:rPr>
              <a:t>— Physics as a loss term, so extrapolation is constrained where data is absent — which is exactly where this survey is weakest.</a:t>
            </a:r>
          </a:p>
        </p:txBody>
      </p:sp>
      <p:sp>
        <p:nvSpPr>
          <p:cNvPr id="14" name="Rectangle 13"/>
          <p:cNvSpPr/>
          <p:nvPr/>
        </p:nvSpPr>
        <p:spPr>
          <a:xfrm>
            <a:off x="4251960" y="1783080"/>
            <a:ext cx="3566160" cy="2468880"/>
          </a:xfrm>
          <a:prstGeom prst="rect">
            <a:avLst/>
          </a:prstGeom>
          <a:solidFill>
            <a:srgbClr val="FBFCFA"/>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51960" y="1783080"/>
            <a:ext cx="54864" cy="246888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3128" y="1911096"/>
            <a:ext cx="3200400" cy="256032"/>
          </a:xfrm>
          <a:prstGeom prst="rect">
            <a:avLst/>
          </a:prstGeom>
          <a:noFill/>
        </p:spPr>
        <p:txBody>
          <a:bodyPr wrap="square" anchor="t" lIns="0" rIns="0" tIns="0" bIns="0">
            <a:spAutoFit/>
          </a:bodyPr>
          <a:lstStyle/>
          <a:p>
            <a:pPr algn="l"/>
            <a:r>
              <a:rPr sz="1350" b="1">
                <a:solidFill>
                  <a:srgbClr val="65726B"/>
                </a:solidFill>
                <a:latin typeface="Archivo"/>
              </a:rPr>
              <a:t>What it must clear</a:t>
            </a:r>
          </a:p>
        </p:txBody>
      </p:sp>
      <p:sp>
        <p:nvSpPr>
          <p:cNvPr id="17" name="TextBox 16"/>
          <p:cNvSpPr txBox="1"/>
          <p:nvPr/>
        </p:nvSpPr>
        <p:spPr>
          <a:xfrm>
            <a:off x="4453128" y="2167128"/>
            <a:ext cx="3200400" cy="182880"/>
          </a:xfrm>
          <a:prstGeom prst="rect">
            <a:avLst/>
          </a:prstGeom>
          <a:noFill/>
        </p:spPr>
        <p:txBody>
          <a:bodyPr wrap="square" anchor="t" lIns="0" rIns="0" tIns="0" bIns="0">
            <a:spAutoFit/>
          </a:bodyPr>
          <a:lstStyle/>
          <a:p>
            <a:pPr algn="l"/>
            <a:r>
              <a:rPr sz="850" b="1" spc="110">
                <a:solidFill>
                  <a:srgbClr val="A8B2A6"/>
                </a:solidFill>
                <a:latin typeface="Consolas"/>
              </a:rPr>
              <a:t>ACCEPTANCE</a:t>
            </a:r>
          </a:p>
        </p:txBody>
      </p:sp>
      <p:sp>
        <p:nvSpPr>
          <p:cNvPr id="18" name="TextBox 17"/>
          <p:cNvSpPr txBox="1"/>
          <p:nvPr/>
        </p:nvSpPr>
        <p:spPr>
          <a:xfrm>
            <a:off x="4453128" y="2423160"/>
            <a:ext cx="3163824" cy="1700784"/>
          </a:xfrm>
          <a:prstGeom prst="rect">
            <a:avLst/>
          </a:prstGeom>
          <a:noFill/>
        </p:spPr>
        <p:txBody>
          <a:bodyPr wrap="square" lIns="0" rIns="0" tIns="0" bIns="0">
            <a:spAutoFit/>
          </a:bodyPr>
          <a:lstStyle/>
          <a:p>
            <a:pPr>
              <a:spcAft>
                <a:spcPts val="300"/>
              </a:spcAft>
            </a:pPr>
            <a:r>
              <a:rPr sz="1000" b="0">
                <a:solidFill>
                  <a:srgbClr val="65726B"/>
                </a:solidFill>
                <a:latin typeface="Archivo"/>
              </a:rPr>
              <a:t>— The same three splits, the same 200 m buffer, the same seed.</a:t>
            </a:r>
          </a:p>
          <a:p>
            <a:pPr>
              <a:spcAft>
                <a:spcPts val="300"/>
              </a:spcAft>
            </a:pPr>
            <a:r>
              <a:rPr sz="1000" b="0">
                <a:solidFill>
                  <a:srgbClr val="65726B"/>
                </a:solidFill>
                <a:latin typeface="Archivo"/>
              </a:rPr>
              <a:t>— 9.66 dB on KMeans blocks and 9.78 dB on angular wedges.</a:t>
            </a:r>
          </a:p>
          <a:p>
            <a:pPr>
              <a:spcAft>
                <a:spcPts val="300"/>
              </a:spcAft>
            </a:pPr>
            <a:r>
              <a:rPr sz="1000" b="0">
                <a:solidFill>
                  <a:srgbClr val="65726B"/>
                </a:solidFill>
                <a:latin typeface="Archivo"/>
              </a:rPr>
              <a:t>— The shuffled control, if it consumes any per-location feature.</a:t>
            </a:r>
          </a:p>
        </p:txBody>
      </p:sp>
      <p:sp>
        <p:nvSpPr>
          <p:cNvPr id="19" name="Rectangle 18"/>
          <p:cNvSpPr/>
          <p:nvPr/>
        </p:nvSpPr>
        <p:spPr>
          <a:xfrm>
            <a:off x="8001000" y="1783080"/>
            <a:ext cx="3657600" cy="2468880"/>
          </a:xfrm>
          <a:prstGeom prst="rect">
            <a:avLst/>
          </a:prstGeom>
          <a:solidFill>
            <a:srgbClr val="FBFCFA"/>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783080"/>
            <a:ext cx="54864" cy="246888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2168" y="1911096"/>
            <a:ext cx="3291840" cy="256032"/>
          </a:xfrm>
          <a:prstGeom prst="rect">
            <a:avLst/>
          </a:prstGeom>
          <a:noFill/>
        </p:spPr>
        <p:txBody>
          <a:bodyPr wrap="square" anchor="t" lIns="0" rIns="0" tIns="0" bIns="0">
            <a:spAutoFit/>
          </a:bodyPr>
          <a:lstStyle/>
          <a:p>
            <a:pPr algn="l"/>
            <a:r>
              <a:rPr sz="1350" b="1">
                <a:solidFill>
                  <a:srgbClr val="65726B"/>
                </a:solidFill>
                <a:latin typeface="Archivo"/>
              </a:rPr>
              <a:t>How it plugs in</a:t>
            </a:r>
          </a:p>
        </p:txBody>
      </p:sp>
      <p:sp>
        <p:nvSpPr>
          <p:cNvPr id="22" name="TextBox 21"/>
          <p:cNvSpPr txBox="1"/>
          <p:nvPr/>
        </p:nvSpPr>
        <p:spPr>
          <a:xfrm>
            <a:off x="8202168" y="2167128"/>
            <a:ext cx="3291840" cy="182880"/>
          </a:xfrm>
          <a:prstGeom prst="rect">
            <a:avLst/>
          </a:prstGeom>
          <a:noFill/>
        </p:spPr>
        <p:txBody>
          <a:bodyPr wrap="square" anchor="t" lIns="0" rIns="0" tIns="0" bIns="0">
            <a:spAutoFit/>
          </a:bodyPr>
          <a:lstStyle/>
          <a:p>
            <a:pPr algn="l"/>
            <a:r>
              <a:rPr sz="850" b="1" spc="110">
                <a:solidFill>
                  <a:srgbClr val="A8B2A6"/>
                </a:solidFill>
                <a:latin typeface="Consolas"/>
              </a:rPr>
              <a:t>INTEGRATION</a:t>
            </a:r>
          </a:p>
        </p:txBody>
      </p:sp>
      <p:sp>
        <p:nvSpPr>
          <p:cNvPr id="23" name="TextBox 22"/>
          <p:cNvSpPr txBox="1"/>
          <p:nvPr/>
        </p:nvSpPr>
        <p:spPr>
          <a:xfrm>
            <a:off x="8202168" y="2423160"/>
            <a:ext cx="3255264" cy="1700784"/>
          </a:xfrm>
          <a:prstGeom prst="rect">
            <a:avLst/>
          </a:prstGeom>
          <a:noFill/>
        </p:spPr>
        <p:txBody>
          <a:bodyPr wrap="square" lIns="0" rIns="0" tIns="0" bIns="0">
            <a:spAutoFit/>
          </a:bodyPr>
          <a:lstStyle/>
          <a:p>
            <a:pPr>
              <a:spcAft>
                <a:spcPts val="300"/>
              </a:spcAft>
            </a:pPr>
            <a:r>
              <a:rPr sz="1000" b="0">
                <a:solidFill>
                  <a:srgbClr val="65726B"/>
                </a:solidFill>
                <a:latin typeface="Archivo"/>
              </a:rPr>
              <a:t>— Implement macro_rsrp and node_rsrp in an adapter.</a:t>
            </a:r>
          </a:p>
          <a:p>
            <a:pPr>
              <a:spcAft>
                <a:spcPts val="300"/>
              </a:spcAft>
            </a:pPr>
            <a:r>
              <a:rPr sz="1000" b="0">
                <a:solidFill>
                  <a:srgbClr val="65726B"/>
                </a:solidFill>
                <a:latin typeface="Archivo"/>
              </a:rPr>
              <a:t>— Return self from refit if nothing is fitted.</a:t>
            </a:r>
          </a:p>
          <a:p>
            <a:pPr>
              <a:spcAft>
                <a:spcPts val="300"/>
              </a:spcAft>
            </a:pPr>
            <a:r>
              <a:rPr sz="1000" b="0">
                <a:solidFill>
                  <a:srgbClr val="65726B"/>
                </a:solidFill>
                <a:latin typeface="Archivo"/>
              </a:rPr>
              <a:t>— common.bundle.build(...) emits the planner bundle.</a:t>
            </a:r>
          </a:p>
          <a:p>
            <a:pPr>
              <a:spcAft>
                <a:spcPts val="300"/>
              </a:spcAft>
            </a:pPr>
            <a:r>
              <a:rPr sz="1000" b="0">
                <a:solidFill>
                  <a:srgbClr val="65726B"/>
                </a:solidFill>
                <a:latin typeface="Archivo"/>
              </a:rPr>
              <a:t>— No existing code changes.</a:t>
            </a:r>
          </a:p>
        </p:txBody>
      </p:sp>
      <p:sp>
        <p:nvSpPr>
          <p:cNvPr id="24" name="Rectangle 23"/>
          <p:cNvSpPr/>
          <p:nvPr/>
        </p:nvSpPr>
        <p:spPr>
          <a:xfrm>
            <a:off x="502920" y="4526280"/>
            <a:ext cx="11155680" cy="137160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681728"/>
            <a:ext cx="10607040" cy="274320"/>
          </a:xfrm>
          <a:prstGeom prst="rect">
            <a:avLst/>
          </a:prstGeom>
          <a:noFill/>
        </p:spPr>
        <p:txBody>
          <a:bodyPr wrap="square" anchor="t" lIns="0" rIns="0" tIns="0" bIns="0">
            <a:spAutoFit/>
          </a:bodyPr>
          <a:lstStyle/>
          <a:p>
            <a:pPr algn="l"/>
            <a:r>
              <a:rPr sz="1250" b="1">
                <a:solidFill>
                  <a:srgbClr val="16211C"/>
                </a:solidFill>
                <a:latin typeface="Archivo"/>
              </a:rPr>
              <a:t>The honest caveat that applies to every simulator here</a:t>
            </a:r>
          </a:p>
        </p:txBody>
      </p:sp>
      <p:sp>
        <p:nvSpPr>
          <p:cNvPr id="26" name="TextBox 25"/>
          <p:cNvSpPr txBox="1"/>
          <p:nvPr/>
        </p:nvSpPr>
        <p:spPr>
          <a:xfrm>
            <a:off x="777240" y="5029200"/>
            <a:ext cx="10607040" cy="731520"/>
          </a:xfrm>
          <a:prstGeom prst="rect">
            <a:avLst/>
          </a:prstGeom>
          <a:noFill/>
        </p:spPr>
        <p:txBody>
          <a:bodyPr wrap="square" anchor="t" lIns="0" rIns="0" tIns="0" bIns="0">
            <a:spAutoFit/>
          </a:bodyPr>
          <a:lstStyle/>
          <a:p>
            <a:pPr algn="l"/>
            <a:r>
              <a:rPr sz="1200" b="0">
                <a:solidFill>
                  <a:srgbClr val="3A4842"/>
                </a:solidFill>
                <a:latin typeface="Archivo"/>
              </a:rPr>
              <a:t>Every split holds out measurements of the network that exists. Nothing tests whether a model predicts a transmitter that has never existed, because no such measurement exists. That is a limit of the data, not of the method — which is why the tool reports where models DISAGREE about siting rather than claiming which is right.</a:t>
            </a:r>
          </a:p>
        </p:txBody>
      </p:sp>
      <p:sp>
        <p:nvSpPr>
          <p:cNvPr id="27" name="TextBox 26"/>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common/README.md — the contract, with a worked adapter example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11</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EVALUATION</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One testbench, three splits, every model</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If two models are evaluated on different splits they are not being compared, however carefully each RMSE was computed.</a:t>
            </a:r>
          </a:p>
        </p:txBody>
      </p:sp>
      <p:graphicFrame>
        <p:nvGraphicFramePr>
          <p:cNvPr id="8" name="Table 7"/>
          <p:cNvGraphicFramePr>
            <a:graphicFrameLocks noGrp="1"/>
          </p:cNvGraphicFramePr>
          <p:nvPr/>
        </p:nvGraphicFramePr>
        <p:xfrm>
          <a:off x="502920" y="1737360"/>
          <a:ext cx="11155680" cy="1737360"/>
        </p:xfrm>
        <a:graphic>
          <a:graphicData uri="http://schemas.openxmlformats.org/drawingml/2006/table">
            <a:tbl>
              <a:tblPr firstRow="1" bandRow="1">
                <a:tableStyleId>{5C22544A-7EE6-4342-B048-85BDC9FD1C3A}</a:tableStyleId>
              </a:tblPr>
              <a:tblGrid>
                <a:gridCol w="2926080"/>
                <a:gridCol w="1554480"/>
                <a:gridCol w="1554480"/>
                <a:gridCol w="1554480"/>
                <a:gridCol w="1554480"/>
                <a:gridCol w="2011680"/>
              </a:tblGrid>
              <a:tr h="347472">
                <a:tc>
                  <a:txBody>
                    <a:bodyPr/>
                    <a:lstStyle/>
                    <a:p>
                      <a:r>
                        <a:rPr sz="1000" b="1">
                          <a:solidFill>
                            <a:srgbClr val="65726B"/>
                          </a:solidFill>
                          <a:latin typeface="Consolas"/>
                        </a:rPr>
                        <a:t>simulator</a:t>
                      </a:r>
                    </a:p>
                  </a:txBody>
                  <a:tcPr marL="54864" marR="54864" marT="27432" marB="27432">
                    <a:solidFill>
                      <a:srgbClr val="F1F4EF"/>
                    </a:solidFill>
                  </a:tcPr>
                </a:tc>
                <a:tc>
                  <a:txBody>
                    <a:bodyPr/>
                    <a:lstStyle/>
                    <a:p>
                      <a:pPr algn="r"/>
                      <a:r>
                        <a:rPr sz="1000" b="1">
                          <a:solidFill>
                            <a:srgbClr val="65726B"/>
                          </a:solidFill>
                          <a:latin typeface="Consolas"/>
                        </a:rPr>
                        <a:t>in sample</a:t>
                      </a:r>
                    </a:p>
                  </a:txBody>
                  <a:tcPr marL="54864" marR="54864" marT="27432" marB="27432">
                    <a:solidFill>
                      <a:srgbClr val="F1F4EF"/>
                    </a:solidFill>
                  </a:tcPr>
                </a:tc>
                <a:tc>
                  <a:txBody>
                    <a:bodyPr/>
                    <a:lstStyle/>
                    <a:p>
                      <a:pPr algn="r"/>
                      <a:r>
                        <a:rPr sz="1000" b="1">
                          <a:solidFill>
                            <a:srgbClr val="65726B"/>
                          </a:solidFill>
                          <a:latin typeface="Consolas"/>
                        </a:rPr>
                        <a:t>random</a:t>
                      </a:r>
                    </a:p>
                  </a:txBody>
                  <a:tcPr marL="54864" marR="54864" marT="27432" marB="27432">
                    <a:solidFill>
                      <a:srgbClr val="F1F4EF"/>
                    </a:solidFill>
                  </a:tcPr>
                </a:tc>
                <a:tc>
                  <a:txBody>
                    <a:bodyPr/>
                    <a:lstStyle/>
                    <a:p>
                      <a:pPr algn="r"/>
                      <a:r>
                        <a:rPr sz="1000" b="1">
                          <a:solidFill>
                            <a:srgbClr val="65726B"/>
                          </a:solidFill>
                          <a:latin typeface="Consolas"/>
                        </a:rPr>
                        <a:t>KMeans</a:t>
                      </a:r>
                    </a:p>
                  </a:txBody>
                  <a:tcPr marL="54864" marR="54864" marT="27432" marB="27432">
                    <a:solidFill>
                      <a:srgbClr val="F1F4EF"/>
                    </a:solidFill>
                  </a:tcPr>
                </a:tc>
                <a:tc>
                  <a:txBody>
                    <a:bodyPr/>
                    <a:lstStyle/>
                    <a:p>
                      <a:pPr algn="r"/>
                      <a:r>
                        <a:rPr sz="1000" b="1">
                          <a:solidFill>
                            <a:srgbClr val="65726B"/>
                          </a:solidFill>
                          <a:latin typeface="Consolas"/>
                        </a:rPr>
                        <a:t>wedges</a:t>
                      </a:r>
                    </a:p>
                  </a:txBody>
                  <a:tcPr marL="54864" marR="54864" marT="27432" marB="27432">
                    <a:solidFill>
                      <a:srgbClr val="F1F4EF"/>
                    </a:solidFill>
                  </a:tcPr>
                </a:tc>
                <a:tc>
                  <a:txBody>
                    <a:bodyPr/>
                    <a:lstStyle/>
                    <a:p>
                      <a:pPr algn="r"/>
                      <a:r>
                        <a:rPr sz="1000" b="1">
                          <a:solidFill>
                            <a:srgbClr val="65726B"/>
                          </a:solidFill>
                          <a:latin typeface="Consolas"/>
                        </a:rPr>
                        <a:t>fitted?</a:t>
                      </a:r>
                    </a:p>
                  </a:txBody>
                  <a:tcPr marL="54864" marR="54864" marT="27432" marB="27432">
                    <a:solidFill>
                      <a:srgbClr val="F1F4EF"/>
                    </a:solidFill>
                  </a:tcPr>
                </a:tc>
              </a:tr>
              <a:tr h="347472">
                <a:tc>
                  <a:txBody>
                    <a:bodyPr/>
                    <a:lstStyle/>
                    <a:p>
                      <a:r>
                        <a:rPr sz="1000" b="0">
                          <a:solidFill>
                            <a:srgbClr val="16211C"/>
                          </a:solidFill>
                          <a:latin typeface="Consolas"/>
                        </a:rPr>
                        <a:t>Fitted physics</a:t>
                      </a:r>
                    </a:p>
                  </a:txBody>
                  <a:tcPr marL="54864" marR="54864" marT="27432" marB="27432">
                    <a:solidFill>
                      <a:srgbClr val="FFFFFF"/>
                    </a:solidFill>
                  </a:tcPr>
                </a:tc>
                <a:tc>
                  <a:txBody>
                    <a:bodyPr/>
                    <a:lstStyle/>
                    <a:p>
                      <a:pPr algn="r"/>
                      <a:r>
                        <a:rPr sz="1000" b="0">
                          <a:solidFill>
                            <a:srgbClr val="16211C"/>
                          </a:solidFill>
                          <a:latin typeface="Consolas"/>
                        </a:rPr>
                        <a:t>7.35</a:t>
                      </a:r>
                    </a:p>
                  </a:txBody>
                  <a:tcPr marL="54864" marR="54864" marT="27432" marB="27432">
                    <a:solidFill>
                      <a:srgbClr val="FFFFFF"/>
                    </a:solidFill>
                  </a:tcPr>
                </a:tc>
                <a:tc>
                  <a:txBody>
                    <a:bodyPr/>
                    <a:lstStyle/>
                    <a:p>
                      <a:pPr algn="r"/>
                      <a:r>
                        <a:rPr sz="1000" b="0">
                          <a:solidFill>
                            <a:srgbClr val="16211C"/>
                          </a:solidFill>
                          <a:latin typeface="Consolas"/>
                        </a:rPr>
                        <a:t>7.33</a:t>
                      </a:r>
                    </a:p>
                  </a:txBody>
                  <a:tcPr marL="54864" marR="54864" marT="27432" marB="27432">
                    <a:solidFill>
                      <a:srgbClr val="FFFFFF"/>
                    </a:solidFill>
                  </a:tcPr>
                </a:tc>
                <a:tc>
                  <a:txBody>
                    <a:bodyPr/>
                    <a:lstStyle/>
                    <a:p>
                      <a:pPr algn="r"/>
                      <a:r>
                        <a:rPr sz="1000" b="0">
                          <a:solidFill>
                            <a:srgbClr val="16211C"/>
                          </a:solidFill>
                          <a:latin typeface="Consolas"/>
                        </a:rPr>
                        <a:t>9.59</a:t>
                      </a:r>
                    </a:p>
                  </a:txBody>
                  <a:tcPr marL="54864" marR="54864" marT="27432" marB="27432">
                    <a:solidFill>
                      <a:srgbClr val="FFFFFF"/>
                    </a:solidFill>
                  </a:tcPr>
                </a:tc>
                <a:tc>
                  <a:txBody>
                    <a:bodyPr/>
                    <a:lstStyle/>
                    <a:p>
                      <a:pPr algn="r"/>
                      <a:r>
                        <a:rPr sz="1000" b="0">
                          <a:solidFill>
                            <a:srgbClr val="16211C"/>
                          </a:solidFill>
                          <a:latin typeface="Consolas"/>
                        </a:rPr>
                        <a:t>9.81</a:t>
                      </a:r>
                    </a:p>
                  </a:txBody>
                  <a:tcPr marL="54864" marR="54864" marT="27432" marB="27432">
                    <a:solidFill>
                      <a:srgbClr val="FFFFFF"/>
                    </a:solidFill>
                  </a:tcPr>
                </a:tc>
                <a:tc>
                  <a:txBody>
                    <a:bodyPr/>
                    <a:lstStyle/>
                    <a:p>
                      <a:pPr algn="r"/>
                      <a:r>
                        <a:rPr sz="1000" b="0">
                          <a:solidFill>
                            <a:srgbClr val="16211C"/>
                          </a:solidFill>
                          <a:latin typeface="Consolas"/>
                        </a:rPr>
                        <a:t>yes</a:t>
                      </a:r>
                    </a:p>
                  </a:txBody>
                  <a:tcPr marL="54864" marR="54864" marT="27432" marB="27432">
                    <a:solidFill>
                      <a:srgbClr val="FFFFFF"/>
                    </a:solidFill>
                  </a:tcPr>
                </a:tc>
              </a:tr>
              <a:tr h="347472">
                <a:tc>
                  <a:txBody>
                    <a:bodyPr/>
                    <a:lstStyle/>
                    <a:p>
                      <a:r>
                        <a:rPr sz="1000" b="0">
                          <a:solidFill>
                            <a:srgbClr val="16211C"/>
                          </a:solidFill>
                          <a:latin typeface="Consolas"/>
                        </a:rPr>
                        <a:t>Sionna ray tracing (hybrid)</a:t>
                      </a:r>
                    </a:p>
                  </a:txBody>
                  <a:tcPr marL="54864" marR="54864" marT="27432" marB="27432">
                    <a:solidFill>
                      <a:srgbClr val="FFFFFF"/>
                    </a:solidFill>
                  </a:tcPr>
                </a:tc>
                <a:tc>
                  <a:txBody>
                    <a:bodyPr/>
                    <a:lstStyle/>
                    <a:p>
                      <a:pPr algn="r"/>
                      <a:r>
                        <a:rPr sz="1000" b="0">
                          <a:solidFill>
                            <a:srgbClr val="16211C"/>
                          </a:solidFill>
                          <a:latin typeface="Consolas"/>
                        </a:rPr>
                        <a:t>7.61</a:t>
                      </a:r>
                    </a:p>
                  </a:txBody>
                  <a:tcPr marL="54864" marR="54864" marT="27432" marB="27432">
                    <a:solidFill>
                      <a:srgbClr val="FFFFFF"/>
                    </a:solidFill>
                  </a:tcPr>
                </a:tc>
                <a:tc>
                  <a:txBody>
                    <a:bodyPr/>
                    <a:lstStyle/>
                    <a:p>
                      <a:pPr algn="r"/>
                      <a:r>
                        <a:rPr sz="1000" b="0">
                          <a:solidFill>
                            <a:srgbClr val="16211C"/>
                          </a:solidFill>
                          <a:latin typeface="Consolas"/>
                        </a:rPr>
                        <a:t>7.59</a:t>
                      </a:r>
                    </a:p>
                  </a:txBody>
                  <a:tcPr marL="54864" marR="54864" marT="27432" marB="27432">
                    <a:solidFill>
                      <a:srgbClr val="FFFFFF"/>
                    </a:solidFill>
                  </a:tcPr>
                </a:tc>
                <a:tc>
                  <a:txBody>
                    <a:bodyPr/>
                    <a:lstStyle/>
                    <a:p>
                      <a:pPr algn="r"/>
                      <a:r>
                        <a:rPr sz="1000" b="0">
                          <a:solidFill>
                            <a:srgbClr val="16211C"/>
                          </a:solidFill>
                          <a:latin typeface="Consolas"/>
                        </a:rPr>
                        <a:t>7.95</a:t>
                      </a:r>
                    </a:p>
                  </a:txBody>
                  <a:tcPr marL="54864" marR="54864" marT="27432" marB="27432">
                    <a:solidFill>
                      <a:srgbClr val="FFFFFF"/>
                    </a:solidFill>
                  </a:tcPr>
                </a:tc>
                <a:tc>
                  <a:txBody>
                    <a:bodyPr/>
                    <a:lstStyle/>
                    <a:p>
                      <a:pPr algn="r"/>
                      <a:r>
                        <a:rPr sz="1000" b="0">
                          <a:solidFill>
                            <a:srgbClr val="16211C"/>
                          </a:solidFill>
                          <a:latin typeface="Consolas"/>
                        </a:rPr>
                        <a:t>7.80</a:t>
                      </a:r>
                    </a:p>
                  </a:txBody>
                  <a:tcPr marL="54864" marR="54864" marT="27432" marB="27432">
                    <a:solidFill>
                      <a:srgbClr val="FFFFFF"/>
                    </a:solidFill>
                  </a:tcPr>
                </a:tc>
                <a:tc>
                  <a:txBody>
                    <a:bodyPr/>
                    <a:lstStyle/>
                    <a:p>
                      <a:pPr algn="r"/>
                      <a:r>
                        <a:rPr sz="1000" b="0">
                          <a:solidFill>
                            <a:srgbClr val="16211C"/>
                          </a:solidFill>
                          <a:latin typeface="Consolas"/>
                        </a:rPr>
                        <a:t>yes</a:t>
                      </a:r>
                    </a:p>
                  </a:txBody>
                  <a:tcPr marL="54864" marR="54864" marT="27432" marB="27432">
                    <a:solidFill>
                      <a:srgbClr val="FFFFFF"/>
                    </a:solidFill>
                  </a:tcPr>
                </a:tc>
              </a:tr>
              <a:tr h="347472">
                <a:tc>
                  <a:txBody>
                    <a:bodyPr/>
                    <a:lstStyle/>
                    <a:p>
                      <a:r>
                        <a:rPr sz="1000" b="0">
                          <a:solidFill>
                            <a:srgbClr val="16211C"/>
                          </a:solidFill>
                          <a:latin typeface="Consolas"/>
                        </a:rPr>
                        <a:t>Neural operator (FNO)</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not yet run</a:t>
                      </a:r>
                    </a:p>
                  </a:txBody>
                  <a:tcPr marL="54864" marR="54864" marT="27432" marB="27432">
                    <a:solidFill>
                      <a:srgbClr val="FFFFFF"/>
                    </a:solidFill>
                  </a:tcPr>
                </a:tc>
              </a:tr>
              <a:tr h="347472">
                <a:tc>
                  <a:txBody>
                    <a:bodyPr/>
                    <a:lstStyle/>
                    <a:p>
                      <a:r>
                        <a:rPr sz="1000" b="0">
                          <a:solidFill>
                            <a:srgbClr val="16211C"/>
                          </a:solidFill>
                          <a:latin typeface="Consolas"/>
                        </a:rPr>
                        <a:t>PINN</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reserved</a:t>
                      </a:r>
                    </a:p>
                  </a:txBody>
                  <a:tcPr marL="54864" marR="54864" marT="27432" marB="27432">
                    <a:solidFill>
                      <a:srgbClr val="FFFFFF"/>
                    </a:solidFill>
                  </a:tcPr>
                </a:tc>
              </a:tr>
            </a:tbl>
          </a:graphicData>
        </a:graphic>
      </p:graphicFrame>
      <p:sp>
        <p:nvSpPr>
          <p:cNvPr id="9" name="TextBox 8"/>
          <p:cNvSpPr txBox="1"/>
          <p:nvPr/>
        </p:nvSpPr>
        <p:spPr>
          <a:xfrm>
            <a:off x="502920" y="3566160"/>
            <a:ext cx="11155680" cy="457200"/>
          </a:xfrm>
          <a:prstGeom prst="rect">
            <a:avLst/>
          </a:prstGeom>
          <a:noFill/>
        </p:spPr>
        <p:txBody>
          <a:bodyPr wrap="square" anchor="t" lIns="0" rIns="0" tIns="0" bIns="0">
            <a:spAutoFit/>
          </a:bodyPr>
          <a:lstStyle/>
          <a:p>
            <a:pPr algn="l"/>
            <a:r>
              <a:rPr sz="950" b="0">
                <a:solidFill>
                  <a:srgbClr val="65726B"/>
                </a:solidFill>
                <a:latin typeface="Consolas"/>
              </a:rPr>
              <a:t>Dashes are work not yet done, not results withheld. Produced by one harness from reports/testbench.json — and python -m common.selftest reproduces the published reference to 0.02 dB, so a change to the bench is caught rather than absorbed into the numbers.</a:t>
            </a:r>
          </a:p>
        </p:txBody>
      </p:sp>
      <p:sp>
        <p:nvSpPr>
          <p:cNvPr id="10" name="Rectangle 9"/>
          <p:cNvSpPr/>
          <p:nvPr/>
        </p:nvSpPr>
        <p:spPr>
          <a:xfrm>
            <a:off x="502920" y="4160520"/>
            <a:ext cx="3566160" cy="169164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4160520"/>
            <a:ext cx="54864" cy="169164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315968"/>
            <a:ext cx="3200400" cy="237744"/>
          </a:xfrm>
          <a:prstGeom prst="rect">
            <a:avLst/>
          </a:prstGeom>
          <a:noFill/>
        </p:spPr>
        <p:txBody>
          <a:bodyPr wrap="square" anchor="t" lIns="0" rIns="0" tIns="0" bIns="0">
            <a:spAutoFit/>
          </a:bodyPr>
          <a:lstStyle/>
          <a:p>
            <a:pPr algn="l"/>
            <a:r>
              <a:rPr sz="1200" b="1">
                <a:solidFill>
                  <a:srgbClr val="8C1D40"/>
                </a:solidFill>
                <a:latin typeface="Archivo"/>
              </a:rPr>
              <a:t>random split</a:t>
            </a:r>
          </a:p>
        </p:txBody>
      </p:sp>
      <p:sp>
        <p:nvSpPr>
          <p:cNvPr id="13" name="TextBox 12"/>
          <p:cNvSpPr txBox="1"/>
          <p:nvPr/>
        </p:nvSpPr>
        <p:spPr>
          <a:xfrm>
            <a:off x="685800" y="4617720"/>
            <a:ext cx="3200400" cy="1097280"/>
          </a:xfrm>
          <a:prstGeom prst="rect">
            <a:avLst/>
          </a:prstGeom>
          <a:noFill/>
        </p:spPr>
        <p:txBody>
          <a:bodyPr wrap="square" anchor="t" lIns="0" rIns="0" tIns="0" bIns="0">
            <a:spAutoFit/>
          </a:bodyPr>
          <a:lstStyle/>
          <a:p>
            <a:pPr algn="l"/>
            <a:r>
              <a:rPr sz="1000" b="0">
                <a:solidFill>
                  <a:srgbClr val="3A4842"/>
                </a:solidFill>
                <a:latin typeface="Archivo"/>
              </a:rPr>
              <a:t>Report it, then discount it. Samples are 2.63 s apart — metres at driving speed — so the test set is very nearly the training set. Keep it as a contamination gauge.</a:t>
            </a:r>
          </a:p>
        </p:txBody>
      </p:sp>
      <p:sp>
        <p:nvSpPr>
          <p:cNvPr id="14" name="Rectangle 13"/>
          <p:cNvSpPr/>
          <p:nvPr/>
        </p:nvSpPr>
        <p:spPr>
          <a:xfrm>
            <a:off x="4297680" y="4160520"/>
            <a:ext cx="3566160" cy="169164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160520"/>
            <a:ext cx="54864" cy="169164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315968"/>
            <a:ext cx="3200400" cy="237744"/>
          </a:xfrm>
          <a:prstGeom prst="rect">
            <a:avLst/>
          </a:prstGeom>
          <a:noFill/>
        </p:spPr>
        <p:txBody>
          <a:bodyPr wrap="square" anchor="t" lIns="0" rIns="0" tIns="0" bIns="0">
            <a:spAutoFit/>
          </a:bodyPr>
          <a:lstStyle/>
          <a:p>
            <a:pPr algn="l"/>
            <a:r>
              <a:rPr sz="1200" b="1">
                <a:solidFill>
                  <a:srgbClr val="0F6E70"/>
                </a:solidFill>
                <a:latin typeface="Archivo"/>
              </a:rPr>
              <a:t>KMeans blocks</a:t>
            </a:r>
          </a:p>
        </p:txBody>
      </p:sp>
      <p:sp>
        <p:nvSpPr>
          <p:cNvPr id="17" name="TextBox 16"/>
          <p:cNvSpPr txBox="1"/>
          <p:nvPr/>
        </p:nvSpPr>
        <p:spPr>
          <a:xfrm>
            <a:off x="4480560" y="4617720"/>
            <a:ext cx="3200400" cy="1097280"/>
          </a:xfrm>
          <a:prstGeom prst="rect">
            <a:avLst/>
          </a:prstGeom>
          <a:noFill/>
        </p:spPr>
        <p:txBody>
          <a:bodyPr wrap="square" anchor="t" lIns="0" rIns="0" tIns="0" bIns="0">
            <a:spAutoFit/>
          </a:bodyPr>
          <a:lstStyle/>
          <a:p>
            <a:pPr algn="l"/>
            <a:r>
              <a:rPr sz="1000" b="0">
                <a:solidFill>
                  <a:srgbClr val="3A4842"/>
                </a:solidFill>
                <a:latin typeface="Archivo"/>
              </a:rPr>
              <a:t>Compact regions. One is the near-tower cluster, so holding it out deletes every sample under 2 km and forces the distance law to extrapolate inward. Harshest.</a:t>
            </a:r>
          </a:p>
        </p:txBody>
      </p:sp>
      <p:sp>
        <p:nvSpPr>
          <p:cNvPr id="18" name="Rectangle 17"/>
          <p:cNvSpPr/>
          <p:nvPr/>
        </p:nvSpPr>
        <p:spPr>
          <a:xfrm>
            <a:off x="8092440" y="4160520"/>
            <a:ext cx="3566160" cy="169164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4160520"/>
            <a:ext cx="54864" cy="1691640"/>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4315968"/>
            <a:ext cx="3200400" cy="237744"/>
          </a:xfrm>
          <a:prstGeom prst="rect">
            <a:avLst/>
          </a:prstGeom>
          <a:noFill/>
        </p:spPr>
        <p:txBody>
          <a:bodyPr wrap="square" anchor="t" lIns="0" rIns="0" tIns="0" bIns="0">
            <a:spAutoFit/>
          </a:bodyPr>
          <a:lstStyle/>
          <a:p>
            <a:pPr algn="l"/>
            <a:r>
              <a:rPr sz="1200" b="1">
                <a:solidFill>
                  <a:srgbClr val="8F6200"/>
                </a:solidFill>
                <a:latin typeface="Archivo"/>
              </a:rPr>
              <a:t>angular wedges</a:t>
            </a:r>
          </a:p>
        </p:txBody>
      </p:sp>
      <p:sp>
        <p:nvSpPr>
          <p:cNvPr id="21" name="TextBox 20"/>
          <p:cNvSpPr txBox="1"/>
          <p:nvPr/>
        </p:nvSpPr>
        <p:spPr>
          <a:xfrm>
            <a:off x="8275320" y="4617720"/>
            <a:ext cx="3200400" cy="1097280"/>
          </a:xfrm>
          <a:prstGeom prst="rect">
            <a:avLst/>
          </a:prstGeom>
          <a:noFill/>
        </p:spPr>
        <p:txBody>
          <a:bodyPr wrap="square" anchor="t" lIns="0" rIns="0" tIns="0" bIns="0">
            <a:spAutoFit/>
          </a:bodyPr>
          <a:lstStyle/>
          <a:p>
            <a:pPr algn="l"/>
            <a:r>
              <a:rPr sz="1000" b="0">
                <a:solidFill>
                  <a:srgbClr val="3A4842"/>
                </a:solidFill>
                <a:latin typeface="Archivo"/>
              </a:rPr>
              <a:t>Bearing sectors. Distance support survives; what is held out is a bearing, which tests the antenna term instead.</a:t>
            </a:r>
          </a:p>
        </p:txBody>
      </p:sp>
      <p:sp>
        <p:nvSpPr>
          <p:cNvPr id="22" name="TextBox 21"/>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common/BACKTEST.md   ·   200 m training buffer, seed 42, 5 blocks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12</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TOOL · 1 OF 2</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A planner that re-solves for whatever you ask it</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One self-contained HTML file. No server, no install, no network — open it by double-clicking.</a:t>
            </a:r>
          </a:p>
        </p:txBody>
      </p:sp>
      <p:sp>
        <p:nvSpPr>
          <p:cNvPr id="8" name="Rectangle 7"/>
          <p:cNvSpPr/>
          <p:nvPr/>
        </p:nvSpPr>
        <p:spPr>
          <a:xfrm>
            <a:off x="502920"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SIMULATORS</a:t>
            </a:r>
          </a:p>
        </p:txBody>
      </p:sp>
      <p:sp>
        <p:nvSpPr>
          <p:cNvPr id="10" name="TextBox 9"/>
          <p:cNvSpPr txBox="1"/>
          <p:nvPr/>
        </p:nvSpPr>
        <p:spPr>
          <a:xfrm>
            <a:off x="630936"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1</a:t>
            </a:r>
          </a:p>
        </p:txBody>
      </p:sp>
      <p:sp>
        <p:nvSpPr>
          <p:cNvPr id="11" name="TextBox 10"/>
          <p:cNvSpPr txBox="1"/>
          <p:nvPr/>
        </p:nvSpPr>
        <p:spPr>
          <a:xfrm>
            <a:off x="630936"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one dropdown entry each</a:t>
            </a:r>
          </a:p>
        </p:txBody>
      </p:sp>
      <p:sp>
        <p:nvSpPr>
          <p:cNvPr id="12" name="Rectangle 11"/>
          <p:cNvSpPr/>
          <p:nvPr/>
        </p:nvSpPr>
        <p:spPr>
          <a:xfrm>
            <a:off x="3319272"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SERVICE CRITERIA</a:t>
            </a:r>
          </a:p>
        </p:txBody>
      </p:sp>
      <p:sp>
        <p:nvSpPr>
          <p:cNvPr id="14" name="TextBox 13"/>
          <p:cNvSpPr txBox="1"/>
          <p:nvPr/>
        </p:nvSpPr>
        <p:spPr>
          <a:xfrm>
            <a:off x="3447288"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8</a:t>
            </a:r>
          </a:p>
        </p:txBody>
      </p:sp>
      <p:sp>
        <p:nvSpPr>
          <p:cNvPr id="15" name="TextBox 14"/>
          <p:cNvSpPr txBox="1"/>
          <p:nvPr/>
        </p:nvSpPr>
        <p:spPr>
          <a:xfrm>
            <a:off x="3447288"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availability → throughput</a:t>
            </a:r>
          </a:p>
        </p:txBody>
      </p:sp>
      <p:sp>
        <p:nvSpPr>
          <p:cNvPr id="16" name="Rectangle 15"/>
          <p:cNvSpPr/>
          <p:nvPr/>
        </p:nvSpPr>
        <p:spPr>
          <a:xfrm>
            <a:off x="6135624"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DEMAND CELLS</a:t>
            </a:r>
          </a:p>
        </p:txBody>
      </p:sp>
      <p:sp>
        <p:nvSpPr>
          <p:cNvPr id="18" name="TextBox 17"/>
          <p:cNvSpPr txBox="1"/>
          <p:nvPr/>
        </p:nvSpPr>
        <p:spPr>
          <a:xfrm>
            <a:off x="6263640"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4,731</a:t>
            </a:r>
          </a:p>
        </p:txBody>
      </p:sp>
      <p:sp>
        <p:nvSpPr>
          <p:cNvPr id="19" name="TextBox 18"/>
          <p:cNvSpPr txBox="1"/>
          <p:nvPr/>
        </p:nvSpPr>
        <p:spPr>
          <a:xfrm>
            <a:off x="6263640"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200 m, route-km de-duplicated</a:t>
            </a:r>
          </a:p>
        </p:txBody>
      </p:sp>
      <p:sp>
        <p:nvSpPr>
          <p:cNvPr id="20" name="Rectangle 19"/>
          <p:cNvSpPr/>
          <p:nvPr/>
        </p:nvSpPr>
        <p:spPr>
          <a:xfrm>
            <a:off x="8951976"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CANDIDATE SITES</a:t>
            </a:r>
          </a:p>
        </p:txBody>
      </p:sp>
      <p:sp>
        <p:nvSpPr>
          <p:cNvPr id="22" name="TextBox 21"/>
          <p:cNvSpPr txBox="1"/>
          <p:nvPr/>
        </p:nvSpPr>
        <p:spPr>
          <a:xfrm>
            <a:off x="9079992"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627</a:t>
            </a:r>
          </a:p>
        </p:txBody>
      </p:sp>
      <p:sp>
        <p:nvSpPr>
          <p:cNvPr id="23" name="TextBox 22"/>
          <p:cNvSpPr txBox="1"/>
          <p:nvPr/>
        </p:nvSpPr>
        <p:spPr>
          <a:xfrm>
            <a:off x="9079992"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on-route and off-route lattice</a:t>
            </a:r>
          </a:p>
        </p:txBody>
      </p:sp>
      <p:sp>
        <p:nvSpPr>
          <p:cNvPr id="24" name="TextBox 23"/>
          <p:cNvSpPr txBox="1"/>
          <p:nvPr/>
        </p:nvSpPr>
        <p:spPr>
          <a:xfrm>
            <a:off x="502920" y="2971800"/>
            <a:ext cx="5577840" cy="2743200"/>
          </a:xfrm>
          <a:prstGeom prst="rect">
            <a:avLst/>
          </a:prstGeom>
          <a:noFill/>
        </p:spPr>
        <p:txBody>
          <a:bodyPr wrap="square" lIns="0" rIns="0" tIns="0" bIns="0">
            <a:spAutoFit/>
          </a:bodyPr>
          <a:lstStyle/>
          <a:p>
            <a:pPr>
              <a:spcAft>
                <a:spcPts val="600"/>
              </a:spcAft>
            </a:pPr>
            <a:r>
              <a:rPr sz="1100" b="1">
                <a:solidFill>
                  <a:srgbClr val="16211C"/>
                </a:solidFill>
                <a:latin typeface="Archivo"/>
              </a:rPr>
              <a:t>— It recomputes; it does not replay.</a:t>
            </a:r>
          </a:p>
          <a:p>
            <a:pPr>
              <a:spcAft>
                <a:spcPts val="600"/>
              </a:spcAft>
            </a:pPr>
            <a:r>
              <a:rPr sz="1100" b="0">
                <a:solidFill>
                  <a:srgbClr val="3A4842"/>
                </a:solidFill>
                <a:latin typeface="Archivo"/>
              </a:rPr>
              <a:t>— The page carries the terrain grid at 31 m posts and runs the whole chain in JavaScript — path profile, earth bulge, Fresnel radius, P.526 loss, RSRP, criterion, threshold.</a:t>
            </a:r>
          </a:p>
          <a:p>
            <a:pPr>
              <a:spcAft>
                <a:spcPts val="600"/>
              </a:spcAft>
            </a:pPr>
            <a:r>
              <a:rPr sz="1100" b="1">
                <a:solidFill>
                  <a:srgbClr val="16211C"/>
                </a:solidFill>
                <a:latin typeface="Archivo"/>
              </a:rPr>
              <a:t>— Agreement with the offline model: mean −0.07 dB, RMS 1.34 dB, correlation 0.994, zero service disagreements over 300 cells.</a:t>
            </a:r>
          </a:p>
          <a:p>
            <a:pPr>
              <a:spcAft>
                <a:spcPts val="600"/>
              </a:spcAft>
            </a:pPr>
            <a:r>
              <a:rPr sz="1100" b="0">
                <a:solidFill>
                  <a:srgbClr val="3A4842"/>
                </a:solidFill>
                <a:latin typeface="Archivo"/>
              </a:rPr>
              <a:t>— The residual is the 31 m versus 10 m DEM stride, and nothing else.</a:t>
            </a:r>
          </a:p>
        </p:txBody>
      </p:sp>
      <p:sp>
        <p:nvSpPr>
          <p:cNvPr id="25" name="Rectangle 24"/>
          <p:cNvSpPr/>
          <p:nvPr/>
        </p:nvSpPr>
        <p:spPr>
          <a:xfrm>
            <a:off x="6400800" y="2971800"/>
            <a:ext cx="5257800" cy="2743200"/>
          </a:xfrm>
          <a:prstGeom prst="rect">
            <a:avLst/>
          </a:prstGeom>
          <a:solidFill>
            <a:srgbClr val="F1F4EF"/>
          </a:solidFill>
          <a:ln w="19050">
            <a:solidFill>
              <a:srgbClr val="8C1D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0" y="2971800"/>
            <a:ext cx="54864" cy="274320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3127248"/>
            <a:ext cx="4754880" cy="457200"/>
          </a:xfrm>
          <a:prstGeom prst="rect">
            <a:avLst/>
          </a:prstGeom>
          <a:noFill/>
        </p:spPr>
        <p:txBody>
          <a:bodyPr wrap="square" anchor="t" lIns="0" rIns="0" tIns="0" bIns="0">
            <a:spAutoFit/>
          </a:bodyPr>
          <a:lstStyle/>
          <a:p>
            <a:pPr algn="l"/>
            <a:r>
              <a:rPr sz="1250" b="1">
                <a:solidFill>
                  <a:srgbClr val="8C1D40"/>
                </a:solidFill>
                <a:latin typeface="Archivo"/>
              </a:rPr>
              <a:t>Why the formula family is part of the file format</a:t>
            </a:r>
          </a:p>
        </p:txBody>
      </p:sp>
      <p:sp>
        <p:nvSpPr>
          <p:cNvPr id="28" name="TextBox 27"/>
          <p:cNvSpPr txBox="1"/>
          <p:nvPr/>
        </p:nvSpPr>
        <p:spPr>
          <a:xfrm>
            <a:off x="6675120" y="3611880"/>
            <a:ext cx="4754880" cy="1920240"/>
          </a:xfrm>
          <a:prstGeom prst="rect">
            <a:avLst/>
          </a:prstGeom>
          <a:noFill/>
        </p:spPr>
        <p:txBody>
          <a:bodyPr wrap="square" anchor="t" lIns="0" rIns="0" tIns="0" bIns="0">
            <a:spAutoFit/>
          </a:bodyPr>
          <a:lstStyle/>
          <a:p>
            <a:pPr algn="l"/>
            <a:r>
              <a:rPr sz="1100" b="0">
                <a:solidFill>
                  <a:srgbClr val="3A4842"/>
                </a:solidFill>
                <a:latin typeface="Archivo"/>
              </a:rPr>
              <a:t>The previous planner carried its model's constants in a hand-copied dictionary. When the model gained a dual slope, a Fresnel term and two orthogonalisation offsets, the copy was not updated and nothing complained. It was optimistic by a mean of 5.95 dB, RMS 8.37 dB — larger than the model's own residual σ — while claiming to track the optimiser to 1%.
A bundle now declares its formula family, and the builder refuses one that cannot drive it.</a:t>
            </a:r>
          </a:p>
        </p:txBody>
      </p:sp>
      <p:sp>
        <p:nvSpPr>
          <p:cNvPr id="29" name="TextBox 28"/>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common/PLANNER.md   ·   planner.html at the repository root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13</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TOOL · 2 OF 2</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Every axis that moves the answer is a control</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number that swings on a choice nobody wrote down is a hidden assumption, not a result.</a:t>
            </a:r>
          </a:p>
        </p:txBody>
      </p:sp>
      <p:sp>
        <p:nvSpPr>
          <p:cNvPr id="8" name="Rectangle 7"/>
          <p:cNvSpPr/>
          <p:nvPr/>
        </p:nvSpPr>
        <p:spPr>
          <a:xfrm>
            <a:off x="502920"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691640"/>
            <a:ext cx="54864" cy="86868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Simulator</a:t>
            </a:r>
          </a:p>
        </p:txBody>
      </p:sp>
      <p:sp>
        <p:nvSpPr>
          <p:cNvPr id="11" name="TextBox 10"/>
          <p:cNvSpPr txBox="1"/>
          <p:nvPr/>
        </p:nvSpPr>
        <p:spPr>
          <a:xfrm>
            <a:off x="685800"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which physics drives everything</a:t>
            </a:r>
          </a:p>
        </p:txBody>
      </p:sp>
      <p:sp>
        <p:nvSpPr>
          <p:cNvPr id="12" name="Rectangle 11"/>
          <p:cNvSpPr/>
          <p:nvPr/>
        </p:nvSpPr>
        <p:spPr>
          <a:xfrm>
            <a:off x="3319272"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9272" y="1691640"/>
            <a:ext cx="54864" cy="868680"/>
          </a:xfrm>
          <a:prstGeom prst="rect">
            <a:avLst/>
          </a:prstGeom>
          <a:solidFill>
            <a:srgbClr val="5B3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Criterion</a:t>
            </a:r>
          </a:p>
        </p:txBody>
      </p:sp>
      <p:sp>
        <p:nvSpPr>
          <p:cNvPr id="15" name="TextBox 14"/>
          <p:cNvSpPr txBox="1"/>
          <p:nvPr/>
        </p:nvSpPr>
        <p:spPr>
          <a:xfrm>
            <a:off x="3502152"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availability · RSRP · SINR · RSRQ · throughput p50/p10</a:t>
            </a:r>
          </a:p>
        </p:txBody>
      </p:sp>
      <p:sp>
        <p:nvSpPr>
          <p:cNvPr id="16" name="Rectangle 15"/>
          <p:cNvSpPr/>
          <p:nvPr/>
        </p:nvSpPr>
        <p:spPr>
          <a:xfrm>
            <a:off x="6135624"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35624" y="1691640"/>
            <a:ext cx="54864" cy="868680"/>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8504"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Target</a:t>
            </a:r>
          </a:p>
        </p:txBody>
      </p:sp>
      <p:sp>
        <p:nvSpPr>
          <p:cNvPr id="19" name="TextBox 18"/>
          <p:cNvSpPr txBox="1"/>
          <p:nvPr/>
        </p:nvSpPr>
        <p:spPr>
          <a:xfrm>
            <a:off x="6318504"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the threshold on that criterion</a:t>
            </a:r>
          </a:p>
        </p:txBody>
      </p:sp>
      <p:sp>
        <p:nvSpPr>
          <p:cNvPr id="20" name="Rectangle 19"/>
          <p:cNvSpPr/>
          <p:nvPr/>
        </p:nvSpPr>
        <p:spPr>
          <a:xfrm>
            <a:off x="8951976"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51976" y="1691640"/>
            <a:ext cx="54864" cy="86868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34856"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Route vs area</a:t>
            </a:r>
          </a:p>
        </p:txBody>
      </p:sp>
      <p:sp>
        <p:nvSpPr>
          <p:cNvPr id="23" name="TextBox 22"/>
          <p:cNvSpPr txBox="1"/>
          <p:nvPr/>
        </p:nvSpPr>
        <p:spPr>
          <a:xfrm>
            <a:off x="9134856"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what the coverage score is worth</a:t>
            </a:r>
          </a:p>
        </p:txBody>
      </p:sp>
      <p:sp>
        <p:nvSpPr>
          <p:cNvPr id="24" name="TextBox 23"/>
          <p:cNvSpPr txBox="1"/>
          <p:nvPr/>
        </p:nvSpPr>
        <p:spPr>
          <a:xfrm>
            <a:off x="502920" y="2834640"/>
            <a:ext cx="5577840" cy="2926080"/>
          </a:xfrm>
          <a:prstGeom prst="rect">
            <a:avLst/>
          </a:prstGeom>
          <a:noFill/>
        </p:spPr>
        <p:txBody>
          <a:bodyPr wrap="square" lIns="0" rIns="0" tIns="0" bIns="0">
            <a:spAutoFit/>
          </a:bodyPr>
          <a:lstStyle/>
          <a:p>
            <a:pPr>
              <a:spcAft>
                <a:spcPts val="600"/>
              </a:spcAft>
            </a:pPr>
            <a:r>
              <a:rPr sz="1100" b="1">
                <a:solidFill>
                  <a:srgbClr val="16211C"/>
                </a:solidFill>
                <a:latin typeface="Archivo"/>
              </a:rPr>
              <a:t>— Three sweep buttons answer the question directly.</a:t>
            </a:r>
          </a:p>
          <a:p>
            <a:pPr>
              <a:spcAft>
                <a:spcPts val="600"/>
              </a:spcAft>
            </a:pPr>
            <a:r>
              <a:rPr sz="1100" b="0">
                <a:solidFill>
                  <a:srgbClr val="3A4842"/>
                </a:solidFill>
                <a:latin typeface="Archivo"/>
              </a:rPr>
              <a:t>— Sweep every criterion — the best site under each service definition, and how far each sits from the first.</a:t>
            </a:r>
          </a:p>
          <a:p>
            <a:pPr>
              <a:spcAft>
                <a:spcPts val="600"/>
              </a:spcAft>
            </a:pPr>
            <a:r>
              <a:rPr sz="1100" b="0">
                <a:solidFill>
                  <a:srgbClr val="3A4842"/>
                </a:solidFill>
                <a:latin typeface="Archivo"/>
              </a:rPr>
              <a:t>— Sweep the route/area weight, from pure area to pure route.</a:t>
            </a:r>
          </a:p>
          <a:p>
            <a:pPr>
              <a:spcAft>
                <a:spcPts val="600"/>
              </a:spcAft>
            </a:pPr>
            <a:r>
              <a:rPr sz="1100" b="0">
                <a:solidFill>
                  <a:srgbClr val="3A4842"/>
                </a:solidFill>
                <a:latin typeface="Archivo"/>
              </a:rPr>
              <a:t>— Compare every simulator, on the same demand and objective.</a:t>
            </a:r>
          </a:p>
          <a:p>
            <a:pPr>
              <a:spcAft>
                <a:spcPts val="600"/>
              </a:spcAft>
            </a:pPr>
            <a:r>
              <a:rPr sz="1100" b="1">
                <a:solidFill>
                  <a:srgbClr val="16211C"/>
                </a:solidFill>
                <a:latin typeface="Archivo"/>
              </a:rPr>
              <a:t>— The measured stakes: route demand meeting 10 Mbps is 94.8% at p90 and 9.1% at p10, and the recommended site moves up to 2.6 km and reverses direction.</a:t>
            </a:r>
          </a:p>
        </p:txBody>
      </p:sp>
      <p:sp>
        <p:nvSpPr>
          <p:cNvPr id="25" name="TextBox 24"/>
          <p:cNvSpPr txBox="1"/>
          <p:nvPr/>
        </p:nvSpPr>
        <p:spPr>
          <a:xfrm>
            <a:off x="6400800" y="2834640"/>
            <a:ext cx="5257800" cy="2926080"/>
          </a:xfrm>
          <a:prstGeom prst="rect">
            <a:avLst/>
          </a:prstGeom>
          <a:noFill/>
        </p:spPr>
        <p:txBody>
          <a:bodyPr wrap="square" lIns="0" rIns="0" tIns="0" bIns="0">
            <a:spAutoFit/>
          </a:bodyPr>
          <a:lstStyle/>
          <a:p>
            <a:pPr>
              <a:spcAft>
                <a:spcPts val="600"/>
              </a:spcAft>
            </a:pPr>
            <a:r>
              <a:rPr sz="1100" b="1">
                <a:solidFill>
                  <a:srgbClr val="16211C"/>
                </a:solidFill>
                <a:latin typeface="Archivo"/>
              </a:rPr>
              <a:t>— The map reads as a field, not a traffic light.</a:t>
            </a:r>
          </a:p>
          <a:p>
            <a:pPr>
              <a:spcAft>
                <a:spcPts val="600"/>
              </a:spcAft>
            </a:pPr>
            <a:r>
              <a:rPr sz="1100" b="0">
                <a:solidFill>
                  <a:srgbClr val="3A4842"/>
                </a:solidFill>
                <a:latin typeface="Archivo"/>
              </a:rPr>
              <a:t>— Continuous heatmap of the selected criterion over shaded relief built from the terrain grid — the only basemap available offline, and the right one here because the holes are terrain.</a:t>
            </a:r>
          </a:p>
          <a:p>
            <a:pPr>
              <a:spcAft>
                <a:spcPts val="600"/>
              </a:spcAft>
            </a:pPr>
            <a:r>
              <a:rPr sz="1100" b="0">
                <a:solidFill>
                  <a:srgbClr val="3A4842"/>
                </a:solidFill>
                <a:latin typeface="Archivo"/>
              </a:rPr>
              <a:t>— Coverage and Gain views for before/after questions.</a:t>
            </a:r>
          </a:p>
          <a:p>
            <a:pPr>
              <a:spcAft>
                <a:spcPts val="600"/>
              </a:spcAft>
            </a:pPr>
            <a:r>
              <a:rPr sz="1100" b="0">
                <a:solidFill>
                  <a:srgbClr val="3A4842"/>
                </a:solidFill>
                <a:latin typeface="Archivo"/>
              </a:rPr>
              <a:t>— Scale bar names the 200 m cell size; hover gives the cell's value, RSRP, gain and route-km.</a:t>
            </a:r>
          </a:p>
          <a:p>
            <a:pPr>
              <a:spcAft>
                <a:spcPts val="600"/>
              </a:spcAft>
            </a:pPr>
            <a:r>
              <a:rPr sz="1100" b="1">
                <a:solidFill>
                  <a:srgbClr val="16211C"/>
                </a:solidFill>
                <a:latin typeface="Archivo"/>
              </a:rPr>
              <a:t>— Flat criteria are labelled as findings: uplink p10 is 0 Mbps across the whole box, because a reliability target collapses when the link is down often enough.</a:t>
            </a:r>
          </a:p>
        </p:txBody>
      </p:sp>
      <p:sp>
        <p:nvSpPr>
          <p:cNvPr id="26" name="TextBox 25"/>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python -m common.build_planner bundles/*.json --dem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548640" cy="274320"/>
          </a:xfrm>
          <a:prstGeom prst="rect">
            <a:avLst/>
          </a:prstGeom>
          <a:noFill/>
        </p:spPr>
        <p:txBody>
          <a:bodyPr wrap="square" anchor="t" lIns="0" rIns="0" tIns="0" bIns="0">
            <a:spAutoFit/>
          </a:bodyPr>
          <a:lstStyle/>
          <a:p>
            <a:pPr algn="l"/>
            <a:r>
              <a:rPr sz="1200" b="1">
                <a:solidFill>
                  <a:srgbClr val="0F6E70"/>
                </a:solidFill>
                <a:latin typeface="Consolas"/>
              </a:rPr>
              <a:t>14</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RECOMMENDATION</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to build, and how far to trust it</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ratio is a finding. An absolute percentage is indicative. The difference is stated rather than left to the reader.</a:t>
            </a:r>
          </a:p>
        </p:txBody>
      </p:sp>
      <p:sp>
        <p:nvSpPr>
          <p:cNvPr id="8" name="Rectangle 7"/>
          <p:cNvSpPr/>
          <p:nvPr/>
        </p:nvSpPr>
        <p:spPr>
          <a:xfrm>
            <a:off x="502920"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RECOMMENDED SITE</a:t>
            </a:r>
          </a:p>
        </p:txBody>
      </p:sp>
      <p:sp>
        <p:nvSpPr>
          <p:cNvPr id="10" name="TextBox 9"/>
          <p:cNvSpPr txBox="1"/>
          <p:nvPr/>
        </p:nvSpPr>
        <p:spPr>
          <a:xfrm>
            <a:off x="630936" y="1993392"/>
            <a:ext cx="2350008" cy="384048"/>
          </a:xfrm>
          <a:prstGeom prst="rect">
            <a:avLst/>
          </a:prstGeom>
          <a:noFill/>
        </p:spPr>
        <p:txBody>
          <a:bodyPr wrap="square" anchor="t" lIns="0" rIns="0" tIns="0" bIns="0">
            <a:spAutoFit/>
          </a:bodyPr>
          <a:lstStyle/>
          <a:p>
            <a:pPr algn="l"/>
            <a:r>
              <a:rPr sz="2500" b="1">
                <a:solidFill>
                  <a:srgbClr val="0F6E70"/>
                </a:solidFill>
                <a:latin typeface="Archivo"/>
              </a:rPr>
              <a:t>41.97955, -93.83471</a:t>
            </a:r>
          </a:p>
        </p:txBody>
      </p:sp>
      <p:sp>
        <p:nvSpPr>
          <p:cNvPr id="11" name="TextBox 10"/>
          <p:cNvSpPr txBox="1"/>
          <p:nvPr/>
        </p:nvSpPr>
        <p:spPr>
          <a:xfrm>
            <a:off x="630936"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37 m mast, on the road network</a:t>
            </a:r>
          </a:p>
        </p:txBody>
      </p:sp>
      <p:sp>
        <p:nvSpPr>
          <p:cNvPr id="12" name="Rectangle 11"/>
          <p:cNvSpPr/>
          <p:nvPr/>
        </p:nvSpPr>
        <p:spPr>
          <a:xfrm>
            <a:off x="3319272"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ROUTE-KM COVERED</a:t>
            </a:r>
          </a:p>
        </p:txBody>
      </p:sp>
      <p:sp>
        <p:nvSpPr>
          <p:cNvPr id="14" name="TextBox 13"/>
          <p:cNvSpPr txBox="1"/>
          <p:nvPr/>
        </p:nvSpPr>
        <p:spPr>
          <a:xfrm>
            <a:off x="3447288" y="1993392"/>
            <a:ext cx="2350008" cy="384048"/>
          </a:xfrm>
          <a:prstGeom prst="rect">
            <a:avLst/>
          </a:prstGeom>
          <a:noFill/>
        </p:spPr>
        <p:txBody>
          <a:bodyPr wrap="square" anchor="t" lIns="0" rIns="0" tIns="0" bIns="0">
            <a:spAutoFit/>
          </a:bodyPr>
          <a:lstStyle/>
          <a:p>
            <a:pPr algn="l"/>
            <a:r>
              <a:rPr sz="2500" b="1">
                <a:solidFill>
                  <a:srgbClr val="0F6E70"/>
                </a:solidFill>
                <a:latin typeface="Archivo"/>
              </a:rPr>
              <a:t>44% → 69%</a:t>
            </a:r>
          </a:p>
        </p:txBody>
      </p:sp>
      <p:sp>
        <p:nvSpPr>
          <p:cNvPr id="15" name="TextBox 14"/>
          <p:cNvSpPr txBox="1"/>
          <p:nvPr/>
        </p:nvSpPr>
        <p:spPr>
          <a:xfrm>
            <a:off x="3447288"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at availability ≥ 50%</a:t>
            </a:r>
          </a:p>
        </p:txBody>
      </p:sp>
      <p:sp>
        <p:nvSpPr>
          <p:cNvPr id="16" name="Rectangle 15"/>
          <p:cNvSpPr/>
          <p:nvPr/>
        </p:nvSpPr>
        <p:spPr>
          <a:xfrm>
            <a:off x="6135624"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SITE CONFIDENCE</a:t>
            </a:r>
          </a:p>
        </p:txBody>
      </p:sp>
      <p:sp>
        <p:nvSpPr>
          <p:cNvPr id="18" name="TextBox 17"/>
          <p:cNvSpPr txBox="1"/>
          <p:nvPr/>
        </p:nvSpPr>
        <p:spPr>
          <a:xfrm>
            <a:off x="6263640" y="1993392"/>
            <a:ext cx="2350008" cy="384048"/>
          </a:xfrm>
          <a:prstGeom prst="rect">
            <a:avLst/>
          </a:prstGeom>
          <a:noFill/>
        </p:spPr>
        <p:txBody>
          <a:bodyPr wrap="square" anchor="t" lIns="0" rIns="0" tIns="0" bIns="0">
            <a:spAutoFit/>
          </a:bodyPr>
          <a:lstStyle/>
          <a:p>
            <a:pPr algn="l"/>
            <a:r>
              <a:rPr sz="2500" b="1">
                <a:solidFill>
                  <a:srgbClr val="8F6200"/>
                </a:solidFill>
                <a:latin typeface="Archivo"/>
              </a:rPr>
              <a:t>97%</a:t>
            </a:r>
          </a:p>
        </p:txBody>
      </p:sp>
      <p:sp>
        <p:nvSpPr>
          <p:cNvPr id="19" name="TextBox 18"/>
          <p:cNvSpPr txBox="1"/>
          <p:nvPr/>
        </p:nvSpPr>
        <p:spPr>
          <a:xfrm>
            <a:off x="6263640"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of fading draws within 2 km</a:t>
            </a:r>
          </a:p>
        </p:txBody>
      </p:sp>
      <p:sp>
        <p:nvSpPr>
          <p:cNvPr id="20" name="Rectangle 19"/>
          <p:cNvSpPr/>
          <p:nvPr/>
        </p:nvSpPr>
        <p:spPr>
          <a:xfrm>
            <a:off x="8951976"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EXACT POLE</a:t>
            </a:r>
          </a:p>
        </p:txBody>
      </p:sp>
      <p:sp>
        <p:nvSpPr>
          <p:cNvPr id="22" name="TextBox 21"/>
          <p:cNvSpPr txBox="1"/>
          <p:nvPr/>
        </p:nvSpPr>
        <p:spPr>
          <a:xfrm>
            <a:off x="9079992" y="1993392"/>
            <a:ext cx="2350008" cy="384048"/>
          </a:xfrm>
          <a:prstGeom prst="rect">
            <a:avLst/>
          </a:prstGeom>
          <a:noFill/>
        </p:spPr>
        <p:txBody>
          <a:bodyPr wrap="square" anchor="t" lIns="0" rIns="0" tIns="0" bIns="0">
            <a:spAutoFit/>
          </a:bodyPr>
          <a:lstStyle/>
          <a:p>
            <a:pPr algn="l"/>
            <a:r>
              <a:rPr sz="2500" b="1">
                <a:solidFill>
                  <a:srgbClr val="8C1D40"/>
                </a:solidFill>
                <a:latin typeface="Archivo"/>
              </a:rPr>
              <a:t>12%</a:t>
            </a:r>
          </a:p>
        </p:txBody>
      </p:sp>
      <p:sp>
        <p:nvSpPr>
          <p:cNvPr id="23" name="TextBox 22"/>
          <p:cNvSpPr txBox="1"/>
          <p:nvPr/>
        </p:nvSpPr>
        <p:spPr>
          <a:xfrm>
            <a:off x="9079992"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we know the right 2 km, not the pole</a:t>
            </a:r>
          </a:p>
        </p:txBody>
      </p:sp>
      <p:sp>
        <p:nvSpPr>
          <p:cNvPr id="24" name="TextBox 23"/>
          <p:cNvSpPr txBox="1"/>
          <p:nvPr/>
        </p:nvSpPr>
        <p:spPr>
          <a:xfrm>
            <a:off x="502920" y="2971800"/>
            <a:ext cx="5577840" cy="274320"/>
          </a:xfrm>
          <a:prstGeom prst="rect">
            <a:avLst/>
          </a:prstGeom>
          <a:noFill/>
        </p:spPr>
        <p:txBody>
          <a:bodyPr wrap="square" anchor="t" lIns="0" rIns="0" tIns="0" bIns="0">
            <a:spAutoFit/>
          </a:bodyPr>
          <a:lstStyle/>
          <a:p>
            <a:pPr algn="l"/>
            <a:r>
              <a:rPr sz="1050" b="1" spc="110">
                <a:solidFill>
                  <a:srgbClr val="65726B"/>
                </a:solidFill>
                <a:latin typeface="Consolas"/>
              </a:rPr>
              <a:t>ROUTE-KM ADDED BY ASSET CLASS</a:t>
            </a:r>
          </a:p>
        </p:txBody>
      </p:sp>
      <p:graphicFrame>
        <p:nvGraphicFramePr>
          <p:cNvPr id="25" name="Chart 24"/>
          <p:cNvGraphicFramePr>
            <a:graphicFrameLocks noGrp="1"/>
          </p:cNvGraphicFramePr>
          <p:nvPr/>
        </p:nvGraphicFramePr>
        <p:xfrm>
          <a:off x="411480" y="3291840"/>
          <a:ext cx="5760720" cy="2194560"/>
        </p:xfrm>
        <a:graphic>
          <a:graphicData uri="http://schemas.openxmlformats.org/drawingml/2006/chart">
            <c:chart xmlns:c="http://schemas.openxmlformats.org/drawingml/2006/chart" r:id="rId2"/>
          </a:graphicData>
        </a:graphic>
      </p:graphicFrame>
      <p:sp>
        <p:nvSpPr>
          <p:cNvPr id="26" name="TextBox 25"/>
          <p:cNvSpPr txBox="1"/>
          <p:nvPr/>
        </p:nvSpPr>
        <p:spPr>
          <a:xfrm>
            <a:off x="6492240" y="2971800"/>
            <a:ext cx="5166360" cy="2743200"/>
          </a:xfrm>
          <a:prstGeom prst="rect">
            <a:avLst/>
          </a:prstGeom>
          <a:noFill/>
        </p:spPr>
        <p:txBody>
          <a:bodyPr wrap="square" lIns="0" rIns="0" tIns="0" bIns="0">
            <a:spAutoFit/>
          </a:bodyPr>
          <a:lstStyle/>
          <a:p>
            <a:pPr>
              <a:spcAft>
                <a:spcPts val="600"/>
              </a:spcAft>
            </a:pPr>
            <a:r>
              <a:rPr sz="1050" b="1">
                <a:solidFill>
                  <a:srgbClr val="16211C"/>
                </a:solidFill>
                <a:latin typeface="Archivo"/>
              </a:rPr>
              <a:t>— The brief's menu cannot solve this, and that is the finding.</a:t>
            </a:r>
          </a:p>
          <a:p>
            <a:pPr>
              <a:spcAft>
                <a:spcPts val="600"/>
              </a:spcAft>
            </a:pPr>
            <a:r>
              <a:rPr sz="1050" b="0">
                <a:solidFill>
                  <a:srgbClr val="3A4842"/>
                </a:solidFill>
                <a:latin typeface="Archivo"/>
              </a:rPr>
              <a:t>— Every 6 dB lost halves the radius and quarters the area. A relay is 20 dB down: a 520 m bubble against a 9 km hole.</a:t>
            </a:r>
          </a:p>
          <a:p>
            <a:pPr>
              <a:spcAft>
                <a:spcPts val="600"/>
              </a:spcAft>
            </a:pPr>
            <a:r>
              <a:rPr sz="1050" b="1">
                <a:solidFill>
                  <a:srgbClr val="16211C"/>
                </a:solidFill>
                <a:latin typeface="Archivo"/>
              </a:rPr>
              <a:t>— Power dominates height.</a:t>
            </a:r>
          </a:p>
          <a:p>
            <a:pPr>
              <a:spcAft>
                <a:spcPts val="600"/>
              </a:spcAft>
            </a:pPr>
            <a:r>
              <a:rPr sz="1050" b="0">
                <a:solidFill>
                  <a:srgbClr val="3A4842"/>
                </a:solidFill>
                <a:latin typeface="Archivo"/>
              </a:rPr>
              <a:t>— Sweeping the mast 6 → 60 m moves the gain by 3%; sweeping power 0 → 26 dB down collapses it from 0.565 to 0.024.</a:t>
            </a:r>
          </a:p>
          <a:p>
            <a:pPr>
              <a:spcAft>
                <a:spcPts val="600"/>
              </a:spcAft>
            </a:pPr>
            <a:r>
              <a:rPr sz="1050" b="1">
                <a:solidFill>
                  <a:srgbClr val="16211C"/>
                </a:solidFill>
                <a:latin typeface="Archivo"/>
              </a:rPr>
              <a:t>— What is indicative rather than established.</a:t>
            </a:r>
          </a:p>
          <a:p>
            <a:pPr>
              <a:spcAft>
                <a:spcPts val="600"/>
              </a:spcAft>
            </a:pPr>
            <a:r>
              <a:rPr sz="1050" b="0">
                <a:solidFill>
                  <a:srgbClr val="3A4842"/>
                </a:solidFill>
                <a:latin typeface="Archivo"/>
              </a:rPr>
              <a:t>— '44% covered now, 69% after' inherits the availability step, which does not beat its base rate. Read the ratios.</a:t>
            </a:r>
          </a:p>
        </p:txBody>
      </p:sp>
      <p:sp>
        <p:nvSpPr>
          <p:cNvPr id="27" name="TextBox 26"/>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terrain-approach/MODEL.md §3–§4   ·   200 fading draws, angular shadow correlation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